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16.jpg" ContentType="image/png"/>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50"/>
  </p:notesMasterIdLst>
  <p:sldIdLst>
    <p:sldId id="274" r:id="rId2"/>
    <p:sldId id="260" r:id="rId3"/>
    <p:sldId id="273" r:id="rId4"/>
    <p:sldId id="280" r:id="rId5"/>
    <p:sldId id="276" r:id="rId6"/>
    <p:sldId id="277" r:id="rId7"/>
    <p:sldId id="315" r:id="rId8"/>
    <p:sldId id="281" r:id="rId9"/>
    <p:sldId id="283" r:id="rId10"/>
    <p:sldId id="298" r:id="rId11"/>
    <p:sldId id="285" r:id="rId12"/>
    <p:sldId id="286" r:id="rId13"/>
    <p:sldId id="290" r:id="rId14"/>
    <p:sldId id="289" r:id="rId15"/>
    <p:sldId id="288" r:id="rId16"/>
    <p:sldId id="272" r:id="rId17"/>
    <p:sldId id="294" r:id="rId18"/>
    <p:sldId id="335" r:id="rId19"/>
    <p:sldId id="329" r:id="rId20"/>
    <p:sldId id="330" r:id="rId21"/>
    <p:sldId id="331" r:id="rId22"/>
    <p:sldId id="318" r:id="rId23"/>
    <p:sldId id="319" r:id="rId24"/>
    <p:sldId id="320" r:id="rId25"/>
    <p:sldId id="321" r:id="rId26"/>
    <p:sldId id="322" r:id="rId27"/>
    <p:sldId id="323" r:id="rId28"/>
    <p:sldId id="332" r:id="rId29"/>
    <p:sldId id="333" r:id="rId30"/>
    <p:sldId id="334" r:id="rId31"/>
    <p:sldId id="301" r:id="rId32"/>
    <p:sldId id="299" r:id="rId33"/>
    <p:sldId id="300" r:id="rId34"/>
    <p:sldId id="313" r:id="rId35"/>
    <p:sldId id="303" r:id="rId36"/>
    <p:sldId id="304" r:id="rId37"/>
    <p:sldId id="305" r:id="rId38"/>
    <p:sldId id="306" r:id="rId39"/>
    <p:sldId id="309" r:id="rId40"/>
    <p:sldId id="308" r:id="rId41"/>
    <p:sldId id="312" r:id="rId42"/>
    <p:sldId id="310" r:id="rId43"/>
    <p:sldId id="314" r:id="rId44"/>
    <p:sldId id="311" r:id="rId45"/>
    <p:sldId id="297" r:id="rId46"/>
    <p:sldId id="327" r:id="rId47"/>
    <p:sldId id="328" r:id="rId48"/>
    <p:sldId id="275" r:id="rId4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6699FF"/>
    <a:srgbClr val="0066CC"/>
    <a:srgbClr val="99CCFF"/>
    <a:srgbClr val="B2E4E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94660"/>
  </p:normalViewPr>
  <p:slideViewPr>
    <p:cSldViewPr snapToGrid="0">
      <p:cViewPr varScale="1">
        <p:scale>
          <a:sx n="103" d="100"/>
          <a:sy n="103" d="100"/>
        </p:scale>
        <p:origin x="883" y="77"/>
      </p:cViewPr>
      <p:guideLst>
        <p:guide orient="horz" pos="1620"/>
        <p:guide pos="288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71971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4231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5884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8898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94605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6751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5140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3584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03272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6313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1576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2355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40203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6060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01062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9353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0537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7726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9353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578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8381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4320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86310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0212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6429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048514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075340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222247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77475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9899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56681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39633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49005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298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8453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شريحة عنوان"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a:endParaRPr/>
          </a:p>
        </p:txBody>
      </p:sp>
      <p:sp>
        <p:nvSpPr>
          <p:cNvPr id="14" name="Google Shape;14;p2"/>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عنوان ونص عمودي" type="vertTx">
  <p:cSld name="VERTICAL_TEXT">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6"/>
          <p:cNvSpPr txBox="1">
            <a:spLocks noGrp="1"/>
          </p:cNvSpPr>
          <p:nvPr>
            <p:ph type="body" idx="1"/>
          </p:nvPr>
        </p:nvSpPr>
        <p:spPr>
          <a:xfrm rot="5400000">
            <a:off x="2874750" y="-1217400"/>
            <a:ext cx="3394500"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 name="Google Shape;32;p6"/>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صورة ذو تسمية توضيحية" type="picTx">
  <p:cSld name="PICTURE_WITH_CAPTIO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1792288" y="3600450"/>
            <a:ext cx="5486400" cy="42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7"/>
          <p:cNvSpPr>
            <a:spLocks noGrp="1"/>
          </p:cNvSpPr>
          <p:nvPr>
            <p:ph type="pic" idx="2"/>
          </p:nvPr>
        </p:nvSpPr>
        <p:spPr>
          <a:xfrm>
            <a:off x="1792288" y="459581"/>
            <a:ext cx="5486400" cy="3086100"/>
          </a:xfrm>
          <a:prstGeom prst="rect">
            <a:avLst/>
          </a:prstGeom>
          <a:noFill/>
          <a:ln>
            <a:noFill/>
          </a:ln>
        </p:spPr>
      </p:sp>
      <p:sp>
        <p:nvSpPr>
          <p:cNvPr id="36" name="Google Shape;36;p7"/>
          <p:cNvSpPr txBox="1">
            <a:spLocks noGrp="1"/>
          </p:cNvSpPr>
          <p:nvPr>
            <p:ph type="body" idx="1"/>
          </p:nvPr>
        </p:nvSpPr>
        <p:spPr>
          <a:xfrm>
            <a:off x="1792288" y="4025504"/>
            <a:ext cx="5486400" cy="6036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37" name="Google Shape;37;p7"/>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محتوى ذو تسمية توضيحية" type="objTx">
  <p:cSld name="OBJECT_WITH_CAPTIO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457200" y="204788"/>
            <a:ext cx="3008400" cy="8715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8"/>
          <p:cNvSpPr txBox="1">
            <a:spLocks noGrp="1"/>
          </p:cNvSpPr>
          <p:nvPr>
            <p:ph type="body" idx="1"/>
          </p:nvPr>
        </p:nvSpPr>
        <p:spPr>
          <a:xfrm>
            <a:off x="3575050" y="204788"/>
            <a:ext cx="5111700" cy="4389900"/>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41" name="Google Shape;41;p8"/>
          <p:cNvSpPr txBox="1">
            <a:spLocks noGrp="1"/>
          </p:cNvSpPr>
          <p:nvPr>
            <p:ph type="body" idx="2"/>
          </p:nvPr>
        </p:nvSpPr>
        <p:spPr>
          <a:xfrm>
            <a:off x="457200" y="1076325"/>
            <a:ext cx="3008400" cy="35184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42" name="Google Shape;42;p8"/>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فارغ" type="blank">
  <p:cSld name="BLANK">
    <p:spTree>
      <p:nvGrpSpPr>
        <p:cNvPr id="1" name="Shape 43"/>
        <p:cNvGrpSpPr/>
        <p:nvPr/>
      </p:nvGrpSpPr>
      <p:grpSpPr>
        <a:xfrm>
          <a:off x="0" y="0"/>
          <a:ext cx="0" cy="0"/>
          <a:chOff x="0" y="0"/>
          <a:chExt cx="0" cy="0"/>
        </a:xfrm>
      </p:grpSpPr>
      <p:sp>
        <p:nvSpPr>
          <p:cNvPr id="44" name="Google Shape;44;p9"/>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عنوان فقط"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10"/>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مقارنة" type="twoTxTwoObj">
  <p:cSld name="TWO_OBJECTS_WITH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 name="Google Shape;50;p11"/>
          <p:cNvSpPr txBox="1">
            <a:spLocks noGrp="1"/>
          </p:cNvSpPr>
          <p:nvPr>
            <p:ph type="body" idx="1"/>
          </p:nvPr>
        </p:nvSpPr>
        <p:spPr>
          <a:xfrm>
            <a:off x="457200" y="1151335"/>
            <a:ext cx="40401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51" name="Google Shape;51;p11"/>
          <p:cNvSpPr txBox="1">
            <a:spLocks noGrp="1"/>
          </p:cNvSpPr>
          <p:nvPr>
            <p:ph type="body" idx="2"/>
          </p:nvPr>
        </p:nvSpPr>
        <p:spPr>
          <a:xfrm>
            <a:off x="457200" y="1631156"/>
            <a:ext cx="40401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2" name="Google Shape;52;p11"/>
          <p:cNvSpPr txBox="1">
            <a:spLocks noGrp="1"/>
          </p:cNvSpPr>
          <p:nvPr>
            <p:ph type="body" idx="3"/>
          </p:nvPr>
        </p:nvSpPr>
        <p:spPr>
          <a:xfrm>
            <a:off x="4645025" y="1151335"/>
            <a:ext cx="40419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53" name="Google Shape;53;p11"/>
          <p:cNvSpPr txBox="1">
            <a:spLocks noGrp="1"/>
          </p:cNvSpPr>
          <p:nvPr>
            <p:ph type="body" idx="4"/>
          </p:nvPr>
        </p:nvSpPr>
        <p:spPr>
          <a:xfrm>
            <a:off x="4645025" y="1631156"/>
            <a:ext cx="40419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4" name="Google Shape;54;p11"/>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محتويين" type="twoObj">
  <p:cSld name="TWO_OBJECTS">
    <p:spTree>
      <p:nvGrpSpPr>
        <p:cNvPr id="1" name="Shape 55"/>
        <p:cNvGrpSpPr/>
        <p:nvPr/>
      </p:nvGrpSpPr>
      <p:grpSpPr>
        <a:xfrm>
          <a:off x="0" y="0"/>
          <a:ext cx="0" cy="0"/>
          <a:chOff x="0" y="0"/>
          <a:chExt cx="0" cy="0"/>
        </a:xfrm>
      </p:grpSpPr>
      <p:sp>
        <p:nvSpPr>
          <p:cNvPr id="56" name="Google Shape;56;p12"/>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 name="Google Shape;57;p12"/>
          <p:cNvSpPr txBox="1">
            <a:spLocks noGrp="1"/>
          </p:cNvSpPr>
          <p:nvPr>
            <p:ph type="body" idx="1"/>
          </p:nvPr>
        </p:nvSpPr>
        <p:spPr>
          <a:xfrm>
            <a:off x="457200" y="1200150"/>
            <a:ext cx="4038600" cy="33945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58" name="Google Shape;58;p12"/>
          <p:cNvSpPr txBox="1">
            <a:spLocks noGrp="1"/>
          </p:cNvSpPr>
          <p:nvPr>
            <p:ph type="body" idx="2"/>
          </p:nvPr>
        </p:nvSpPr>
        <p:spPr>
          <a:xfrm>
            <a:off x="4648200" y="1200150"/>
            <a:ext cx="4038600" cy="33945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59" name="Google Shape;59;p12"/>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6553200" y="4683919"/>
            <a:ext cx="2133600" cy="3573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solidFill>
                <a:srgbClr val="000000"/>
              </a:solidFill>
            </a:endParaRPr>
          </a:p>
        </p:txBody>
      </p:sp>
      <p:sp>
        <p:nvSpPr>
          <p:cNvPr id="9" name="Google Shape;9;p1"/>
          <p:cNvSpPr txBox="1"/>
          <p:nvPr/>
        </p:nvSpPr>
        <p:spPr>
          <a:xfrm>
            <a:off x="0" y="0"/>
            <a:ext cx="9144000" cy="171600"/>
          </a:xfrm>
          <a:prstGeom prst="rect">
            <a:avLst/>
          </a:prstGeom>
          <a:solidFill>
            <a:srgbClr val="D93145"/>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 name="Google Shape;10;p1"/>
          <p:cNvSpPr txBox="1"/>
          <p:nvPr/>
        </p:nvSpPr>
        <p:spPr>
          <a:xfrm>
            <a:off x="0" y="4972050"/>
            <a:ext cx="9144000" cy="17160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jp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17.jp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hyperlink" Target="https://www.kaggle.com/datasets/mikolajbabula/disaster-images-dataset-cnn-model"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11952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3000" b="1" dirty="0">
                <a:blipFill>
                  <a:blip r:embed="rId3"/>
                  <a:stretch>
                    <a:fillRect/>
                  </a:stretch>
                </a:blipFill>
                <a:latin typeface="Times New Roman" panose="02020603050405020304" pitchFamily="18" charset="0"/>
                <a:cs typeface="Times New Roman" panose="02020603050405020304" pitchFamily="18" charset="0"/>
              </a:rPr>
              <a:t>Project</a:t>
            </a:r>
            <a:endParaRPr sz="3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0" y="880939"/>
            <a:ext cx="9144000" cy="1695542"/>
          </a:xfrm>
          <a:prstGeom prst="rect">
            <a:avLst/>
          </a:prstGeom>
        </p:spPr>
        <p:txBody>
          <a:bodyPr spcFirstLastPara="1" wrap="square" lIns="91425" tIns="45700" rIns="91425" bIns="45700" anchor="t" anchorCtr="0">
            <a:noAutofit/>
          </a:bodyPr>
          <a:lstStyle/>
          <a:p>
            <a:pPr marL="0" lvl="0" indent="0" rtl="0">
              <a:spcBef>
                <a:spcPts val="640"/>
              </a:spcBef>
              <a:spcAft>
                <a:spcPts val="0"/>
              </a:spcAft>
            </a:pPr>
            <a:r>
              <a:rPr lang="en-US" sz="2800" b="1" dirty="0">
                <a:blipFill>
                  <a:blip r:embed="rId4"/>
                  <a:stretch>
                    <a:fillRect/>
                  </a:stretch>
                </a:blipFill>
                <a:latin typeface="Times New Roman" panose="02020603050405020304" pitchFamily="18" charset="0"/>
                <a:cs typeface="Times New Roman" panose="02020603050405020304" pitchFamily="18" charset="0"/>
              </a:rPr>
              <a:t>CYCLONE PREDICTION BASED ON SATELLITE DATA USING DEEP LEARNING</a:t>
            </a:r>
          </a:p>
          <a:p>
            <a:pPr marL="0" lvl="0" indent="0" rtl="0">
              <a:spcBef>
                <a:spcPts val="640"/>
              </a:spcBef>
              <a:spcAft>
                <a:spcPts val="0"/>
              </a:spcAft>
            </a:pPr>
            <a:endParaRPr sz="3000" b="1" dirty="0">
              <a:blipFill>
                <a:blip r:embed="rId4"/>
                <a:stretch>
                  <a:fillRect/>
                </a:stretch>
              </a:blipFill>
              <a:latin typeface="Times New Roman" panose="02020603050405020304" pitchFamily="18" charset="0"/>
              <a:cs typeface="Times New Roman" panose="02020603050405020304" pitchFamily="18" charset="0"/>
            </a:endParaRPr>
          </a:p>
        </p:txBody>
      </p:sp>
      <p:pic>
        <p:nvPicPr>
          <p:cNvPr id="1026" name="Picture 2" descr="Sardar Vallabhbhai National Institute of Technology, Surat - Wikipedia">
            <a:extLst>
              <a:ext uri="{FF2B5EF4-FFF2-40B4-BE49-F238E27FC236}">
                <a16:creationId xmlns:a16="http://schemas.microsoft.com/office/drawing/2014/main" id="{E2F10F03-9B88-118A-2515-D110ACDBB8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0387" y="3541811"/>
            <a:ext cx="1035167" cy="993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A27D612-E55C-AB33-1F58-8CD2DAF0BFF2}"/>
              </a:ext>
            </a:extLst>
          </p:cNvPr>
          <p:cNvSpPr txBox="1"/>
          <p:nvPr/>
        </p:nvSpPr>
        <p:spPr>
          <a:xfrm>
            <a:off x="4100387" y="645776"/>
            <a:ext cx="94322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entitled</a:t>
            </a:r>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51D53D3-19E5-F7A2-7247-EAD325643B13}"/>
              </a:ext>
            </a:extLst>
          </p:cNvPr>
          <p:cNvSpPr txBox="1"/>
          <p:nvPr/>
        </p:nvSpPr>
        <p:spPr>
          <a:xfrm>
            <a:off x="228133" y="2295398"/>
            <a:ext cx="3143735" cy="2062103"/>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Presented by:</a:t>
            </a:r>
          </a:p>
          <a:p>
            <a:pPr algn="ctr"/>
            <a:r>
              <a:rPr lang="en-US" sz="1600" b="1" dirty="0">
                <a:solidFill>
                  <a:srgbClr val="C00000"/>
                </a:solidFill>
                <a:latin typeface="Times New Roman" panose="02020603050405020304" pitchFamily="18" charset="0"/>
                <a:cs typeface="Times New Roman" panose="02020603050405020304" pitchFamily="18" charset="0"/>
              </a:rPr>
              <a:t>Sanjit Anand  </a:t>
            </a:r>
            <a:r>
              <a:rPr lang="en-US" sz="1600" b="1" dirty="0">
                <a:solidFill>
                  <a:schemeClr val="tx1"/>
                </a:solidFill>
                <a:latin typeface="Times New Roman" panose="02020603050405020304" pitchFamily="18" charset="0"/>
                <a:cs typeface="Times New Roman" panose="02020603050405020304" pitchFamily="18" charset="0"/>
              </a:rPr>
              <a:t>(U19EC008)</a:t>
            </a:r>
          </a:p>
          <a:p>
            <a:pPr algn="ctr"/>
            <a:r>
              <a:rPr lang="en-US" sz="1600" b="1" dirty="0">
                <a:solidFill>
                  <a:srgbClr val="C00000"/>
                </a:solidFill>
                <a:latin typeface="Times New Roman" panose="02020603050405020304" pitchFamily="18" charset="0"/>
                <a:cs typeface="Times New Roman" panose="02020603050405020304" pitchFamily="18" charset="0"/>
              </a:rPr>
              <a:t>Siddharth Gautam  </a:t>
            </a:r>
            <a:r>
              <a:rPr lang="en-US" sz="1600" b="1" dirty="0">
                <a:solidFill>
                  <a:schemeClr val="tx1"/>
                </a:solidFill>
                <a:latin typeface="Times New Roman" panose="02020603050405020304" pitchFamily="18" charset="0"/>
                <a:cs typeface="Times New Roman" panose="02020603050405020304" pitchFamily="18" charset="0"/>
              </a:rPr>
              <a:t>(U19EC023)</a:t>
            </a:r>
          </a:p>
          <a:p>
            <a:pPr algn="ctr"/>
            <a:r>
              <a:rPr lang="en-US" sz="1600" b="1" dirty="0" err="1">
                <a:solidFill>
                  <a:srgbClr val="C00000"/>
                </a:solidFill>
                <a:latin typeface="Times New Roman" panose="02020603050405020304" pitchFamily="18" charset="0"/>
                <a:cs typeface="Times New Roman" panose="02020603050405020304" pitchFamily="18" charset="0"/>
              </a:rPr>
              <a:t>Somya</a:t>
            </a:r>
            <a:r>
              <a:rPr lang="en-US" sz="1600" b="1" dirty="0">
                <a:solidFill>
                  <a:srgbClr val="C00000"/>
                </a:solidFill>
                <a:latin typeface="Times New Roman" panose="02020603050405020304" pitchFamily="18" charset="0"/>
                <a:cs typeface="Times New Roman" panose="02020603050405020304" pitchFamily="18" charset="0"/>
              </a:rPr>
              <a:t> Gupta </a:t>
            </a:r>
            <a:r>
              <a:rPr lang="en-US" sz="1600" b="1" dirty="0">
                <a:solidFill>
                  <a:schemeClr val="tx1"/>
                </a:solidFill>
                <a:latin typeface="Times New Roman" panose="02020603050405020304" pitchFamily="18" charset="0"/>
                <a:cs typeface="Times New Roman" panose="02020603050405020304" pitchFamily="18" charset="0"/>
              </a:rPr>
              <a:t>(U19EC032)</a:t>
            </a:r>
          </a:p>
          <a:p>
            <a:pPr algn="ctr"/>
            <a:endParaRPr lang="en-US" sz="1600" b="1" dirty="0">
              <a:latin typeface="Times New Roman" panose="02020603050405020304" pitchFamily="18" charset="0"/>
              <a:cs typeface="Times New Roman" panose="02020603050405020304" pitchFamily="18" charset="0"/>
            </a:endParaRPr>
          </a:p>
          <a:p>
            <a:pPr algn="ctr"/>
            <a:r>
              <a:rPr lang="en-US" sz="1600" b="1" dirty="0">
                <a:latin typeface="Times New Roman" panose="02020603050405020304" pitchFamily="18" charset="0"/>
                <a:cs typeface="Times New Roman" panose="02020603050405020304" pitchFamily="18" charset="0"/>
              </a:rPr>
              <a:t>Internal Guide:</a:t>
            </a:r>
          </a:p>
          <a:p>
            <a:pPr algn="ctr"/>
            <a:r>
              <a:rPr lang="en-US" sz="1600" b="1" dirty="0">
                <a:solidFill>
                  <a:srgbClr val="C00000"/>
                </a:solidFill>
                <a:latin typeface="Times New Roman" panose="02020603050405020304" pitchFamily="18" charset="0"/>
                <a:cs typeface="Times New Roman" panose="02020603050405020304" pitchFamily="18" charset="0"/>
              </a:rPr>
              <a:t>Dr. Prashant K. Shah</a:t>
            </a:r>
          </a:p>
          <a:p>
            <a:pPr algn="ctr"/>
            <a:r>
              <a:rPr lang="en-US" sz="1600" b="1" dirty="0">
                <a:solidFill>
                  <a:schemeClr val="tx1"/>
                </a:solidFill>
                <a:latin typeface="Times New Roman" panose="02020603050405020304" pitchFamily="18" charset="0"/>
                <a:cs typeface="Times New Roman" panose="02020603050405020304" pitchFamily="18" charset="0"/>
              </a:rPr>
              <a:t>Associate Professor, DECE</a:t>
            </a:r>
          </a:p>
        </p:txBody>
      </p:sp>
      <p:sp>
        <p:nvSpPr>
          <p:cNvPr id="5" name="TextBox 4">
            <a:extLst>
              <a:ext uri="{FF2B5EF4-FFF2-40B4-BE49-F238E27FC236}">
                <a16:creationId xmlns:a16="http://schemas.microsoft.com/office/drawing/2014/main" id="{4EEDECD8-7E90-272C-777A-093410F7BC1D}"/>
              </a:ext>
            </a:extLst>
          </p:cNvPr>
          <p:cNvSpPr txBox="1"/>
          <p:nvPr/>
        </p:nvSpPr>
        <p:spPr>
          <a:xfrm>
            <a:off x="5772134" y="2223204"/>
            <a:ext cx="2833319" cy="2800767"/>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Examiners:</a:t>
            </a:r>
          </a:p>
          <a:p>
            <a:pPr algn="ctr"/>
            <a:r>
              <a:rPr lang="en-US" sz="1600" b="1" dirty="0">
                <a:solidFill>
                  <a:srgbClr val="C00000"/>
                </a:solidFill>
                <a:latin typeface="Times New Roman" panose="02020603050405020304" pitchFamily="18" charset="0"/>
                <a:cs typeface="Times New Roman" panose="02020603050405020304" pitchFamily="18" charset="0"/>
              </a:rPr>
              <a:t>Dr. Anand D </a:t>
            </a:r>
            <a:r>
              <a:rPr lang="en-US" sz="1600" b="1" dirty="0" err="1">
                <a:solidFill>
                  <a:srgbClr val="C00000"/>
                </a:solidFill>
                <a:latin typeface="Times New Roman" panose="02020603050405020304" pitchFamily="18" charset="0"/>
                <a:cs typeface="Times New Roman" panose="02020603050405020304" pitchFamily="18" charset="0"/>
              </a:rPr>
              <a:t>Darji</a:t>
            </a:r>
            <a:endParaRPr lang="en-US" sz="1600" b="1" dirty="0">
              <a:solidFill>
                <a:srgbClr val="C00000"/>
              </a:solidFill>
              <a:latin typeface="Times New Roman" panose="02020603050405020304" pitchFamily="18" charset="0"/>
              <a:cs typeface="Times New Roman" panose="02020603050405020304" pitchFamily="18" charset="0"/>
            </a:endParaRPr>
          </a:p>
          <a:p>
            <a:pPr algn="ctr"/>
            <a:r>
              <a:rPr lang="en-US" sz="1600" b="1" dirty="0">
                <a:latin typeface="Times New Roman" panose="02020603050405020304" pitchFamily="18" charset="0"/>
                <a:cs typeface="Times New Roman" panose="02020603050405020304" pitchFamily="18" charset="0"/>
              </a:rPr>
              <a:t>Associate Professor, DECE</a:t>
            </a:r>
          </a:p>
          <a:p>
            <a:pPr algn="ctr"/>
            <a:r>
              <a:rPr lang="en-IN" sz="1600" b="1" dirty="0" err="1">
                <a:solidFill>
                  <a:srgbClr val="C00000"/>
                </a:solidFill>
                <a:latin typeface="Times New Roman" panose="02020603050405020304" pitchFamily="18" charset="0"/>
                <a:cs typeface="Times New Roman" panose="02020603050405020304" pitchFamily="18" charset="0"/>
              </a:rPr>
              <a:t>Dr.</a:t>
            </a:r>
            <a:r>
              <a:rPr lang="en-IN" sz="1600" b="1" dirty="0">
                <a:solidFill>
                  <a:srgbClr val="C00000"/>
                </a:solidFill>
                <a:latin typeface="Times New Roman" panose="02020603050405020304" pitchFamily="18" charset="0"/>
                <a:cs typeface="Times New Roman" panose="02020603050405020304" pitchFamily="18" charset="0"/>
              </a:rPr>
              <a:t> Deepak Joshi</a:t>
            </a:r>
          </a:p>
          <a:p>
            <a:pPr algn="ctr"/>
            <a:r>
              <a:rPr lang="en-IN" sz="1600" b="1" dirty="0">
                <a:latin typeface="Times New Roman" panose="02020603050405020304" pitchFamily="18" charset="0"/>
                <a:cs typeface="Times New Roman" panose="02020603050405020304" pitchFamily="18" charset="0"/>
              </a:rPr>
              <a:t>Assistant Professor, DECE</a:t>
            </a:r>
          </a:p>
          <a:p>
            <a:pPr algn="ctr"/>
            <a:r>
              <a:rPr lang="en-IN" sz="1600" b="1" dirty="0" err="1">
                <a:solidFill>
                  <a:srgbClr val="C00000"/>
                </a:solidFill>
                <a:latin typeface="Times New Roman" panose="02020603050405020304" pitchFamily="18" charset="0"/>
                <a:cs typeface="Times New Roman" panose="02020603050405020304" pitchFamily="18" charset="0"/>
              </a:rPr>
              <a:t>Dr.</a:t>
            </a:r>
            <a:r>
              <a:rPr lang="en-IN" sz="1600" b="1" dirty="0">
                <a:solidFill>
                  <a:srgbClr val="C00000"/>
                </a:solidFill>
                <a:latin typeface="Times New Roman" panose="02020603050405020304" pitchFamily="18" charset="0"/>
                <a:cs typeface="Times New Roman" panose="02020603050405020304" pitchFamily="18" charset="0"/>
              </a:rPr>
              <a:t> Abhishek Acharya</a:t>
            </a:r>
          </a:p>
          <a:p>
            <a:pPr algn="ctr"/>
            <a:r>
              <a:rPr lang="en-IN" sz="1600" b="1" dirty="0">
                <a:latin typeface="Times New Roman" panose="02020603050405020304" pitchFamily="18" charset="0"/>
                <a:cs typeface="Times New Roman" panose="02020603050405020304" pitchFamily="18" charset="0"/>
              </a:rPr>
              <a:t>Assistant Professor, DECE</a:t>
            </a:r>
          </a:p>
          <a:p>
            <a:pPr algn="ctr"/>
            <a:r>
              <a:rPr lang="en-IN" sz="1600" b="1" dirty="0" err="1">
                <a:solidFill>
                  <a:srgbClr val="C00000"/>
                </a:solidFill>
                <a:latin typeface="Times New Roman" panose="02020603050405020304" pitchFamily="18" charset="0"/>
                <a:cs typeface="Times New Roman" panose="02020603050405020304" pitchFamily="18" charset="0"/>
              </a:rPr>
              <a:t>Dr.</a:t>
            </a:r>
            <a:r>
              <a:rPr lang="en-IN" sz="1600" b="1" dirty="0">
                <a:solidFill>
                  <a:srgbClr val="C00000"/>
                </a:solidFill>
                <a:latin typeface="Times New Roman" panose="02020603050405020304" pitchFamily="18" charset="0"/>
                <a:cs typeface="Times New Roman" panose="02020603050405020304" pitchFamily="18" charset="0"/>
              </a:rPr>
              <a:t> </a:t>
            </a:r>
            <a:r>
              <a:rPr lang="en-IN" sz="1600" b="1" dirty="0" err="1">
                <a:solidFill>
                  <a:srgbClr val="C00000"/>
                </a:solidFill>
                <a:latin typeface="Times New Roman" panose="02020603050405020304" pitchFamily="18" charset="0"/>
                <a:cs typeface="Times New Roman" panose="02020603050405020304" pitchFamily="18" charset="0"/>
              </a:rPr>
              <a:t>Nithin</a:t>
            </a:r>
            <a:r>
              <a:rPr lang="en-IN" sz="1600" b="1" dirty="0">
                <a:solidFill>
                  <a:srgbClr val="C00000"/>
                </a:solidFill>
                <a:latin typeface="Times New Roman" panose="02020603050405020304" pitchFamily="18" charset="0"/>
                <a:cs typeface="Times New Roman" panose="02020603050405020304" pitchFamily="18" charset="0"/>
              </a:rPr>
              <a:t> </a:t>
            </a:r>
            <a:r>
              <a:rPr lang="en-IN" sz="1600" b="1" dirty="0" err="1">
                <a:solidFill>
                  <a:srgbClr val="C00000"/>
                </a:solidFill>
                <a:latin typeface="Times New Roman" panose="02020603050405020304" pitchFamily="18" charset="0"/>
                <a:cs typeface="Times New Roman" panose="02020603050405020304" pitchFamily="18" charset="0"/>
              </a:rPr>
              <a:t>Chatterji</a:t>
            </a:r>
            <a:endParaRPr lang="en-IN" sz="1600" b="1" dirty="0">
              <a:solidFill>
                <a:srgbClr val="C00000"/>
              </a:solidFill>
              <a:latin typeface="Times New Roman" panose="02020603050405020304" pitchFamily="18" charset="0"/>
              <a:cs typeface="Times New Roman" panose="02020603050405020304" pitchFamily="18" charset="0"/>
            </a:endParaRPr>
          </a:p>
          <a:p>
            <a:pPr algn="ctr"/>
            <a:r>
              <a:rPr lang="en-IN" sz="1600" b="1" dirty="0">
                <a:latin typeface="Times New Roman" panose="02020603050405020304" pitchFamily="18" charset="0"/>
                <a:cs typeface="Times New Roman" panose="02020603050405020304" pitchFamily="18" charset="0"/>
              </a:rPr>
              <a:t>Assistant Professor, DECE</a:t>
            </a:r>
          </a:p>
          <a:p>
            <a:pPr algn="ctr"/>
            <a:endParaRPr lang="en-IN" sz="1600" b="1" dirty="0">
              <a:latin typeface="Times New Roman" panose="02020603050405020304" pitchFamily="18" charset="0"/>
              <a:cs typeface="Times New Roman" panose="02020603050405020304" pitchFamily="18" charset="0"/>
            </a:endParaRPr>
          </a:p>
          <a:p>
            <a:pPr algn="ctr"/>
            <a:endParaRPr lang="en-IN" sz="1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C9AE56D-9049-A3A4-755D-6C1151595A40}"/>
              </a:ext>
            </a:extLst>
          </p:cNvPr>
          <p:cNvSpPr txBox="1"/>
          <p:nvPr/>
        </p:nvSpPr>
        <p:spPr>
          <a:xfrm>
            <a:off x="26670" y="4936504"/>
            <a:ext cx="3650166" cy="246221"/>
          </a:xfrm>
          <a:prstGeom prst="rect">
            <a:avLst/>
          </a:prstGeom>
          <a:noFill/>
        </p:spPr>
        <p:txBody>
          <a:bodyPr wrap="square" rtlCol="0">
            <a:spAutoFit/>
          </a:bodyPr>
          <a:lstStyle/>
          <a:p>
            <a:r>
              <a:rPr lang="en-US" sz="1000" dirty="0">
                <a:solidFill>
                  <a:schemeClr val="bg1"/>
                </a:solidFill>
              </a:rPr>
              <a:t>Group-22</a:t>
            </a:r>
            <a:endParaRPr lang="en-IN" sz="1000" dirty="0">
              <a:solidFill>
                <a:schemeClr val="bg1"/>
              </a:solidFill>
            </a:endParaRPr>
          </a:p>
        </p:txBody>
      </p:sp>
    </p:spTree>
    <p:extLst>
      <p:ext uri="{BB962C8B-B14F-4D97-AF65-F5344CB8AC3E}">
        <p14:creationId xmlns:p14="http://schemas.microsoft.com/office/powerpoint/2010/main" val="1641608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Outlines</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1524000" y="974337"/>
            <a:ext cx="6400800" cy="4913506"/>
          </a:xfrm>
          <a:prstGeom prst="rect">
            <a:avLst/>
          </a:prstGeom>
        </p:spPr>
        <p:txBody>
          <a:bodyPr spcFirstLastPara="1" wrap="square" lIns="91425" tIns="45700" rIns="91425" bIns="45700" anchor="t" anchorCtr="0">
            <a:noAutofit/>
          </a:bodyPr>
          <a:lstStyle/>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Introduction</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Objectives</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Motivation</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Literature Survey</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Theoretical Background</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Cyclone Prediction - Methodology and Workflow</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Cyclone Prediction - Results</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Path Forecasting – Methodology and Workflow</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Path Forecasting - Results</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Conclusion</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Future Work</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Our Contribution</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References</a:t>
            </a:r>
          </a:p>
          <a:p>
            <a:pPr lvl="0" indent="-457200" algn="l" rtl="0">
              <a:spcBef>
                <a:spcPts val="0"/>
              </a:spcBef>
              <a:spcAft>
                <a:spcPts val="0"/>
              </a:spcAft>
              <a:buSzPct val="100000"/>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Appendix - Dataset</a:t>
            </a:r>
          </a:p>
          <a:p>
            <a:pPr marL="514350" lvl="0" indent="-514350" algn="l" rtl="0">
              <a:spcBef>
                <a:spcPts val="0"/>
              </a:spcBef>
              <a:spcAft>
                <a:spcPts val="0"/>
              </a:spcAft>
              <a:buFont typeface="+mj-lt"/>
              <a:buAutoNum type="arabicPeriod"/>
            </a:pPr>
            <a:endParaRPr lang="en-US" sz="2400" dirty="0"/>
          </a:p>
          <a:p>
            <a:pPr marL="514350" lvl="0" indent="-514350" algn="l" rtl="0">
              <a:spcBef>
                <a:spcPts val="0"/>
              </a:spcBef>
              <a:spcAft>
                <a:spcPts val="0"/>
              </a:spcAft>
              <a:buFont typeface="+mj-lt"/>
              <a:buAutoNum type="arabicPeriod"/>
            </a:pPr>
            <a:endParaRPr lang="en-US" sz="2400" dirty="0"/>
          </a:p>
          <a:p>
            <a:pPr marL="514350" lvl="0" indent="-514350" algn="l" rtl="0">
              <a:spcBef>
                <a:spcPts val="0"/>
              </a:spcBef>
              <a:spcAft>
                <a:spcPts val="0"/>
              </a:spcAft>
              <a:buFont typeface="+mj-lt"/>
              <a:buAutoNum type="arabicPeriod"/>
            </a:pPr>
            <a:endParaRPr sz="2400" dirty="0"/>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557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Introduction</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1048215" y="1286571"/>
            <a:ext cx="7022765" cy="3389500"/>
          </a:xfrm>
          <a:prstGeom prst="rect">
            <a:avLst/>
          </a:prstGeom>
        </p:spPr>
        <p:txBody>
          <a:bodyPr spcFirstLastPara="1" wrap="square" lIns="91425" tIns="45700" rIns="91425" bIns="45700" anchor="t" anchorCtr="0">
            <a:noAutofit/>
          </a:bodyPr>
          <a:lstStyle/>
          <a:p>
            <a:pPr lvl="0" indent="-457200" algn="just">
              <a:buSzPct val="100000"/>
              <a:buFont typeface="Wingdings" pitchFamily="2" charset="2"/>
              <a:buChar char="q"/>
            </a:pPr>
            <a:r>
              <a:rPr lang="en-US" sz="1600" dirty="0">
                <a:latin typeface="Times New Roman" pitchFamily="18" charset="0"/>
                <a:cs typeface="Times New Roman" pitchFamily="18" charset="0"/>
              </a:rPr>
              <a:t>India, possess a large coastline of 7516.6 km is highly prone to cyclones.</a:t>
            </a:r>
            <a:endParaRPr lang="en-US" sz="1600" dirty="0">
              <a:latin typeface="Times New Roman" pitchFamily="18" charset="0"/>
              <a:ea typeface="Lato" panose="020F0502020204030203" pitchFamily="34" charset="0"/>
              <a:cs typeface="Times New Roman" pitchFamily="18" charset="0"/>
            </a:endParaRPr>
          </a:p>
          <a:p>
            <a:pPr lvl="0" indent="-457200" algn="just">
              <a:buSzPct val="100000"/>
              <a:buFont typeface="Wingdings" pitchFamily="2" charset="2"/>
              <a:buChar char="q"/>
            </a:pPr>
            <a:r>
              <a:rPr lang="en-US" sz="1600" dirty="0">
                <a:latin typeface="Times New Roman" pitchFamily="18" charset="0"/>
                <a:ea typeface="Lato" panose="020F0502020204030203" pitchFamily="34" charset="0"/>
                <a:cs typeface="Times New Roman" pitchFamily="18" charset="0"/>
              </a:rPr>
              <a:t>Cyclone prediction is a crucial aspect of meteorology and natural disaster management.</a:t>
            </a:r>
          </a:p>
          <a:p>
            <a:pPr indent="-457200" algn="just">
              <a:buSzPct val="100000"/>
              <a:buFont typeface="Wingdings" pitchFamily="2" charset="2"/>
              <a:buChar char="q"/>
            </a:pPr>
            <a:r>
              <a:rPr lang="en-US" sz="1600" dirty="0">
                <a:latin typeface="Times New Roman" pitchFamily="18" charset="0"/>
                <a:ea typeface="Lato" panose="020F0502020204030203" pitchFamily="34" charset="0"/>
                <a:cs typeface="Times New Roman" pitchFamily="18" charset="0"/>
              </a:rPr>
              <a:t>Deep learning algorithms can be used to analyze and interpret a large amount of data from various sources, such as weather satellite imagery, atmospheric pressure readings, and wind patterns, to predict the likelihood and severity of a cyclone.</a:t>
            </a:r>
          </a:p>
          <a:p>
            <a:pPr lvl="0" indent="-457200" algn="just" rtl="0">
              <a:spcBef>
                <a:spcPts val="640"/>
              </a:spcBef>
              <a:spcAft>
                <a:spcPts val="0"/>
              </a:spcAft>
              <a:buSzPct val="100000"/>
              <a:buFont typeface="Wingdings" pitchFamily="2" charset="2"/>
              <a:buChar char="q"/>
            </a:pPr>
            <a:endParaRPr lang="en-US" sz="1600" dirty="0">
              <a:latin typeface="Times New Roman" pitchFamily="18" charset="0"/>
              <a:ea typeface="Lato" panose="020F0502020204030203" pitchFamily="34"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F83588FF-79C2-4130-DD9E-48FCC8800DBB}"/>
              </a:ext>
            </a:extLst>
          </p:cNvPr>
          <p:cNvSpPr txBox="1"/>
          <p:nvPr/>
        </p:nvSpPr>
        <p:spPr>
          <a:xfrm>
            <a:off x="8414013" y="4929069"/>
            <a:ext cx="1173945" cy="246221"/>
          </a:xfrm>
          <a:prstGeom prst="rect">
            <a:avLst/>
          </a:prstGeom>
          <a:noFill/>
        </p:spPr>
        <p:txBody>
          <a:bodyPr wrap="square" rtlCol="0">
            <a:spAutoFit/>
          </a:bodyPr>
          <a:lstStyle/>
          <a:p>
            <a:r>
              <a:rPr lang="en-IN" sz="1000" dirty="0">
                <a:solidFill>
                  <a:schemeClr val="bg1"/>
                </a:solidFill>
              </a:rPr>
              <a:t>Pg. 1</a:t>
            </a:r>
          </a:p>
        </p:txBody>
      </p:sp>
    </p:spTree>
    <p:extLst>
      <p:ext uri="{BB962C8B-B14F-4D97-AF65-F5344CB8AC3E}">
        <p14:creationId xmlns:p14="http://schemas.microsoft.com/office/powerpoint/2010/main" val="2745894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Objectives</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701597" y="1315997"/>
            <a:ext cx="7740805" cy="3746342"/>
          </a:xfrm>
          <a:prstGeom prst="rect">
            <a:avLst/>
          </a:prstGeom>
        </p:spPr>
        <p:txBody>
          <a:bodyPr spcFirstLastPara="1" wrap="square" lIns="91425" tIns="45700" rIns="91425" bIns="45700" anchor="t" anchorCtr="0">
            <a:noAutofit/>
          </a:bodyPr>
          <a:lstStyle/>
          <a:p>
            <a:pPr algn="just" rtl="0" fontAlgn="base">
              <a:spcBef>
                <a:spcPts val="100"/>
              </a:spcBef>
              <a:buSzPct val="100000"/>
              <a:buFont typeface="Wingdings" pitchFamily="2" charset="2"/>
              <a:buChar char="q"/>
            </a:pPr>
            <a:r>
              <a:rPr lang="en-US" sz="1600" dirty="0">
                <a:solidFill>
                  <a:schemeClr val="tx1"/>
                </a:solidFill>
                <a:latin typeface="Times New Roman" pitchFamily="18" charset="0"/>
                <a:cs typeface="Times New Roman" pitchFamily="18" charset="0"/>
              </a:rPr>
              <a:t>Our core objectives are:</a:t>
            </a:r>
          </a:p>
          <a:p>
            <a:pPr algn="just" rtl="0" fontAlgn="base">
              <a:spcBef>
                <a:spcPts val="100"/>
              </a:spcBef>
              <a:buSzPct val="100000"/>
              <a:buFont typeface="Wingdings" pitchFamily="2" charset="2"/>
              <a:buChar char="q"/>
            </a:pPr>
            <a:endParaRPr lang="en-US" sz="1600" dirty="0">
              <a:solidFill>
                <a:schemeClr val="tx1"/>
              </a:solidFill>
              <a:latin typeface="Times New Roman" pitchFamily="18" charset="0"/>
              <a:cs typeface="Times New Roman" pitchFamily="18" charset="0"/>
            </a:endParaRPr>
          </a:p>
          <a:p>
            <a:pPr lvl="1" algn="just" fontAlgn="base">
              <a:spcBef>
                <a:spcPts val="100"/>
              </a:spcBef>
              <a:buSzPct val="100000"/>
              <a:buFont typeface="Wingdings" pitchFamily="2" charset="2"/>
              <a:buChar char="q"/>
            </a:pPr>
            <a:r>
              <a:rPr lang="en-US" sz="1600" dirty="0">
                <a:solidFill>
                  <a:schemeClr val="tx1"/>
                </a:solidFill>
                <a:latin typeface="Times New Roman" pitchFamily="18" charset="0"/>
                <a:cs typeface="Times New Roman" pitchFamily="18" charset="0"/>
              </a:rPr>
              <a:t>Deep Learning model for detection of cyclone in its early stage of formation accurately</a:t>
            </a:r>
          </a:p>
          <a:p>
            <a:pPr lvl="1" algn="just" fontAlgn="base">
              <a:spcBef>
                <a:spcPts val="100"/>
              </a:spcBef>
              <a:buSzPct val="100000"/>
              <a:buFont typeface="Wingdings" pitchFamily="2" charset="2"/>
              <a:buChar char="q"/>
            </a:pPr>
            <a:endParaRPr lang="en-US" sz="1600" dirty="0">
              <a:solidFill>
                <a:schemeClr val="tx1"/>
              </a:solidFill>
              <a:latin typeface="Times New Roman" pitchFamily="18" charset="0"/>
              <a:cs typeface="Times New Roman" pitchFamily="18" charset="0"/>
            </a:endParaRPr>
          </a:p>
          <a:p>
            <a:pPr lvl="1" algn="just" fontAlgn="base">
              <a:spcBef>
                <a:spcPts val="100"/>
              </a:spcBef>
              <a:buSzPct val="100000"/>
              <a:buFont typeface="Wingdings" pitchFamily="2" charset="2"/>
              <a:buChar char="q"/>
            </a:pPr>
            <a:r>
              <a:rPr lang="en-US" sz="1600" dirty="0">
                <a:solidFill>
                  <a:schemeClr val="tx1"/>
                </a:solidFill>
                <a:latin typeface="Times New Roman" pitchFamily="18" charset="0"/>
                <a:cs typeface="Times New Roman" pitchFamily="18" charset="0"/>
              </a:rPr>
              <a:t>Predicting the direction and the path of the movement of the cyclones so as to alert the cyclone prone areas in advance.</a:t>
            </a:r>
          </a:p>
          <a:p>
            <a:pPr lvl="1" algn="just" fontAlgn="base">
              <a:spcBef>
                <a:spcPts val="100"/>
              </a:spcBef>
              <a:buSzPct val="100000"/>
              <a:buFont typeface="Wingdings" pitchFamily="2" charset="2"/>
              <a:buChar char="q"/>
            </a:pPr>
            <a:endParaRPr lang="en-US" sz="1600" dirty="0">
              <a:solidFill>
                <a:schemeClr val="tx1"/>
              </a:solidFill>
              <a:latin typeface="Times New Roman" pitchFamily="18" charset="0"/>
              <a:cs typeface="Times New Roman" pitchFamily="18" charset="0"/>
            </a:endParaRPr>
          </a:p>
          <a:p>
            <a:pPr lvl="1" algn="just" fontAlgn="base">
              <a:spcBef>
                <a:spcPts val="100"/>
              </a:spcBef>
              <a:buSzPct val="100000"/>
              <a:buFont typeface="Wingdings" pitchFamily="2" charset="2"/>
              <a:buChar char="q"/>
            </a:pPr>
            <a:r>
              <a:rPr lang="en-US" sz="1600" dirty="0">
                <a:solidFill>
                  <a:schemeClr val="tx1"/>
                </a:solidFill>
                <a:latin typeface="Times New Roman" pitchFamily="18" charset="0"/>
                <a:cs typeface="Times New Roman" pitchFamily="18" charset="0"/>
              </a:rPr>
              <a:t>To test the accuracy of latest object detection and time series forecasting methods. </a:t>
            </a:r>
          </a:p>
          <a:p>
            <a:pPr algn="just" rtl="0"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a:p>
            <a:pPr marL="508000" lvl="1" indent="0" algn="just" fontAlgn="base">
              <a:spcBef>
                <a:spcPts val="100"/>
              </a:spcBef>
            </a:pPr>
            <a:endParaRPr lang="en-US" sz="16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810F98AB-3912-4737-3C4B-E65AC571D312}"/>
              </a:ext>
            </a:extLst>
          </p:cNvPr>
          <p:cNvSpPr txBox="1"/>
          <p:nvPr/>
        </p:nvSpPr>
        <p:spPr>
          <a:xfrm>
            <a:off x="8414013" y="4929069"/>
            <a:ext cx="1173945" cy="246221"/>
          </a:xfrm>
          <a:prstGeom prst="rect">
            <a:avLst/>
          </a:prstGeom>
          <a:noFill/>
        </p:spPr>
        <p:txBody>
          <a:bodyPr wrap="square" rtlCol="0">
            <a:spAutoFit/>
          </a:bodyPr>
          <a:lstStyle/>
          <a:p>
            <a:r>
              <a:rPr lang="en-IN" sz="1000" dirty="0">
                <a:solidFill>
                  <a:schemeClr val="bg1"/>
                </a:solidFill>
              </a:rPr>
              <a:t>Pg. 2</a:t>
            </a:r>
          </a:p>
        </p:txBody>
      </p:sp>
    </p:spTree>
    <p:extLst>
      <p:ext uri="{BB962C8B-B14F-4D97-AF65-F5344CB8AC3E}">
        <p14:creationId xmlns:p14="http://schemas.microsoft.com/office/powerpoint/2010/main" val="1214279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Motivation</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783771" y="1152756"/>
            <a:ext cx="7352524" cy="3523314"/>
          </a:xfrm>
          <a:prstGeom prst="rect">
            <a:avLst/>
          </a:prstGeom>
        </p:spPr>
        <p:txBody>
          <a:bodyPr spcFirstLastPara="1" wrap="square" lIns="91425" tIns="45700" rIns="91425" bIns="45700" anchor="t" anchorCtr="0">
            <a:noAutofit/>
          </a:bodyPr>
          <a:lstStyle/>
          <a:p>
            <a:pPr lvl="0" indent="-457200" algn="just" rtl="0">
              <a:spcBef>
                <a:spcPts val="640"/>
              </a:spcBef>
              <a:spcAft>
                <a:spcPts val="0"/>
              </a:spcAft>
              <a:buSzPct val="100000"/>
              <a:buFont typeface="Wingdings" pitchFamily="2" charset="2"/>
              <a:buChar char="q"/>
            </a:pPr>
            <a:r>
              <a:rPr lang="en-US" sz="1600" dirty="0">
                <a:latin typeface="Times New Roman" pitchFamily="18" charset="0"/>
                <a:ea typeface="Lato" panose="020F0502020204030203" pitchFamily="34" charset="0"/>
                <a:cs typeface="Times New Roman" pitchFamily="18" charset="0"/>
              </a:rPr>
              <a:t>Cyclones are natural disasters that can have devastating impacts on communities, causing loss of life, damage to property, and disruption to essential services.</a:t>
            </a:r>
          </a:p>
          <a:p>
            <a:pPr lvl="0" indent="-457200" algn="just" rtl="0">
              <a:spcBef>
                <a:spcPts val="640"/>
              </a:spcBef>
              <a:spcAft>
                <a:spcPts val="0"/>
              </a:spcAft>
              <a:buSzPct val="100000"/>
              <a:buFont typeface="Wingdings" pitchFamily="2" charset="2"/>
              <a:buChar char="q"/>
            </a:pPr>
            <a:r>
              <a:rPr lang="en-US" sz="1600" dirty="0">
                <a:latin typeface="Times New Roman" pitchFamily="18" charset="0"/>
                <a:ea typeface="Lato" panose="020F0502020204030203" pitchFamily="34" charset="0"/>
                <a:cs typeface="Times New Roman" pitchFamily="18" charset="0"/>
              </a:rPr>
              <a:t>Around 10,000 people are killed on average each year due to cyclones. </a:t>
            </a:r>
            <a:r>
              <a:rPr lang="en-US" sz="1600" dirty="0" err="1">
                <a:latin typeface="Times New Roman" pitchFamily="18" charset="0"/>
                <a:ea typeface="Lato" panose="020F0502020204030203" pitchFamily="34" charset="0"/>
                <a:cs typeface="Times New Roman" pitchFamily="18" charset="0"/>
              </a:rPr>
              <a:t>Gaja</a:t>
            </a:r>
            <a:r>
              <a:rPr lang="en-US" sz="1600" dirty="0">
                <a:latin typeface="Times New Roman" pitchFamily="18" charset="0"/>
                <a:ea typeface="Lato" panose="020F0502020204030203" pitchFamily="34" charset="0"/>
                <a:cs typeface="Times New Roman" pitchFamily="18" charset="0"/>
              </a:rPr>
              <a:t> cyclone of 2018 killed 300 people and over 2500 buildings were destroyed.</a:t>
            </a:r>
          </a:p>
          <a:p>
            <a:pPr lvl="0" indent="-457200" algn="just" rtl="0">
              <a:spcBef>
                <a:spcPts val="640"/>
              </a:spcBef>
              <a:spcAft>
                <a:spcPts val="0"/>
              </a:spcAft>
              <a:buSzPct val="100000"/>
              <a:buFont typeface="Wingdings" pitchFamily="2" charset="2"/>
              <a:buChar char="q"/>
            </a:pPr>
            <a:r>
              <a:rPr lang="en-US" sz="1600" dirty="0">
                <a:latin typeface="Times New Roman" pitchFamily="18" charset="0"/>
                <a:ea typeface="Lato" panose="020F0502020204030203" pitchFamily="34" charset="0"/>
                <a:cs typeface="Times New Roman" pitchFamily="18" charset="0"/>
              </a:rPr>
              <a:t>Accurate and reliable predictions of cyclone formation and development are therefore critical for helping people in affected areas to evacuate. Satellite data can provide valuable information about cyclones, such as their size, shape, and intensity.</a:t>
            </a:r>
          </a:p>
          <a:p>
            <a:pPr lvl="0" indent="-457200" algn="just" rtl="0">
              <a:spcBef>
                <a:spcPts val="640"/>
              </a:spcBef>
              <a:spcAft>
                <a:spcPts val="0"/>
              </a:spcAft>
              <a:buSzPct val="100000"/>
              <a:buFont typeface="Arial" panose="020B0604020202020204" pitchFamily="34" charset="0"/>
              <a:buChar char="•"/>
            </a:pPr>
            <a:endParaRPr lang="en-US" sz="1600" dirty="0">
              <a:latin typeface="Times New Roman" pitchFamily="18" charset="0"/>
              <a:ea typeface="Lato" panose="020F0502020204030203" pitchFamily="34" charset="0"/>
              <a:cs typeface="Times New Roman" pitchFamily="18" charset="0"/>
            </a:endParaRPr>
          </a:p>
          <a:p>
            <a:pPr lvl="0" indent="-457200" algn="just" rtl="0">
              <a:spcBef>
                <a:spcPts val="640"/>
              </a:spcBef>
              <a:spcAft>
                <a:spcPts val="0"/>
              </a:spcAft>
              <a:buFont typeface="Arial" panose="020B0604020202020204" pitchFamily="34" charset="0"/>
              <a:buChar char="•"/>
            </a:pPr>
            <a:endParaRPr lang="en-US" sz="1600" dirty="0">
              <a:solidFill>
                <a:schemeClr val="tx1"/>
              </a:solidFill>
              <a:latin typeface="Times New Roman" panose="02020603050405020304" pitchFamily="18" charset="0"/>
              <a:cs typeface="Times New Roman" panose="02020603050405020304" pitchFamily="18" charset="0"/>
            </a:endParaRPr>
          </a:p>
          <a:p>
            <a:pPr lvl="0" indent="-457200" algn="just" rtl="0">
              <a:spcBef>
                <a:spcPts val="640"/>
              </a:spcBef>
              <a:spcAft>
                <a:spcPts val="0"/>
              </a:spcAft>
              <a:buFont typeface="Arial" panose="020B0604020202020204" pitchFamily="34" charset="0"/>
              <a:buChar char="•"/>
            </a:pPr>
            <a:endParaRPr lang="en-US" sz="1600" dirty="0">
              <a:latin typeface="Times New Roman" pitchFamily="18" charset="0"/>
              <a:cs typeface="Times New Roman" pitchFamily="18" charset="0"/>
            </a:endParaRPr>
          </a:p>
          <a:p>
            <a:pPr lvl="0" indent="-457200" algn="just" rtl="0">
              <a:spcBef>
                <a:spcPts val="640"/>
              </a:spcBef>
              <a:spcAft>
                <a:spcPts val="0"/>
              </a:spcAft>
              <a:buFont typeface="Arial" panose="020B0604020202020204" pitchFamily="34" charset="0"/>
              <a:buChar char="•"/>
            </a:pPr>
            <a:endParaRPr lang="en-US" sz="1600" dirty="0">
              <a:latin typeface="Times New Roman" pitchFamily="18" charset="0"/>
              <a:cs typeface="Times New Roman" pitchFamily="18" charset="0"/>
            </a:endParaRPr>
          </a:p>
          <a:p>
            <a:pPr lvl="0" indent="-457200" algn="just" rtl="0">
              <a:spcBef>
                <a:spcPts val="640"/>
              </a:spcBef>
              <a:spcAft>
                <a:spcPts val="0"/>
              </a:spcAft>
              <a:buFont typeface="Arial" panose="020B0604020202020204" pitchFamily="34" charset="0"/>
              <a:buChar char="•"/>
            </a:pPr>
            <a:endParaRPr sz="1600" dirty="0">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F83588FF-79C2-4130-DD9E-48FCC8800DBB}"/>
              </a:ext>
            </a:extLst>
          </p:cNvPr>
          <p:cNvSpPr txBox="1"/>
          <p:nvPr/>
        </p:nvSpPr>
        <p:spPr>
          <a:xfrm>
            <a:off x="8414013" y="4929069"/>
            <a:ext cx="1173945" cy="246221"/>
          </a:xfrm>
          <a:prstGeom prst="rect">
            <a:avLst/>
          </a:prstGeom>
          <a:noFill/>
        </p:spPr>
        <p:txBody>
          <a:bodyPr wrap="square" rtlCol="0">
            <a:spAutoFit/>
          </a:bodyPr>
          <a:lstStyle/>
          <a:p>
            <a:r>
              <a:rPr lang="en-IN" sz="1000" dirty="0">
                <a:solidFill>
                  <a:schemeClr val="bg1"/>
                </a:solidFill>
              </a:rPr>
              <a:t>Pg. 3</a:t>
            </a:r>
          </a:p>
        </p:txBody>
      </p:sp>
    </p:spTree>
    <p:extLst>
      <p:ext uri="{BB962C8B-B14F-4D97-AF65-F5344CB8AC3E}">
        <p14:creationId xmlns:p14="http://schemas.microsoft.com/office/powerpoint/2010/main" val="2040840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Literature Review</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701597" y="1113939"/>
            <a:ext cx="7740805" cy="3746342"/>
          </a:xfrm>
          <a:prstGeom prst="rect">
            <a:avLst/>
          </a:prstGeom>
        </p:spPr>
        <p:txBody>
          <a:bodyPr spcFirstLastPara="1" wrap="square" lIns="91425" tIns="45700" rIns="91425" bIns="45700" anchor="t" anchorCtr="0">
            <a:noAutofit/>
          </a:bodyPr>
          <a:lstStyle/>
          <a:p>
            <a:pPr algn="just" rtl="0" fontAlgn="base">
              <a:spcBef>
                <a:spcPts val="100"/>
              </a:spcBef>
              <a:buSzPct val="100000"/>
              <a:buFont typeface="Wingdings" pitchFamily="2" charset="2"/>
              <a:buChar char="q"/>
            </a:pPr>
            <a:r>
              <a:rPr lang="en-US" sz="1500" b="0" i="0" u="none" strike="noStrike" dirty="0">
                <a:solidFill>
                  <a:schemeClr val="tx1"/>
                </a:solidFill>
                <a:effectLst/>
                <a:latin typeface="Times New Roman" pitchFamily="18" charset="0"/>
                <a:cs typeface="Times New Roman" pitchFamily="18" charset="0"/>
              </a:rPr>
              <a:t>Md. Nazmul Haque </a:t>
            </a:r>
            <a:r>
              <a:rPr lang="en-US" sz="1500" b="0" i="1" u="none" strike="noStrike" dirty="0">
                <a:solidFill>
                  <a:schemeClr val="tx1"/>
                </a:solidFill>
                <a:effectLst/>
                <a:latin typeface="Times New Roman" pitchFamily="18" charset="0"/>
                <a:cs typeface="Times New Roman" pitchFamily="18" charset="0"/>
              </a:rPr>
              <a:t>et al </a:t>
            </a:r>
            <a:r>
              <a:rPr lang="en-US" sz="1500" b="0" u="none" strike="noStrike" dirty="0">
                <a:solidFill>
                  <a:srgbClr val="0070C0"/>
                </a:solidFill>
                <a:effectLst/>
                <a:latin typeface="Times New Roman" pitchFamily="18" charset="0"/>
                <a:cs typeface="Times New Roman" pitchFamily="18" charset="0"/>
              </a:rPr>
              <a:t>[1]</a:t>
            </a:r>
            <a:r>
              <a:rPr lang="en-US" sz="1500" b="0" i="1" u="none" strike="noStrike" dirty="0">
                <a:solidFill>
                  <a:srgbClr val="0070C0"/>
                </a:solidFill>
                <a:effectLst/>
                <a:latin typeface="Times New Roman" pitchFamily="18" charset="0"/>
                <a:cs typeface="Times New Roman" pitchFamily="18" charset="0"/>
              </a:rPr>
              <a:t> </a:t>
            </a:r>
            <a:r>
              <a:rPr lang="en-US" sz="1500" b="0" i="0" u="none" strike="noStrike" dirty="0">
                <a:solidFill>
                  <a:schemeClr val="tx1"/>
                </a:solidFill>
                <a:effectLst/>
                <a:latin typeface="Times New Roman" pitchFamily="18" charset="0"/>
                <a:cs typeface="Times New Roman" pitchFamily="18" charset="0"/>
              </a:rPr>
              <a:t>used two stage process to detect cyclone.  In first step they detected the cyclone using various models like CNN , SVM, KNN,VGG16, RF, ANN and in second step they worked on detecting the eye of cyclone using YOLO algorithm.</a:t>
            </a:r>
          </a:p>
          <a:p>
            <a:pPr algn="just" rtl="0"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Preprocessing</a:t>
            </a:r>
            <a:r>
              <a:rPr lang="en-US" sz="1500" b="0" i="0" u="none" strike="noStrike" dirty="0">
                <a:solidFill>
                  <a:schemeClr val="tx1"/>
                </a:solidFill>
                <a:effectLst/>
                <a:latin typeface="Times New Roman" pitchFamily="18" charset="0"/>
                <a:cs typeface="Times New Roman" pitchFamily="18" charset="0"/>
              </a:rPr>
              <a:t> techniques like gray scaling the image and thresholding. </a:t>
            </a:r>
          </a:p>
          <a:p>
            <a:pPr algn="just" rtl="0"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C</a:t>
            </a:r>
            <a:r>
              <a:rPr lang="en-US" sz="1500" b="0" i="0" u="none" strike="noStrike" dirty="0">
                <a:solidFill>
                  <a:schemeClr val="tx1"/>
                </a:solidFill>
                <a:effectLst/>
                <a:latin typeface="Times New Roman" pitchFamily="18" charset="0"/>
                <a:cs typeface="Times New Roman" pitchFamily="18" charset="0"/>
              </a:rPr>
              <a:t>ross-validation techniques to prevent models from bias and overfitting.</a:t>
            </a:r>
          </a:p>
          <a:p>
            <a:pPr algn="just" rtl="0"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87.86% </a:t>
            </a:r>
            <a:r>
              <a:rPr lang="en-US" sz="1500" dirty="0" err="1">
                <a:solidFill>
                  <a:schemeClr val="tx1"/>
                </a:solidFill>
                <a:latin typeface="Times New Roman" pitchFamily="18" charset="0"/>
                <a:cs typeface="Times New Roman" pitchFamily="18" charset="0"/>
              </a:rPr>
              <a:t>mAP</a:t>
            </a:r>
            <a:r>
              <a:rPr lang="en-US" sz="1500" dirty="0">
                <a:solidFill>
                  <a:schemeClr val="tx1"/>
                </a:solidFill>
                <a:latin typeface="Times New Roman" pitchFamily="18" charset="0"/>
                <a:cs typeface="Times New Roman" pitchFamily="18" charset="0"/>
              </a:rPr>
              <a:t> for cyclone detection</a:t>
            </a:r>
            <a:endParaRPr lang="en-US" sz="1500" b="0" i="0" u="none" strike="noStrike" dirty="0">
              <a:solidFill>
                <a:schemeClr val="tx1"/>
              </a:solidFill>
              <a:effectLst/>
              <a:latin typeface="Times New Roman" pitchFamily="18" charset="0"/>
              <a:cs typeface="Times New Roman" pitchFamily="18" charset="0"/>
            </a:endParaRPr>
          </a:p>
          <a:p>
            <a:pPr algn="just" rtl="0" fontAlgn="base">
              <a:spcBef>
                <a:spcPts val="100"/>
              </a:spcBef>
              <a:buSzPct val="100000"/>
              <a:buFont typeface="Wingdings" pitchFamily="2" charset="2"/>
              <a:buChar char="q"/>
            </a:pPr>
            <a:endParaRPr lang="en-US" sz="1500" dirty="0">
              <a:solidFill>
                <a:schemeClr val="tx1"/>
              </a:solidFill>
              <a:latin typeface="Times New Roman" pitchFamily="18" charset="0"/>
              <a:cs typeface="Times New Roman" pitchFamily="18" charset="0"/>
            </a:endParaRPr>
          </a:p>
          <a:p>
            <a:pPr algn="just" rtl="0" fontAlgn="base">
              <a:spcBef>
                <a:spcPts val="100"/>
              </a:spcBef>
              <a:buSzPct val="100000"/>
              <a:buFont typeface="Wingdings" pitchFamily="2" charset="2"/>
              <a:buChar char="q"/>
            </a:pPr>
            <a:endParaRPr lang="en-US" sz="1500" dirty="0">
              <a:solidFill>
                <a:schemeClr val="tx1"/>
              </a:solidFill>
              <a:latin typeface="Times New Roman" pitchFamily="18" charset="0"/>
              <a:cs typeface="Times New Roman" pitchFamily="18" charset="0"/>
            </a:endParaRPr>
          </a:p>
          <a:p>
            <a:pPr algn="just" rtl="0" fontAlgn="base">
              <a:spcBef>
                <a:spcPts val="100"/>
              </a:spcBef>
              <a:buSzPct val="100000"/>
              <a:buFont typeface="Wingdings" pitchFamily="2" charset="2"/>
              <a:buChar char="q"/>
            </a:pPr>
            <a:r>
              <a:rPr lang="en-US" sz="1500" b="0" i="0" u="none" strike="noStrike" dirty="0">
                <a:solidFill>
                  <a:schemeClr val="tx1"/>
                </a:solidFill>
                <a:effectLst/>
                <a:latin typeface="Times New Roman" pitchFamily="18" charset="0"/>
                <a:cs typeface="Times New Roman" pitchFamily="18" charset="0"/>
              </a:rPr>
              <a:t>Shakya S. </a:t>
            </a:r>
            <a:r>
              <a:rPr lang="en-US" sz="1500" b="0" i="1" u="none" strike="noStrike" dirty="0">
                <a:solidFill>
                  <a:schemeClr val="tx1"/>
                </a:solidFill>
                <a:effectLst/>
                <a:latin typeface="Times New Roman" pitchFamily="18" charset="0"/>
                <a:cs typeface="Times New Roman" pitchFamily="18" charset="0"/>
              </a:rPr>
              <a:t>et al</a:t>
            </a:r>
            <a:r>
              <a:rPr lang="en-US" sz="1500" b="0" u="none" strike="noStrike" dirty="0">
                <a:solidFill>
                  <a:schemeClr val="tx1"/>
                </a:solidFill>
                <a:effectLst/>
                <a:latin typeface="Times New Roman" pitchFamily="18" charset="0"/>
                <a:cs typeface="Times New Roman" pitchFamily="18" charset="0"/>
              </a:rPr>
              <a:t> </a:t>
            </a:r>
            <a:r>
              <a:rPr lang="en-US" sz="1500" b="0" u="none" strike="noStrike" dirty="0">
                <a:solidFill>
                  <a:srgbClr val="0070C0"/>
                </a:solidFill>
                <a:effectLst/>
                <a:latin typeface="Times New Roman" pitchFamily="18" charset="0"/>
                <a:cs typeface="Times New Roman" pitchFamily="18" charset="0"/>
              </a:rPr>
              <a:t>[2] </a:t>
            </a:r>
            <a:r>
              <a:rPr lang="en-US" sz="1500" b="0" u="none" strike="noStrike" dirty="0">
                <a:solidFill>
                  <a:schemeClr val="tx1"/>
                </a:solidFill>
                <a:effectLst/>
                <a:latin typeface="Times New Roman" pitchFamily="18" charset="0"/>
                <a:cs typeface="Times New Roman" pitchFamily="18" charset="0"/>
              </a:rPr>
              <a:t>have used the deep learning techniques for two purposes, viz. classifying an image under the category of storm or no storm and predicting the storm location in the near future.</a:t>
            </a:r>
          </a:p>
          <a:p>
            <a:pPr algn="just" rtl="0"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97% accuracy for storm no storm classification – CNN architecture.</a:t>
            </a:r>
          </a:p>
          <a:p>
            <a:pPr algn="just" rtl="0"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84% confidence for detecting the cyclone – YOLO with R-CNN</a:t>
            </a: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4</a:t>
            </a:r>
          </a:p>
        </p:txBody>
      </p:sp>
    </p:spTree>
    <p:extLst>
      <p:ext uri="{BB962C8B-B14F-4D97-AF65-F5344CB8AC3E}">
        <p14:creationId xmlns:p14="http://schemas.microsoft.com/office/powerpoint/2010/main" val="257324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Literature Review</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701597" y="1192887"/>
            <a:ext cx="7740805" cy="3746342"/>
          </a:xfrm>
          <a:prstGeom prst="rect">
            <a:avLst/>
          </a:prstGeom>
        </p:spPr>
        <p:txBody>
          <a:bodyPr spcFirstLastPara="1" wrap="square" lIns="91425" tIns="45700" rIns="91425" bIns="45700" anchor="t" anchorCtr="0">
            <a:noAutofit/>
          </a:bodyPr>
          <a:lstStyle/>
          <a:p>
            <a:pPr algn="just" fontAlgn="base">
              <a:spcBef>
                <a:spcPts val="100"/>
              </a:spcBef>
              <a:buSzPct val="100000"/>
              <a:buFont typeface="Wingdings" pitchFamily="2" charset="2"/>
              <a:buChar char="q"/>
            </a:pPr>
            <a:r>
              <a:rPr lang="en-US" sz="1500" dirty="0" err="1">
                <a:latin typeface="Times New Roman" pitchFamily="18" charset="0"/>
                <a:cs typeface="Times New Roman" pitchFamily="18" charset="0"/>
              </a:rPr>
              <a:t>Selim</a:t>
            </a:r>
            <a:r>
              <a:rPr lang="en-US" sz="1500" dirty="0">
                <a:latin typeface="Times New Roman" pitchFamily="18" charset="0"/>
                <a:cs typeface="Times New Roman" pitchFamily="18" charset="0"/>
              </a:rPr>
              <a:t> </a:t>
            </a:r>
            <a:r>
              <a:rPr lang="en-US" sz="1500" dirty="0" err="1">
                <a:latin typeface="Times New Roman" pitchFamily="18" charset="0"/>
                <a:cs typeface="Times New Roman" pitchFamily="18" charset="0"/>
              </a:rPr>
              <a:t>Furkan</a:t>
            </a:r>
            <a:r>
              <a:rPr lang="en-US" sz="1500" dirty="0">
                <a:latin typeface="Times New Roman" pitchFamily="18" charset="0"/>
                <a:cs typeface="Times New Roman" pitchFamily="18" charset="0"/>
              </a:rPr>
              <a:t> </a:t>
            </a:r>
            <a:r>
              <a:rPr lang="en-US" sz="1500" dirty="0" err="1">
                <a:latin typeface="Times New Roman" pitchFamily="18" charset="0"/>
                <a:cs typeface="Times New Roman" pitchFamily="18" charset="0"/>
              </a:rPr>
              <a:t>Tekin</a:t>
            </a:r>
            <a:r>
              <a:rPr lang="en-US" sz="1500" dirty="0">
                <a:latin typeface="Times New Roman" pitchFamily="18" charset="0"/>
                <a:cs typeface="Times New Roman" pitchFamily="18" charset="0"/>
              </a:rPr>
              <a:t> et al. [3] studied tropical cyclone trajectories using deep learning techniques. </a:t>
            </a:r>
          </a:p>
          <a:p>
            <a:pPr algn="just" fontAlgn="base">
              <a:spcBef>
                <a:spcPts val="100"/>
              </a:spcBef>
              <a:buSzPct val="100000"/>
              <a:buFont typeface="Wingdings" pitchFamily="2" charset="2"/>
              <a:buChar char="q"/>
            </a:pPr>
            <a:r>
              <a:rPr lang="en-US" sz="1500" dirty="0">
                <a:latin typeface="Times New Roman" pitchFamily="18" charset="0"/>
                <a:cs typeface="Times New Roman" pitchFamily="18" charset="0"/>
              </a:rPr>
              <a:t>RNN-</a:t>
            </a:r>
            <a:r>
              <a:rPr lang="en-US" sz="1500" dirty="0" err="1">
                <a:latin typeface="Times New Roman" pitchFamily="18" charset="0"/>
                <a:cs typeface="Times New Roman" pitchFamily="18" charset="0"/>
              </a:rPr>
              <a:t>baed</a:t>
            </a:r>
            <a:r>
              <a:rPr lang="en-US" sz="1500" dirty="0">
                <a:latin typeface="Times New Roman" pitchFamily="18" charset="0"/>
                <a:cs typeface="Times New Roman" pitchFamily="18" charset="0"/>
              </a:rPr>
              <a:t> deep learning architecture called </a:t>
            </a:r>
            <a:r>
              <a:rPr lang="en-US" sz="1500" dirty="0" err="1">
                <a:latin typeface="Times New Roman" pitchFamily="18" charset="0"/>
                <a:cs typeface="Times New Roman" pitchFamily="18" charset="0"/>
              </a:rPr>
              <a:t>TrajGRU</a:t>
            </a:r>
            <a:r>
              <a:rPr lang="en-US" sz="1500" dirty="0">
                <a:latin typeface="Times New Roman" pitchFamily="18" charset="0"/>
                <a:cs typeface="Times New Roman" pitchFamily="18" charset="0"/>
              </a:rPr>
              <a:t> to capture complex temporal patterns and </a:t>
            </a:r>
            <a:r>
              <a:rPr lang="en-US" sz="1500" dirty="0" err="1">
                <a:latin typeface="Times New Roman" pitchFamily="18" charset="0"/>
                <a:cs typeface="Times New Roman" pitchFamily="18" charset="0"/>
              </a:rPr>
              <a:t>perform</a:t>
            </a:r>
            <a:r>
              <a:rPr lang="en-US" sz="1500" dirty="0">
                <a:latin typeface="Times New Roman" pitchFamily="18" charset="0"/>
                <a:cs typeface="Times New Roman" pitchFamily="18" charset="0"/>
              </a:rPr>
              <a:t> forecasts. The performance was </a:t>
            </a:r>
            <a:r>
              <a:rPr lang="en-US" sz="1500" dirty="0" err="1">
                <a:latin typeface="Times New Roman" pitchFamily="18" charset="0"/>
                <a:cs typeface="Times New Roman" pitchFamily="18" charset="0"/>
              </a:rPr>
              <a:t>analysed</a:t>
            </a:r>
            <a:r>
              <a:rPr lang="en-US" sz="1500" dirty="0">
                <a:latin typeface="Times New Roman" pitchFamily="18" charset="0"/>
                <a:cs typeface="Times New Roman" pitchFamily="18" charset="0"/>
              </a:rPr>
              <a:t> in terms of kilometers at various hourly resolutions.</a:t>
            </a:r>
          </a:p>
          <a:p>
            <a:pPr algn="just" fontAlgn="base">
              <a:spcBef>
                <a:spcPts val="100"/>
              </a:spcBef>
              <a:buSzPct val="100000"/>
              <a:buFont typeface="Wingdings" pitchFamily="2" charset="2"/>
              <a:buChar char="q"/>
            </a:pPr>
            <a:r>
              <a:rPr lang="en-US" sz="1500" dirty="0">
                <a:latin typeface="Times New Roman" pitchFamily="18" charset="0"/>
                <a:cs typeface="Times New Roman" pitchFamily="18" charset="0"/>
              </a:rPr>
              <a:t>Used </a:t>
            </a:r>
            <a:r>
              <a:rPr lang="en-US" sz="1500" dirty="0" err="1">
                <a:latin typeface="Times New Roman" pitchFamily="18" charset="0"/>
                <a:cs typeface="Times New Roman" pitchFamily="18" charset="0"/>
              </a:rPr>
              <a:t>IBTrACS</a:t>
            </a:r>
            <a:r>
              <a:rPr lang="en-US" sz="1500" dirty="0">
                <a:latin typeface="Times New Roman" pitchFamily="18" charset="0"/>
                <a:cs typeface="Times New Roman" pitchFamily="18" charset="0"/>
              </a:rPr>
              <a:t> Dataset for predicting hurricane trajectories. This model also used atmospheric feature images at different pressure levels.</a:t>
            </a:r>
          </a:p>
          <a:p>
            <a:pPr algn="just" fontAlgn="base">
              <a:spcBef>
                <a:spcPts val="100"/>
              </a:spcBef>
              <a:buSzPct val="100000"/>
              <a:buFont typeface="Wingdings" pitchFamily="2" charset="2"/>
              <a:buChar char="q"/>
            </a:pPr>
            <a:endParaRPr lang="en-US" sz="1500" dirty="0">
              <a:latin typeface="Times New Roman" pitchFamily="18" charset="0"/>
              <a:cs typeface="Times New Roman" pitchFamily="18" charset="0"/>
            </a:endParaRPr>
          </a:p>
          <a:p>
            <a:pPr algn="just" fontAlgn="base">
              <a:spcBef>
                <a:spcPts val="100"/>
              </a:spcBef>
              <a:buSzPct val="100000"/>
              <a:buFont typeface="Wingdings" pitchFamily="2" charset="2"/>
              <a:buChar char="q"/>
            </a:pPr>
            <a:r>
              <a:rPr lang="en-US" sz="1500" dirty="0" err="1">
                <a:latin typeface="Times New Roman" pitchFamily="18" charset="0"/>
                <a:cs typeface="Times New Roman" pitchFamily="18" charset="0"/>
              </a:rPr>
              <a:t>Yanfei</a:t>
            </a:r>
            <a:r>
              <a:rPr lang="en-US" sz="1500" dirty="0">
                <a:latin typeface="Times New Roman" pitchFamily="18" charset="0"/>
                <a:cs typeface="Times New Roman" pitchFamily="18" charset="0"/>
              </a:rPr>
              <a:t> Zhang et al. [4] used matrix neutral networks for cyclone track prediction for South Indian Ocean. </a:t>
            </a:r>
          </a:p>
          <a:p>
            <a:pPr algn="just" fontAlgn="base">
              <a:spcBef>
                <a:spcPts val="100"/>
              </a:spcBef>
              <a:buSzPct val="100000"/>
              <a:buFont typeface="Wingdings" pitchFamily="2" charset="2"/>
              <a:buChar char="q"/>
            </a:pPr>
            <a:r>
              <a:rPr lang="en-US" sz="1500" dirty="0">
                <a:latin typeface="Times New Roman" pitchFamily="18" charset="0"/>
                <a:cs typeface="Times New Roman" pitchFamily="18" charset="0"/>
              </a:rPr>
              <a:t>Employed prominent RNN architectures as baseline models which includes Elman RNNs, Long Short-Term Memory and Gated Recurrent Unit Networks. </a:t>
            </a:r>
          </a:p>
          <a:p>
            <a:pPr algn="just" fontAlgn="base">
              <a:spcBef>
                <a:spcPts val="100"/>
              </a:spcBef>
              <a:buSzPct val="100000"/>
              <a:buFont typeface="Wingdings" pitchFamily="2" charset="2"/>
              <a:buChar char="q"/>
            </a:pPr>
            <a:r>
              <a:rPr lang="en-US" sz="1500" dirty="0">
                <a:latin typeface="Times New Roman" pitchFamily="18" charset="0"/>
                <a:cs typeface="Times New Roman" pitchFamily="18" charset="0"/>
              </a:rPr>
              <a:t>Proposed use of MNNs to predict the future location of a cyclone based on its current position and various atmospheric variables such as temperature, humidity, and wind speed.</a:t>
            </a:r>
          </a:p>
          <a:p>
            <a:pPr algn="just" fontAlgn="base">
              <a:spcBef>
                <a:spcPts val="100"/>
              </a:spcBef>
              <a:buSzPct val="100000"/>
              <a:buFont typeface="Wingdings" pitchFamily="2" charset="2"/>
              <a:buChar char="q"/>
            </a:pPr>
            <a:endParaRPr lang="en-US" sz="1600" dirty="0">
              <a:latin typeface="Times New Roman" pitchFamily="18" charset="0"/>
              <a:cs typeface="Times New Roman" pitchFamily="18" charset="0"/>
            </a:endParaRPr>
          </a:p>
          <a:p>
            <a:pPr marL="25400" indent="0" algn="just" fontAlgn="base">
              <a:spcBef>
                <a:spcPts val="100"/>
              </a:spcBef>
              <a:buSzPct val="100000"/>
            </a:pPr>
            <a:endParaRPr lang="en-US" sz="6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5</a:t>
            </a:r>
          </a:p>
        </p:txBody>
      </p:sp>
    </p:spTree>
    <p:extLst>
      <p:ext uri="{BB962C8B-B14F-4D97-AF65-F5344CB8AC3E}">
        <p14:creationId xmlns:p14="http://schemas.microsoft.com/office/powerpoint/2010/main" val="2987178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Theoretical Background</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673208" y="1113939"/>
            <a:ext cx="7740805" cy="3746342"/>
          </a:xfrm>
          <a:prstGeom prst="rect">
            <a:avLst/>
          </a:prstGeom>
        </p:spPr>
        <p:txBody>
          <a:bodyPr spcFirstLastPara="1" wrap="square" lIns="91425" tIns="45700" rIns="91425" bIns="45700" anchor="t" anchorCtr="0">
            <a:noAutofit/>
          </a:bodyPr>
          <a:lstStyle/>
          <a:p>
            <a:pPr algn="just" rtl="0"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Object Detection:</a:t>
            </a:r>
          </a:p>
          <a:p>
            <a:pPr marL="196850" indent="-171450" algn="just" rtl="0" fontAlgn="base">
              <a:spcBef>
                <a:spcPts val="100"/>
              </a:spcBef>
              <a:buSzPct val="100000"/>
              <a:buFont typeface="Wingdings" pitchFamily="2" charset="2"/>
              <a:buChar char="q"/>
            </a:pPr>
            <a:endParaRPr lang="en-US" sz="800" dirty="0">
              <a:solidFill>
                <a:schemeClr val="tx1"/>
              </a:solidFill>
              <a:latin typeface="Times New Roman" pitchFamily="18" charset="0"/>
              <a:cs typeface="Times New Roman" pitchFamily="18" charset="0"/>
            </a:endParaRPr>
          </a:p>
          <a:p>
            <a:pPr lvl="1" algn="just"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subfield of machine learning and computer vision that involves identifying and locating objects in images or videos</a:t>
            </a:r>
          </a:p>
          <a:p>
            <a:pPr lvl="1" algn="just"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Successful object detection models : R-CNN and YOLO</a:t>
            </a:r>
          </a:p>
          <a:p>
            <a:pPr lvl="1" algn="just" fontAlgn="base">
              <a:spcBef>
                <a:spcPts val="100"/>
              </a:spcBef>
              <a:buSzPct val="100000"/>
              <a:buFont typeface="Wingdings" pitchFamily="2" charset="2"/>
              <a:buChar char="q"/>
            </a:pPr>
            <a:r>
              <a:rPr lang="en-US" sz="1500" dirty="0">
                <a:solidFill>
                  <a:schemeClr val="tx1"/>
                </a:solidFill>
                <a:latin typeface="Times New Roman" pitchFamily="18" charset="0"/>
                <a:cs typeface="Times New Roman" pitchFamily="18" charset="0"/>
              </a:rPr>
              <a:t>Applications: autonomous vehicles, surveillance systems, and image/video search engines.</a:t>
            </a: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Wingdings" panose="05000000000000000000" pitchFamily="2" charset="2"/>
              <a:buChar char="§"/>
            </a:pPr>
            <a:r>
              <a:rPr lang="en-US" sz="1500" dirty="0">
                <a:solidFill>
                  <a:schemeClr val="tx1"/>
                </a:solidFill>
                <a:latin typeface="Times New Roman" pitchFamily="18" charset="0"/>
                <a:cs typeface="Times New Roman" pitchFamily="18" charset="0"/>
              </a:rPr>
              <a:t>R-CNN (Regional Based Convolutional Neural Network)</a:t>
            </a:r>
          </a:p>
          <a:p>
            <a:pPr lvl="2" algn="just" fontAlgn="base">
              <a:spcBef>
                <a:spcPts val="100"/>
              </a:spcBef>
              <a:buFont typeface="Wingdings" panose="05000000000000000000" pitchFamily="2" charset="2"/>
              <a:buChar char="§"/>
            </a:pPr>
            <a:endParaRPr lang="en-US" sz="1100" dirty="0">
              <a:solidFill>
                <a:schemeClr val="tx1"/>
              </a:solidFill>
              <a:latin typeface="Times New Roman" pitchFamily="18" charset="0"/>
              <a:cs typeface="Times New Roman" pitchFamily="18" charset="0"/>
            </a:endParaRPr>
          </a:p>
          <a:p>
            <a:pPr lvl="2" algn="just" fontAlgn="base">
              <a:spcBef>
                <a:spcPts val="100"/>
              </a:spcBef>
              <a:buFont typeface="Wingdings" panose="05000000000000000000" pitchFamily="2" charset="2"/>
              <a:buChar char="§"/>
            </a:pPr>
            <a:r>
              <a:rPr lang="en-US" sz="1500" dirty="0">
                <a:solidFill>
                  <a:schemeClr val="tx1"/>
                </a:solidFill>
                <a:latin typeface="Times New Roman" pitchFamily="18" charset="0"/>
                <a:cs typeface="Times New Roman" pitchFamily="18" charset="0"/>
              </a:rPr>
              <a:t>Uses CNN to classify and locate objects in an image</a:t>
            </a:r>
          </a:p>
          <a:p>
            <a:pPr lvl="2" algn="just" fontAlgn="base">
              <a:spcBef>
                <a:spcPts val="100"/>
              </a:spcBef>
              <a:buFont typeface="Wingdings" panose="05000000000000000000" pitchFamily="2" charset="2"/>
              <a:buChar char="§"/>
            </a:pPr>
            <a:r>
              <a:rPr lang="en-US" sz="1500" dirty="0">
                <a:solidFill>
                  <a:schemeClr val="tx1"/>
                </a:solidFill>
                <a:latin typeface="Times New Roman" pitchFamily="18" charset="0"/>
                <a:cs typeface="Times New Roman" pitchFamily="18" charset="0"/>
              </a:rPr>
              <a:t>Generates a set of region proposals, which are potential locations of objects and outputs class probabilities and bounding box coordinates for each proposal</a:t>
            </a:r>
          </a:p>
          <a:p>
            <a:pPr lvl="2" algn="just" fontAlgn="base">
              <a:spcBef>
                <a:spcPts val="100"/>
              </a:spcBef>
              <a:buFont typeface="Wingdings" panose="05000000000000000000" pitchFamily="2" charset="2"/>
              <a:buChar char="§"/>
            </a:pPr>
            <a:r>
              <a:rPr lang="en-US" sz="1500" dirty="0">
                <a:solidFill>
                  <a:schemeClr val="tx1"/>
                </a:solidFill>
                <a:latin typeface="Times New Roman" pitchFamily="18" charset="0"/>
                <a:cs typeface="Times New Roman" pitchFamily="18" charset="0"/>
              </a:rPr>
              <a:t>Computationally Expensive due to multiple forward and backward passes through the CNN for each image</a:t>
            </a:r>
          </a:p>
          <a:p>
            <a:pPr lvl="2" algn="just" fontAlgn="base">
              <a:spcBef>
                <a:spcPts val="100"/>
              </a:spcBef>
              <a:buFont typeface="Wingdings" panose="05000000000000000000" pitchFamily="2" charset="2"/>
              <a:buChar char="§"/>
            </a:pPr>
            <a:endParaRPr lang="en-US" sz="1500" dirty="0">
              <a:solidFill>
                <a:schemeClr val="tx1"/>
              </a:solidFill>
              <a:latin typeface="Times New Roman" pitchFamily="18" charset="0"/>
              <a:cs typeface="Times New Roman" pitchFamily="18" charset="0"/>
            </a:endParaRPr>
          </a:p>
          <a:p>
            <a:pPr lvl="2" algn="just" fontAlgn="base">
              <a:spcBef>
                <a:spcPts val="100"/>
              </a:spcBef>
              <a:buFont typeface="Wingdings" panose="05000000000000000000" pitchFamily="2" charset="2"/>
              <a:buChar char="§"/>
            </a:pPr>
            <a:endParaRPr lang="en-US" sz="1500" dirty="0">
              <a:solidFill>
                <a:schemeClr val="tx1"/>
              </a:solidFill>
              <a:latin typeface="Times New Roman" pitchFamily="18" charset="0"/>
              <a:cs typeface="Times New Roman" pitchFamily="18" charset="0"/>
            </a:endParaRPr>
          </a:p>
          <a:p>
            <a:pPr lvl="2" algn="just" fontAlgn="base">
              <a:spcBef>
                <a:spcPts val="100"/>
              </a:spcBef>
              <a:buFont typeface="Wingdings" panose="05000000000000000000" pitchFamily="2" charset="2"/>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1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marL="508000" lvl="1" indent="0" algn="just" fontAlgn="base">
              <a:spcBef>
                <a:spcPts val="100"/>
              </a:spcBef>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6</a:t>
            </a:r>
          </a:p>
        </p:txBody>
      </p:sp>
    </p:spTree>
    <p:extLst>
      <p:ext uri="{BB962C8B-B14F-4D97-AF65-F5344CB8AC3E}">
        <p14:creationId xmlns:p14="http://schemas.microsoft.com/office/powerpoint/2010/main" val="3285946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YOLO</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7</a:t>
            </a:r>
          </a:p>
        </p:txBody>
      </p:sp>
      <p:sp>
        <p:nvSpPr>
          <p:cNvPr id="7" name="Subtitle 6">
            <a:extLst>
              <a:ext uri="{FF2B5EF4-FFF2-40B4-BE49-F238E27FC236}">
                <a16:creationId xmlns:a16="http://schemas.microsoft.com/office/drawing/2014/main" id="{0CD93588-A976-E5D6-D68D-6D975C81CFE5}"/>
              </a:ext>
            </a:extLst>
          </p:cNvPr>
          <p:cNvSpPr>
            <a:spLocks noGrp="1"/>
          </p:cNvSpPr>
          <p:nvPr>
            <p:ph type="subTitle" idx="1"/>
          </p:nvPr>
        </p:nvSpPr>
        <p:spPr>
          <a:xfrm>
            <a:off x="671804" y="1231641"/>
            <a:ext cx="3638939" cy="3062923"/>
          </a:xfrm>
        </p:spPr>
        <p:txBody>
          <a:bodyPr/>
          <a:lstStyle/>
          <a:p>
            <a:pPr algn="l">
              <a:buSzPct val="100000"/>
              <a:buFont typeface="Wingdings" pitchFamily="2" charset="2"/>
              <a:buChar char="q"/>
            </a:pPr>
            <a:r>
              <a:rPr lang="en-US" sz="1500" dirty="0">
                <a:latin typeface="Times New Roman" pitchFamily="18" charset="0"/>
                <a:cs typeface="Times New Roman" pitchFamily="18" charset="0"/>
              </a:rPr>
              <a:t>YOLO (You Only Look Once) is a popular algorithm for object detection in images and videos. </a:t>
            </a:r>
          </a:p>
          <a:p>
            <a:pPr algn="l">
              <a:buSzPct val="100000"/>
              <a:buFont typeface="Wingdings" pitchFamily="2" charset="2"/>
              <a:buChar char="q"/>
            </a:pPr>
            <a:r>
              <a:rPr lang="en-US" sz="1500" dirty="0">
                <a:latin typeface="Times New Roman" pitchFamily="18" charset="0"/>
                <a:cs typeface="Times New Roman" pitchFamily="18" charset="0"/>
              </a:rPr>
              <a:t>Developed by Joseph </a:t>
            </a:r>
            <a:r>
              <a:rPr lang="en-US" sz="1500" dirty="0" err="1">
                <a:latin typeface="Times New Roman" pitchFamily="18" charset="0"/>
                <a:cs typeface="Times New Roman" pitchFamily="18" charset="0"/>
              </a:rPr>
              <a:t>Redmon</a:t>
            </a:r>
            <a:r>
              <a:rPr lang="en-US" sz="1500" dirty="0">
                <a:latin typeface="Times New Roman" pitchFamily="18" charset="0"/>
                <a:cs typeface="Times New Roman" pitchFamily="18" charset="0"/>
              </a:rPr>
              <a:t> and Ali </a:t>
            </a:r>
            <a:r>
              <a:rPr lang="en-US" sz="1500" dirty="0" err="1">
                <a:latin typeface="Times New Roman" pitchFamily="18" charset="0"/>
                <a:cs typeface="Times New Roman" pitchFamily="18" charset="0"/>
              </a:rPr>
              <a:t>Farhadi</a:t>
            </a:r>
            <a:r>
              <a:rPr lang="en-US" sz="1500" dirty="0">
                <a:latin typeface="Times New Roman" pitchFamily="18" charset="0"/>
                <a:cs typeface="Times New Roman" pitchFamily="18" charset="0"/>
              </a:rPr>
              <a:t> in 2015.</a:t>
            </a:r>
          </a:p>
          <a:p>
            <a:pPr algn="l">
              <a:buSzPct val="100000"/>
              <a:buFont typeface="Wingdings" pitchFamily="2" charset="2"/>
              <a:buChar char="q"/>
            </a:pPr>
            <a:r>
              <a:rPr lang="en-US" sz="1500" dirty="0">
                <a:latin typeface="Times New Roman" pitchFamily="18" charset="0"/>
                <a:cs typeface="Times New Roman" pitchFamily="18" charset="0"/>
              </a:rPr>
              <a:t>Fig.1 shows that YOLOv7 is much faster than other object detection models. </a:t>
            </a:r>
            <a:endParaRPr lang="en-IN" sz="1500" dirty="0">
              <a:latin typeface="Times New Roman" pitchFamily="18" charset="0"/>
              <a:cs typeface="Times New Roman" pitchFamily="18" charset="0"/>
            </a:endParaRPr>
          </a:p>
        </p:txBody>
      </p:sp>
      <p:pic>
        <p:nvPicPr>
          <p:cNvPr id="1026" name="Picture 2" descr="C:\Users\hp\Downloads\performanc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3965" y="1240267"/>
            <a:ext cx="4224176" cy="31520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5C88F51-D6F3-857B-04F8-CD954C868E9E}"/>
              </a:ext>
            </a:extLst>
          </p:cNvPr>
          <p:cNvSpPr txBox="1"/>
          <p:nvPr/>
        </p:nvSpPr>
        <p:spPr>
          <a:xfrm>
            <a:off x="4927974" y="4498525"/>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Fig:1 YOLO Speed </a:t>
            </a:r>
            <a:r>
              <a:rPr lang="en-IN">
                <a:latin typeface="Times New Roman" panose="02020603050405020304" pitchFamily="18" charset="0"/>
                <a:cs typeface="Times New Roman" panose="02020603050405020304" pitchFamily="18" charset="0"/>
              </a:rPr>
              <a:t>Comparision </a:t>
            </a:r>
            <a:r>
              <a:rPr lang="en-IN"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2405831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YOLO Architecture</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8</a:t>
            </a:r>
          </a:p>
        </p:txBody>
      </p:sp>
      <p:sp>
        <p:nvSpPr>
          <p:cNvPr id="7" name="Subtitle 6">
            <a:extLst>
              <a:ext uri="{FF2B5EF4-FFF2-40B4-BE49-F238E27FC236}">
                <a16:creationId xmlns:a16="http://schemas.microsoft.com/office/drawing/2014/main" id="{0CD93588-A976-E5D6-D68D-6D975C81CFE5}"/>
              </a:ext>
            </a:extLst>
          </p:cNvPr>
          <p:cNvSpPr>
            <a:spLocks noGrp="1"/>
          </p:cNvSpPr>
          <p:nvPr>
            <p:ph type="subTitle" idx="1"/>
          </p:nvPr>
        </p:nvSpPr>
        <p:spPr/>
        <p:txBody>
          <a:bodyPr/>
          <a:lstStyle/>
          <a:p>
            <a:endParaRPr lang="en-IN"/>
          </a:p>
        </p:txBody>
      </p:sp>
      <p:sp>
        <p:nvSpPr>
          <p:cNvPr id="2" name="TextBox 1">
            <a:extLst>
              <a:ext uri="{FF2B5EF4-FFF2-40B4-BE49-F238E27FC236}">
                <a16:creationId xmlns:a16="http://schemas.microsoft.com/office/drawing/2014/main" id="{45C88F51-D6F3-857B-04F8-CD954C868E9E}"/>
              </a:ext>
            </a:extLst>
          </p:cNvPr>
          <p:cNvSpPr txBox="1"/>
          <p:nvPr/>
        </p:nvSpPr>
        <p:spPr>
          <a:xfrm>
            <a:off x="2943921" y="4652414"/>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Fig:2 YOLO Architecture [5]</a:t>
            </a:r>
          </a:p>
        </p:txBody>
      </p:sp>
      <p:sp>
        <p:nvSpPr>
          <p:cNvPr id="5" name="AutoShape 4" descr="YOLO architecture YOLO architecture is inspired by GooLeNet model for...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descr="C:\Users\hp\Desktop\yolov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74" y="1184131"/>
            <a:ext cx="8096250"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293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Tools and Libraries Used</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1002401" y="1063093"/>
            <a:ext cx="7740805" cy="3746342"/>
          </a:xfrm>
          <a:prstGeom prst="rect">
            <a:avLst/>
          </a:prstGeom>
        </p:spPr>
        <p:txBody>
          <a:bodyPr spcFirstLastPara="1" wrap="square" lIns="91425" tIns="45700" rIns="91425" bIns="45700" anchor="t" anchorCtr="0">
            <a:noAutofit/>
          </a:bodyPr>
          <a:lstStyle/>
          <a:p>
            <a:pPr algn="just" rtl="0" fontAlgn="base">
              <a:lnSpc>
                <a:spcPct val="150000"/>
              </a:lnSpc>
              <a:spcBef>
                <a:spcPts val="100"/>
              </a:spcBef>
              <a:buSzPct val="150000"/>
              <a:buFont typeface="Arial" panose="020B0604020202020204" pitchFamily="34" charset="0"/>
              <a:buChar char="•"/>
            </a:pPr>
            <a:r>
              <a:rPr lang="en-US" sz="1500" dirty="0">
                <a:solidFill>
                  <a:schemeClr val="tx1"/>
                </a:solidFill>
                <a:latin typeface="Times New Roman" pitchFamily="18" charset="0"/>
                <a:cs typeface="Times New Roman" pitchFamily="18" charset="0"/>
              </a:rPr>
              <a:t>Google </a:t>
            </a:r>
            <a:r>
              <a:rPr lang="en-US" sz="1500" dirty="0" err="1">
                <a:solidFill>
                  <a:schemeClr val="tx1"/>
                </a:solidFill>
                <a:latin typeface="Times New Roman" pitchFamily="18" charset="0"/>
                <a:cs typeface="Times New Roman" pitchFamily="18" charset="0"/>
              </a:rPr>
              <a:t>Colaboratory</a:t>
            </a:r>
            <a:endParaRPr lang="en-US" sz="1500" dirty="0">
              <a:solidFill>
                <a:schemeClr val="tx1"/>
              </a:solidFill>
              <a:latin typeface="Times New Roman" pitchFamily="18" charset="0"/>
              <a:cs typeface="Times New Roman" pitchFamily="18" charset="0"/>
            </a:endParaRPr>
          </a:p>
          <a:p>
            <a:pPr algn="just" rtl="0" fontAlgn="base">
              <a:lnSpc>
                <a:spcPct val="150000"/>
              </a:lnSpc>
              <a:spcBef>
                <a:spcPts val="100"/>
              </a:spcBef>
              <a:buSzPct val="150000"/>
              <a:buFont typeface="Arial" panose="020B0604020202020204" pitchFamily="34" charset="0"/>
              <a:buChar char="•"/>
            </a:pPr>
            <a:r>
              <a:rPr lang="en-US" sz="1500" dirty="0" err="1">
                <a:solidFill>
                  <a:schemeClr val="tx1"/>
                </a:solidFill>
                <a:latin typeface="Times New Roman" pitchFamily="18" charset="0"/>
                <a:cs typeface="Times New Roman" pitchFamily="18" charset="0"/>
              </a:rPr>
              <a:t>LabelImg</a:t>
            </a:r>
            <a:endParaRPr lang="en-US" sz="1500" dirty="0">
              <a:solidFill>
                <a:schemeClr val="tx1"/>
              </a:solidFill>
              <a:latin typeface="Times New Roman" pitchFamily="18" charset="0"/>
              <a:cs typeface="Times New Roman" pitchFamily="18" charset="0"/>
            </a:endParaRPr>
          </a:p>
          <a:p>
            <a:pPr algn="just" rtl="0" fontAlgn="base">
              <a:lnSpc>
                <a:spcPct val="150000"/>
              </a:lnSpc>
              <a:spcBef>
                <a:spcPts val="100"/>
              </a:spcBef>
              <a:buSzPct val="150000"/>
              <a:buFont typeface="Arial" panose="020B0604020202020204" pitchFamily="34" charset="0"/>
              <a:buChar char="•"/>
            </a:pPr>
            <a:r>
              <a:rPr lang="en-US" sz="1500" dirty="0">
                <a:solidFill>
                  <a:schemeClr val="tx1"/>
                </a:solidFill>
                <a:latin typeface="Times New Roman" pitchFamily="18" charset="0"/>
                <a:cs typeface="Times New Roman" pitchFamily="18" charset="0"/>
              </a:rPr>
              <a:t>Kaggle</a:t>
            </a:r>
          </a:p>
          <a:p>
            <a:pPr algn="just" rtl="0" fontAlgn="base">
              <a:lnSpc>
                <a:spcPct val="150000"/>
              </a:lnSpc>
              <a:spcBef>
                <a:spcPts val="100"/>
              </a:spcBef>
              <a:buSzPct val="150000"/>
              <a:buFont typeface="Arial" panose="020B0604020202020204" pitchFamily="34" charset="0"/>
              <a:buChar char="•"/>
            </a:pPr>
            <a:r>
              <a:rPr lang="en-US" sz="1500" dirty="0" err="1">
                <a:solidFill>
                  <a:schemeClr val="tx1"/>
                </a:solidFill>
                <a:latin typeface="Times New Roman" pitchFamily="18" charset="0"/>
                <a:cs typeface="Times New Roman" pitchFamily="18" charset="0"/>
              </a:rPr>
              <a:t>PyTorch</a:t>
            </a:r>
            <a:endParaRPr lang="en-US" sz="1500" dirty="0">
              <a:solidFill>
                <a:schemeClr val="tx1"/>
              </a:solidFill>
              <a:latin typeface="Times New Roman" pitchFamily="18" charset="0"/>
              <a:cs typeface="Times New Roman" pitchFamily="18" charset="0"/>
            </a:endParaRPr>
          </a:p>
          <a:p>
            <a:pPr algn="just" rtl="0" fontAlgn="base">
              <a:lnSpc>
                <a:spcPct val="150000"/>
              </a:lnSpc>
              <a:spcBef>
                <a:spcPts val="100"/>
              </a:spcBef>
              <a:buSzPct val="150000"/>
              <a:buFont typeface="Arial" panose="020B0604020202020204" pitchFamily="34" charset="0"/>
              <a:buChar char="•"/>
            </a:pPr>
            <a:r>
              <a:rPr lang="en-US" sz="1500" dirty="0">
                <a:solidFill>
                  <a:schemeClr val="tx1"/>
                </a:solidFill>
                <a:latin typeface="Times New Roman" pitchFamily="18" charset="0"/>
                <a:cs typeface="Times New Roman" pitchFamily="18" charset="0"/>
              </a:rPr>
              <a:t>OpenCV</a:t>
            </a:r>
          </a:p>
          <a:p>
            <a:pPr algn="just" rtl="0" fontAlgn="base">
              <a:lnSpc>
                <a:spcPct val="150000"/>
              </a:lnSpc>
              <a:spcBef>
                <a:spcPts val="100"/>
              </a:spcBef>
              <a:buSzPct val="150000"/>
              <a:buFont typeface="Arial" panose="020B0604020202020204" pitchFamily="34" charset="0"/>
              <a:buChar char="•"/>
            </a:pPr>
            <a:r>
              <a:rPr lang="en-US" sz="1500" dirty="0">
                <a:solidFill>
                  <a:schemeClr val="tx1"/>
                </a:solidFill>
                <a:latin typeface="Times New Roman" pitchFamily="18" charset="0"/>
                <a:cs typeface="Times New Roman" pitchFamily="18" charset="0"/>
              </a:rPr>
              <a:t>Matplotlib</a:t>
            </a:r>
          </a:p>
          <a:p>
            <a:pPr algn="just" rtl="0" fontAlgn="base">
              <a:lnSpc>
                <a:spcPct val="150000"/>
              </a:lnSpc>
              <a:spcBef>
                <a:spcPts val="100"/>
              </a:spcBef>
              <a:buSzPct val="150000"/>
              <a:buFont typeface="Arial" panose="020B0604020202020204" pitchFamily="34" charset="0"/>
              <a:buChar char="•"/>
            </a:pPr>
            <a:r>
              <a:rPr lang="en-US" sz="1500" dirty="0">
                <a:solidFill>
                  <a:schemeClr val="tx1"/>
                </a:solidFill>
                <a:latin typeface="Times New Roman" pitchFamily="18" charset="0"/>
                <a:cs typeface="Times New Roman" pitchFamily="18" charset="0"/>
              </a:rPr>
              <a:t>OS</a:t>
            </a:r>
          </a:p>
          <a:p>
            <a:pPr algn="just" rtl="0" fontAlgn="base">
              <a:lnSpc>
                <a:spcPct val="150000"/>
              </a:lnSpc>
              <a:spcBef>
                <a:spcPts val="100"/>
              </a:spcBef>
              <a:buSzPct val="150000"/>
              <a:buFont typeface="Arial" panose="020B0604020202020204" pitchFamily="34" charset="0"/>
              <a:buChar char="•"/>
            </a:pPr>
            <a:r>
              <a:rPr lang="en-US" sz="1500" dirty="0" err="1">
                <a:solidFill>
                  <a:schemeClr val="tx1"/>
                </a:solidFill>
                <a:latin typeface="Times New Roman" pitchFamily="18" charset="0"/>
                <a:cs typeface="Times New Roman" pitchFamily="18" charset="0"/>
              </a:rPr>
              <a:t>Keras</a:t>
            </a:r>
            <a:endParaRPr lang="en-US" sz="1500" dirty="0">
              <a:solidFill>
                <a:schemeClr val="tx1"/>
              </a:solidFill>
              <a:latin typeface="Times New Roman" pitchFamily="18" charset="0"/>
              <a:cs typeface="Times New Roman" pitchFamily="18" charset="0"/>
            </a:endParaRPr>
          </a:p>
          <a:p>
            <a:pPr algn="just" rtl="0" fontAlgn="base">
              <a:lnSpc>
                <a:spcPct val="150000"/>
              </a:lnSpc>
              <a:spcBef>
                <a:spcPts val="100"/>
              </a:spcBef>
              <a:buSzPct val="150000"/>
              <a:buFont typeface="Arial" panose="020B0604020202020204" pitchFamily="34" charset="0"/>
              <a:buChar char="•"/>
            </a:pPr>
            <a:r>
              <a:rPr lang="en-US" sz="1500" dirty="0" err="1">
                <a:solidFill>
                  <a:schemeClr val="tx1"/>
                </a:solidFill>
                <a:latin typeface="Times New Roman" pitchFamily="18" charset="0"/>
                <a:cs typeface="Times New Roman" pitchFamily="18" charset="0"/>
              </a:rPr>
              <a:t>GeoPandas</a:t>
            </a:r>
            <a:endParaRPr lang="en-US" sz="1500" dirty="0">
              <a:solidFill>
                <a:schemeClr val="tx1"/>
              </a:solidFill>
              <a:latin typeface="Times New Roman" pitchFamily="18" charset="0"/>
              <a:cs typeface="Times New Roman" pitchFamily="18" charset="0"/>
            </a:endParaRPr>
          </a:p>
          <a:p>
            <a:pPr algn="just" rtl="0" fontAlgn="base">
              <a:lnSpc>
                <a:spcPct val="150000"/>
              </a:lnSpc>
              <a:spcBef>
                <a:spcPts val="100"/>
              </a:spcBef>
              <a:buSzPct val="150000"/>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lvl="2" algn="just" fontAlgn="base">
              <a:spcBef>
                <a:spcPts val="100"/>
              </a:spcBef>
              <a:buFont typeface="Wingdings" panose="05000000000000000000" pitchFamily="2" charset="2"/>
              <a:buChar char="Ø"/>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1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marL="508000" lvl="1" indent="0" algn="just" fontAlgn="base">
              <a:spcBef>
                <a:spcPts val="100"/>
              </a:spcBef>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9</a:t>
            </a:r>
          </a:p>
        </p:txBody>
      </p:sp>
      <p:pic>
        <p:nvPicPr>
          <p:cNvPr id="4098" name="Picture 2" descr="Google Colab | Logopedia | Fandom">
            <a:extLst>
              <a:ext uri="{FF2B5EF4-FFF2-40B4-BE49-F238E27FC236}">
                <a16:creationId xmlns:a16="http://schemas.microsoft.com/office/drawing/2014/main" id="{C1385889-BD76-0B53-927B-3444670AC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3610" y="1113938"/>
            <a:ext cx="1486830" cy="65719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3C630B12-A962-3A87-EABF-34C6A94F98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1672" y="2348912"/>
            <a:ext cx="1153919" cy="445676"/>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Getting started with PyTorch. Deep Learning and Artificial… | by Navaneeth  Dinesh | Analytics Vidhya | Medium">
            <a:extLst>
              <a:ext uri="{FF2B5EF4-FFF2-40B4-BE49-F238E27FC236}">
                <a16:creationId xmlns:a16="http://schemas.microsoft.com/office/drawing/2014/main" id="{632F2934-83CE-6B99-B034-53DB04A1B9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1327" y="1198816"/>
            <a:ext cx="1334610" cy="867207"/>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a:extLst>
              <a:ext uri="{FF2B5EF4-FFF2-40B4-BE49-F238E27FC236}">
                <a16:creationId xmlns:a16="http://schemas.microsoft.com/office/drawing/2014/main" id="{C15C744F-4665-57E1-6788-744C645037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7025" y="2280154"/>
            <a:ext cx="766318" cy="944058"/>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Matplotlib logo — Matplotlib 3.6.2 documentation">
            <a:extLst>
              <a:ext uri="{FF2B5EF4-FFF2-40B4-BE49-F238E27FC236}">
                <a16:creationId xmlns:a16="http://schemas.microsoft.com/office/drawing/2014/main" id="{B7044EB4-35B8-2535-6059-BAC7C613860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5333" y="3506018"/>
            <a:ext cx="1816487" cy="363298"/>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descr="LabelImg - Crunchbase Company Profile &amp; Funding">
            <a:extLst>
              <a:ext uri="{FF2B5EF4-FFF2-40B4-BE49-F238E27FC236}">
                <a16:creationId xmlns:a16="http://schemas.microsoft.com/office/drawing/2014/main" id="{9E9AC4B8-EB2C-C77F-9847-94FA28625E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31210" y="2896363"/>
            <a:ext cx="954841" cy="7913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A235E3-A080-7485-5153-8E6D77846E92}"/>
              </a:ext>
            </a:extLst>
          </p:cNvPr>
          <p:cNvSpPr txBox="1"/>
          <p:nvPr/>
        </p:nvSpPr>
        <p:spPr>
          <a:xfrm>
            <a:off x="4572000" y="3978008"/>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Fig:3 Toolkit</a:t>
            </a:r>
          </a:p>
        </p:txBody>
      </p:sp>
      <p:sp>
        <p:nvSpPr>
          <p:cNvPr id="2" name="AutoShape 2" descr="upload.wikimedia.org/wikipedia/commons/thumb/a/a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upload.wikimedia.org/wikipedia/commons/thumb/a/a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70538" y="1919287"/>
            <a:ext cx="1201839" cy="1201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4855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Workflow Diagram</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10</a:t>
            </a:r>
          </a:p>
        </p:txBody>
      </p:sp>
      <p:pic>
        <p:nvPicPr>
          <p:cNvPr id="5" name="Picture 4">
            <a:extLst>
              <a:ext uri="{FF2B5EF4-FFF2-40B4-BE49-F238E27FC236}">
                <a16:creationId xmlns:a16="http://schemas.microsoft.com/office/drawing/2014/main" id="{AA84ED0C-8F08-6C27-36F8-ACF7DD730581}"/>
              </a:ext>
            </a:extLst>
          </p:cNvPr>
          <p:cNvPicPr>
            <a:picLocks noChangeAspect="1"/>
          </p:cNvPicPr>
          <p:nvPr/>
        </p:nvPicPr>
        <p:blipFill>
          <a:blip r:embed="rId4"/>
          <a:stretch>
            <a:fillRect/>
          </a:stretch>
        </p:blipFill>
        <p:spPr>
          <a:xfrm>
            <a:off x="1714772" y="1035149"/>
            <a:ext cx="5714455" cy="3783181"/>
          </a:xfrm>
          <a:prstGeom prst="rect">
            <a:avLst/>
          </a:prstGeom>
        </p:spPr>
      </p:pic>
      <p:sp>
        <p:nvSpPr>
          <p:cNvPr id="9" name="TextBox 8">
            <a:extLst>
              <a:ext uri="{FF2B5EF4-FFF2-40B4-BE49-F238E27FC236}">
                <a16:creationId xmlns:a16="http://schemas.microsoft.com/office/drawing/2014/main" id="{11A01468-422E-C25E-7CEC-1E32B4387532}"/>
              </a:ext>
            </a:extLst>
          </p:cNvPr>
          <p:cNvSpPr txBox="1"/>
          <p:nvPr/>
        </p:nvSpPr>
        <p:spPr>
          <a:xfrm>
            <a:off x="2943921" y="4652414"/>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Fig:4 Workflow</a:t>
            </a:r>
          </a:p>
        </p:txBody>
      </p:sp>
    </p:spTree>
    <p:extLst>
      <p:ext uri="{BB962C8B-B14F-4D97-AF65-F5344CB8AC3E}">
        <p14:creationId xmlns:p14="http://schemas.microsoft.com/office/powerpoint/2010/main" val="3238304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Data Preprocessing</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11</a:t>
            </a:r>
          </a:p>
        </p:txBody>
      </p:sp>
      <p:pic>
        <p:nvPicPr>
          <p:cNvPr id="5" name="Picture 4">
            <a:extLst>
              <a:ext uri="{FF2B5EF4-FFF2-40B4-BE49-F238E27FC236}">
                <a16:creationId xmlns:a16="http://schemas.microsoft.com/office/drawing/2014/main" id="{C44FAA29-7C74-F520-181E-B5A9553ACC1B}"/>
              </a:ext>
            </a:extLst>
          </p:cNvPr>
          <p:cNvPicPr>
            <a:picLocks noChangeAspect="1"/>
          </p:cNvPicPr>
          <p:nvPr/>
        </p:nvPicPr>
        <p:blipFill>
          <a:blip r:embed="rId4"/>
          <a:stretch>
            <a:fillRect/>
          </a:stretch>
        </p:blipFill>
        <p:spPr>
          <a:xfrm>
            <a:off x="6095999" y="1545281"/>
            <a:ext cx="2624249" cy="2017391"/>
          </a:xfrm>
          <a:prstGeom prst="rect">
            <a:avLst/>
          </a:prstGeom>
        </p:spPr>
      </p:pic>
      <p:pic>
        <p:nvPicPr>
          <p:cNvPr id="7" name="Picture 6">
            <a:extLst>
              <a:ext uri="{FF2B5EF4-FFF2-40B4-BE49-F238E27FC236}">
                <a16:creationId xmlns:a16="http://schemas.microsoft.com/office/drawing/2014/main" id="{25F7DAC5-339B-2D2E-98E3-0FAA1138925C}"/>
              </a:ext>
            </a:extLst>
          </p:cNvPr>
          <p:cNvPicPr>
            <a:picLocks noChangeAspect="1"/>
          </p:cNvPicPr>
          <p:nvPr/>
        </p:nvPicPr>
        <p:blipFill>
          <a:blip r:embed="rId5"/>
          <a:stretch>
            <a:fillRect/>
          </a:stretch>
        </p:blipFill>
        <p:spPr>
          <a:xfrm>
            <a:off x="535259" y="1593254"/>
            <a:ext cx="2624253" cy="2017394"/>
          </a:xfrm>
          <a:prstGeom prst="rect">
            <a:avLst/>
          </a:prstGeom>
        </p:spPr>
      </p:pic>
      <p:pic>
        <p:nvPicPr>
          <p:cNvPr id="11" name="Picture 10">
            <a:extLst>
              <a:ext uri="{FF2B5EF4-FFF2-40B4-BE49-F238E27FC236}">
                <a16:creationId xmlns:a16="http://schemas.microsoft.com/office/drawing/2014/main" id="{6263C7B9-D3AB-FF8D-A43A-0F167CF17297}"/>
              </a:ext>
            </a:extLst>
          </p:cNvPr>
          <p:cNvPicPr>
            <a:picLocks noChangeAspect="1"/>
          </p:cNvPicPr>
          <p:nvPr/>
        </p:nvPicPr>
        <p:blipFill>
          <a:blip r:embed="rId6"/>
          <a:stretch>
            <a:fillRect/>
          </a:stretch>
        </p:blipFill>
        <p:spPr>
          <a:xfrm>
            <a:off x="3315631" y="1575483"/>
            <a:ext cx="2624249" cy="2017391"/>
          </a:xfrm>
          <a:prstGeom prst="rect">
            <a:avLst/>
          </a:prstGeom>
        </p:spPr>
      </p:pic>
      <p:sp>
        <p:nvSpPr>
          <p:cNvPr id="12" name="TextBox 11">
            <a:extLst>
              <a:ext uri="{FF2B5EF4-FFF2-40B4-BE49-F238E27FC236}">
                <a16:creationId xmlns:a16="http://schemas.microsoft.com/office/drawing/2014/main" id="{F9798D60-184A-8445-48B0-C74E151976E3}"/>
              </a:ext>
            </a:extLst>
          </p:cNvPr>
          <p:cNvSpPr txBox="1"/>
          <p:nvPr/>
        </p:nvSpPr>
        <p:spPr>
          <a:xfrm>
            <a:off x="2839842" y="4481429"/>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Fig:5 Image Processing</a:t>
            </a:r>
          </a:p>
        </p:txBody>
      </p:sp>
      <p:sp>
        <p:nvSpPr>
          <p:cNvPr id="14" name="TextBox 13">
            <a:extLst>
              <a:ext uri="{FF2B5EF4-FFF2-40B4-BE49-F238E27FC236}">
                <a16:creationId xmlns:a16="http://schemas.microsoft.com/office/drawing/2014/main" id="{8608EB96-ED1B-FA4C-6120-0B6FD2C0574B}"/>
              </a:ext>
            </a:extLst>
          </p:cNvPr>
          <p:cNvSpPr txBox="1"/>
          <p:nvPr/>
        </p:nvSpPr>
        <p:spPr>
          <a:xfrm>
            <a:off x="895814" y="3669865"/>
            <a:ext cx="1903142"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a) Original Image</a:t>
            </a:r>
          </a:p>
        </p:txBody>
      </p:sp>
      <p:sp>
        <p:nvSpPr>
          <p:cNvPr id="15" name="TextBox 14">
            <a:extLst>
              <a:ext uri="{FF2B5EF4-FFF2-40B4-BE49-F238E27FC236}">
                <a16:creationId xmlns:a16="http://schemas.microsoft.com/office/drawing/2014/main" id="{D489D70E-2AE6-A2A9-F5DF-AD515E4B5BDD}"/>
              </a:ext>
            </a:extLst>
          </p:cNvPr>
          <p:cNvSpPr txBox="1"/>
          <p:nvPr/>
        </p:nvSpPr>
        <p:spPr>
          <a:xfrm>
            <a:off x="3620428" y="3669865"/>
            <a:ext cx="1903142"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b) Grayscale Image</a:t>
            </a:r>
          </a:p>
        </p:txBody>
      </p:sp>
      <p:sp>
        <p:nvSpPr>
          <p:cNvPr id="16" name="TextBox 15">
            <a:extLst>
              <a:ext uri="{FF2B5EF4-FFF2-40B4-BE49-F238E27FC236}">
                <a16:creationId xmlns:a16="http://schemas.microsoft.com/office/drawing/2014/main" id="{94440C3E-5C8B-838B-C123-16DA8BE24CBC}"/>
              </a:ext>
            </a:extLst>
          </p:cNvPr>
          <p:cNvSpPr txBox="1"/>
          <p:nvPr/>
        </p:nvSpPr>
        <p:spPr>
          <a:xfrm>
            <a:off x="6095999" y="3672467"/>
            <a:ext cx="1903142"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c)  Binary Thresholding</a:t>
            </a:r>
          </a:p>
        </p:txBody>
      </p:sp>
    </p:spTree>
    <p:extLst>
      <p:ext uri="{BB962C8B-B14F-4D97-AF65-F5344CB8AC3E}">
        <p14:creationId xmlns:p14="http://schemas.microsoft.com/office/powerpoint/2010/main" val="810917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Data Annotation</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12</a:t>
            </a:r>
          </a:p>
        </p:txBody>
      </p:sp>
      <p:pic>
        <p:nvPicPr>
          <p:cNvPr id="8" name="Picture 7">
            <a:extLst>
              <a:ext uri="{FF2B5EF4-FFF2-40B4-BE49-F238E27FC236}">
                <a16:creationId xmlns:a16="http://schemas.microsoft.com/office/drawing/2014/main" id="{AE9A0A7A-B7B7-9D91-907C-C6295EB243B9}"/>
              </a:ext>
            </a:extLst>
          </p:cNvPr>
          <p:cNvPicPr>
            <a:picLocks noChangeAspect="1"/>
          </p:cNvPicPr>
          <p:nvPr/>
        </p:nvPicPr>
        <p:blipFill>
          <a:blip r:embed="rId4"/>
          <a:stretch>
            <a:fillRect/>
          </a:stretch>
        </p:blipFill>
        <p:spPr>
          <a:xfrm>
            <a:off x="1224310" y="1471961"/>
            <a:ext cx="2964365" cy="2371492"/>
          </a:xfrm>
          <a:prstGeom prst="rect">
            <a:avLst/>
          </a:prstGeom>
        </p:spPr>
      </p:pic>
      <p:pic>
        <p:nvPicPr>
          <p:cNvPr id="10" name="Picture 9">
            <a:extLst>
              <a:ext uri="{FF2B5EF4-FFF2-40B4-BE49-F238E27FC236}">
                <a16:creationId xmlns:a16="http://schemas.microsoft.com/office/drawing/2014/main" id="{76C61426-7985-F99E-70E2-1CCAA951CB15}"/>
              </a:ext>
            </a:extLst>
          </p:cNvPr>
          <p:cNvPicPr>
            <a:picLocks noChangeAspect="1"/>
          </p:cNvPicPr>
          <p:nvPr/>
        </p:nvPicPr>
        <p:blipFill>
          <a:blip r:embed="rId5"/>
          <a:stretch>
            <a:fillRect/>
          </a:stretch>
        </p:blipFill>
        <p:spPr>
          <a:xfrm>
            <a:off x="5052896" y="1471961"/>
            <a:ext cx="2964361" cy="2371489"/>
          </a:xfrm>
          <a:prstGeom prst="rect">
            <a:avLst/>
          </a:prstGeom>
        </p:spPr>
      </p:pic>
      <p:sp>
        <p:nvSpPr>
          <p:cNvPr id="11" name="TextBox 10">
            <a:extLst>
              <a:ext uri="{FF2B5EF4-FFF2-40B4-BE49-F238E27FC236}">
                <a16:creationId xmlns:a16="http://schemas.microsoft.com/office/drawing/2014/main" id="{FA668015-466E-61EF-1A23-65B2EC7B7BE7}"/>
              </a:ext>
            </a:extLst>
          </p:cNvPr>
          <p:cNvSpPr txBox="1"/>
          <p:nvPr/>
        </p:nvSpPr>
        <p:spPr>
          <a:xfrm>
            <a:off x="1624360" y="3921473"/>
            <a:ext cx="1903142"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a) Original Image</a:t>
            </a:r>
          </a:p>
        </p:txBody>
      </p:sp>
      <p:sp>
        <p:nvSpPr>
          <p:cNvPr id="12" name="TextBox 11">
            <a:extLst>
              <a:ext uri="{FF2B5EF4-FFF2-40B4-BE49-F238E27FC236}">
                <a16:creationId xmlns:a16="http://schemas.microsoft.com/office/drawing/2014/main" id="{FA08F0CD-7EB6-5C25-626D-1F5B8C81E8EB}"/>
              </a:ext>
            </a:extLst>
          </p:cNvPr>
          <p:cNvSpPr txBox="1"/>
          <p:nvPr/>
        </p:nvSpPr>
        <p:spPr>
          <a:xfrm>
            <a:off x="5583505" y="3884688"/>
            <a:ext cx="1903142"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b) Augmented Image</a:t>
            </a:r>
          </a:p>
        </p:txBody>
      </p:sp>
      <p:sp>
        <p:nvSpPr>
          <p:cNvPr id="13" name="TextBox 12">
            <a:extLst>
              <a:ext uri="{FF2B5EF4-FFF2-40B4-BE49-F238E27FC236}">
                <a16:creationId xmlns:a16="http://schemas.microsoft.com/office/drawing/2014/main" id="{D16B0530-798E-C35D-2229-5EF787447F8E}"/>
              </a:ext>
            </a:extLst>
          </p:cNvPr>
          <p:cNvSpPr txBox="1"/>
          <p:nvPr/>
        </p:nvSpPr>
        <p:spPr>
          <a:xfrm>
            <a:off x="2839842" y="4481429"/>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Fig:6 Annotations</a:t>
            </a:r>
          </a:p>
        </p:txBody>
      </p:sp>
    </p:spTree>
    <p:extLst>
      <p:ext uri="{BB962C8B-B14F-4D97-AF65-F5344CB8AC3E}">
        <p14:creationId xmlns:p14="http://schemas.microsoft.com/office/powerpoint/2010/main" val="3350737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Training the model</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673208" y="1113939"/>
            <a:ext cx="7740805" cy="3746342"/>
          </a:xfrm>
          <a:prstGeom prst="rect">
            <a:avLst/>
          </a:prstGeom>
        </p:spPr>
        <p:txBody>
          <a:bodyPr spcFirstLastPara="1" wrap="square" lIns="91425" tIns="45700" rIns="91425" bIns="45700" anchor="t" anchorCtr="0">
            <a:noAutofit/>
          </a:bodyPr>
          <a:lstStyle/>
          <a:p>
            <a:pPr algn="just" rtl="0" fontAlgn="base">
              <a:spcBef>
                <a:spcPts val="100"/>
              </a:spcBef>
              <a:buSzPct val="100000"/>
              <a:buFont typeface="Wingdings" panose="05000000000000000000" pitchFamily="2" charset="2"/>
              <a:buChar char="Ø"/>
            </a:pPr>
            <a:r>
              <a:rPr lang="en-US" sz="1500" b="1" dirty="0">
                <a:solidFill>
                  <a:schemeClr val="tx1"/>
                </a:solidFill>
                <a:latin typeface="Times New Roman" pitchFamily="18" charset="0"/>
                <a:cs typeface="Times New Roman" pitchFamily="18" charset="0"/>
              </a:rPr>
              <a:t>Setting up the model</a:t>
            </a:r>
          </a:p>
          <a:p>
            <a:pPr lvl="1" algn="just" fontAlgn="base">
              <a:spcBef>
                <a:spcPts val="100"/>
              </a:spcBef>
              <a:buSzPct val="100000"/>
              <a:buFont typeface="Wingdings" panose="05000000000000000000" pitchFamily="2" charset="2"/>
              <a:buChar char="Ø"/>
            </a:pPr>
            <a:r>
              <a:rPr lang="en-US" sz="1500" dirty="0">
                <a:solidFill>
                  <a:schemeClr val="tx1"/>
                </a:solidFill>
                <a:latin typeface="Times New Roman" pitchFamily="18" charset="0"/>
                <a:cs typeface="Times New Roman" pitchFamily="18" charset="0"/>
              </a:rPr>
              <a:t>Download the original YOLOv7 model for training on our custom object</a:t>
            </a:r>
          </a:p>
          <a:p>
            <a:pPr lvl="1" algn="just" fontAlgn="base">
              <a:spcBef>
                <a:spcPts val="100"/>
              </a:spcBef>
              <a:buSzPct val="100000"/>
              <a:buFont typeface="Wingdings" panose="05000000000000000000" pitchFamily="2" charset="2"/>
              <a:buChar char="Ø"/>
            </a:pPr>
            <a:r>
              <a:rPr lang="en-US" sz="1500" dirty="0">
                <a:solidFill>
                  <a:schemeClr val="tx1"/>
                </a:solidFill>
                <a:latin typeface="Times New Roman" pitchFamily="18" charset="0"/>
                <a:cs typeface="Times New Roman" pitchFamily="18" charset="0"/>
              </a:rPr>
              <a:t>Modifying </a:t>
            </a:r>
            <a:r>
              <a:rPr lang="en-US" sz="1500" dirty="0" err="1">
                <a:solidFill>
                  <a:schemeClr val="tx1"/>
                </a:solidFill>
                <a:latin typeface="Times New Roman" pitchFamily="18" charset="0"/>
                <a:cs typeface="Times New Roman" pitchFamily="18" charset="0"/>
              </a:rPr>
              <a:t>data.yaml</a:t>
            </a:r>
            <a:r>
              <a:rPr lang="en-US" sz="1500" dirty="0">
                <a:solidFill>
                  <a:schemeClr val="tx1"/>
                </a:solidFill>
                <a:latin typeface="Times New Roman" pitchFamily="18" charset="0"/>
                <a:cs typeface="Times New Roman" pitchFamily="18" charset="0"/>
              </a:rPr>
              <a:t> file </a:t>
            </a:r>
          </a:p>
          <a:p>
            <a:pPr marL="508000" lvl="1" indent="0" algn="just" fontAlgn="base">
              <a:spcBef>
                <a:spcPts val="100"/>
              </a:spcBef>
              <a:buSzPct val="100000"/>
            </a:pPr>
            <a:endParaRPr lang="en-US" sz="1100" b="1" dirty="0">
              <a:solidFill>
                <a:schemeClr val="tx1"/>
              </a:solidFill>
              <a:latin typeface="Times New Roman" pitchFamily="18" charset="0"/>
              <a:cs typeface="Times New Roman" pitchFamily="18" charset="0"/>
            </a:endParaRPr>
          </a:p>
          <a:p>
            <a:pPr algn="just" rtl="0" fontAlgn="base">
              <a:spcBef>
                <a:spcPts val="100"/>
              </a:spcBef>
              <a:buSzPct val="100000"/>
              <a:buFont typeface="Wingdings" panose="05000000000000000000" pitchFamily="2" charset="2"/>
              <a:buChar char="Ø"/>
            </a:pPr>
            <a:r>
              <a:rPr lang="en-US" sz="1500" b="1" dirty="0">
                <a:solidFill>
                  <a:schemeClr val="tx1"/>
                </a:solidFill>
                <a:latin typeface="Times New Roman" pitchFamily="18" charset="0"/>
                <a:cs typeface="Times New Roman" pitchFamily="18" charset="0"/>
              </a:rPr>
              <a:t>Hyperparameter Tuning</a:t>
            </a:r>
            <a:endParaRPr lang="en-US" sz="1500" dirty="0">
              <a:solidFill>
                <a:schemeClr val="tx1"/>
              </a:solidFill>
              <a:latin typeface="Times New Roman" pitchFamily="18" charset="0"/>
              <a:cs typeface="Times New Roman" pitchFamily="18" charset="0"/>
            </a:endParaRPr>
          </a:p>
          <a:p>
            <a:pPr algn="just" rtl="0" fontAlgn="base">
              <a:spcBef>
                <a:spcPts val="100"/>
              </a:spcBef>
              <a:buSzPct val="100000"/>
              <a:buFont typeface="Wingdings" panose="05000000000000000000" pitchFamily="2" charset="2"/>
              <a:buChar char="Ø"/>
            </a:pPr>
            <a:endParaRPr lang="en-US" sz="1500" dirty="0">
              <a:solidFill>
                <a:schemeClr val="tx1"/>
              </a:solidFill>
              <a:latin typeface="Times New Roman" pitchFamily="18" charset="0"/>
              <a:cs typeface="Times New Roman" pitchFamily="18" charset="0"/>
            </a:endParaRPr>
          </a:p>
          <a:p>
            <a:pPr lvl="2" algn="just" fontAlgn="base">
              <a:spcBef>
                <a:spcPts val="100"/>
              </a:spcBef>
              <a:buFont typeface="Wingdings" panose="05000000000000000000" pitchFamily="2" charset="2"/>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1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marL="508000" lvl="1" indent="0" algn="just" fontAlgn="base">
              <a:spcBef>
                <a:spcPts val="100"/>
              </a:spcBef>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marL="25400" indent="0" algn="just" rtl="0" fontAlgn="base">
              <a:spcBef>
                <a:spcPts val="100"/>
              </a:spcBef>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13</a:t>
            </a:r>
          </a:p>
        </p:txBody>
      </p:sp>
      <p:pic>
        <p:nvPicPr>
          <p:cNvPr id="5" name="Picture 4">
            <a:extLst>
              <a:ext uri="{FF2B5EF4-FFF2-40B4-BE49-F238E27FC236}">
                <a16:creationId xmlns:a16="http://schemas.microsoft.com/office/drawing/2014/main" id="{73C4E5B9-86FC-91CB-ECDA-46E6C2D63151}"/>
              </a:ext>
            </a:extLst>
          </p:cNvPr>
          <p:cNvPicPr>
            <a:picLocks noChangeAspect="1"/>
          </p:cNvPicPr>
          <p:nvPr/>
        </p:nvPicPr>
        <p:blipFill>
          <a:blip r:embed="rId4"/>
          <a:stretch>
            <a:fillRect/>
          </a:stretch>
        </p:blipFill>
        <p:spPr>
          <a:xfrm>
            <a:off x="5568176" y="2054131"/>
            <a:ext cx="2410847" cy="1531059"/>
          </a:xfrm>
          <a:prstGeom prst="rect">
            <a:avLst/>
          </a:prstGeom>
        </p:spPr>
      </p:pic>
      <p:sp>
        <p:nvSpPr>
          <p:cNvPr id="11" name="TextBox 10">
            <a:extLst>
              <a:ext uri="{FF2B5EF4-FFF2-40B4-BE49-F238E27FC236}">
                <a16:creationId xmlns:a16="http://schemas.microsoft.com/office/drawing/2014/main" id="{D352050D-846D-628E-F81D-C71EAA02F26C}"/>
              </a:ext>
            </a:extLst>
          </p:cNvPr>
          <p:cNvSpPr txBox="1"/>
          <p:nvPr/>
        </p:nvSpPr>
        <p:spPr>
          <a:xfrm>
            <a:off x="5064758" y="3529859"/>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Fig:7 </a:t>
            </a:r>
            <a:r>
              <a:rPr lang="en-IN" dirty="0" err="1">
                <a:latin typeface="Times New Roman" panose="02020603050405020304" pitchFamily="18" charset="0"/>
                <a:cs typeface="Times New Roman" panose="02020603050405020304" pitchFamily="18" charset="0"/>
              </a:rPr>
              <a:t>data.yaml</a:t>
            </a:r>
            <a:r>
              <a:rPr lang="en-IN" dirty="0">
                <a:latin typeface="Times New Roman" panose="02020603050405020304" pitchFamily="18" charset="0"/>
                <a:cs typeface="Times New Roman" panose="02020603050405020304" pitchFamily="18" charset="0"/>
              </a:rPr>
              <a:t> file</a:t>
            </a:r>
          </a:p>
        </p:txBody>
      </p:sp>
      <p:sp>
        <p:nvSpPr>
          <p:cNvPr id="12" name="TextBox 11">
            <a:extLst>
              <a:ext uri="{FF2B5EF4-FFF2-40B4-BE49-F238E27FC236}">
                <a16:creationId xmlns:a16="http://schemas.microsoft.com/office/drawing/2014/main" id="{236123E9-C7C4-2814-76B2-8D8E03EF6FDA}"/>
              </a:ext>
            </a:extLst>
          </p:cNvPr>
          <p:cNvSpPr txBox="1"/>
          <p:nvPr/>
        </p:nvSpPr>
        <p:spPr>
          <a:xfrm>
            <a:off x="1186922" y="4229250"/>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Table:1 Hyperparameters</a:t>
            </a: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9192" y="2654159"/>
            <a:ext cx="2991616" cy="157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5759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3A4576C8-9623-582F-55DC-536A221BCFBE}"/>
              </a:ext>
            </a:extLst>
          </p:cNvPr>
          <p:cNvSpPr txBox="1"/>
          <p:nvPr/>
        </p:nvSpPr>
        <p:spPr>
          <a:xfrm>
            <a:off x="8414013" y="4929069"/>
            <a:ext cx="1173945" cy="246221"/>
          </a:xfrm>
          <a:prstGeom prst="rect">
            <a:avLst/>
          </a:prstGeom>
          <a:noFill/>
        </p:spPr>
        <p:txBody>
          <a:bodyPr wrap="square" rtlCol="0">
            <a:spAutoFit/>
          </a:bodyPr>
          <a:lstStyle/>
          <a:p>
            <a:r>
              <a:rPr lang="en-IN" sz="1000" dirty="0">
                <a:solidFill>
                  <a:schemeClr val="bg1"/>
                </a:solidFill>
              </a:rPr>
              <a:t>Pg. 14</a:t>
            </a:r>
          </a:p>
        </p:txBody>
      </p:sp>
      <p:sp>
        <p:nvSpPr>
          <p:cNvPr id="4" name="TextBox 3">
            <a:extLst>
              <a:ext uri="{FF2B5EF4-FFF2-40B4-BE49-F238E27FC236}">
                <a16:creationId xmlns:a16="http://schemas.microsoft.com/office/drawing/2014/main" id="{097C647E-8060-5ED3-B2D4-BBA60DC7D7D2}"/>
              </a:ext>
            </a:extLst>
          </p:cNvPr>
          <p:cNvSpPr txBox="1"/>
          <p:nvPr/>
        </p:nvSpPr>
        <p:spPr>
          <a:xfrm>
            <a:off x="856171" y="4069240"/>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a) </a:t>
            </a:r>
          </a:p>
        </p:txBody>
      </p:sp>
      <p:sp>
        <p:nvSpPr>
          <p:cNvPr id="5" name="TextBox 4">
            <a:extLst>
              <a:ext uri="{FF2B5EF4-FFF2-40B4-BE49-F238E27FC236}">
                <a16:creationId xmlns:a16="http://schemas.microsoft.com/office/drawing/2014/main" id="{90775D70-A9DD-D82D-F6C6-FE8D711437BC}"/>
              </a:ext>
            </a:extLst>
          </p:cNvPr>
          <p:cNvSpPr txBox="1"/>
          <p:nvPr/>
        </p:nvSpPr>
        <p:spPr>
          <a:xfrm>
            <a:off x="2992242" y="4633829"/>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Fig:8 Detected Cyclone Images</a:t>
            </a:r>
          </a:p>
        </p:txBody>
      </p:sp>
      <p:sp>
        <p:nvSpPr>
          <p:cNvPr id="7" name="TextBox 6">
            <a:extLst>
              <a:ext uri="{FF2B5EF4-FFF2-40B4-BE49-F238E27FC236}">
                <a16:creationId xmlns:a16="http://schemas.microsoft.com/office/drawing/2014/main" id="{EE49D056-ADEE-3D8C-37F2-289C6AC3DB67}"/>
              </a:ext>
            </a:extLst>
          </p:cNvPr>
          <p:cNvSpPr txBox="1"/>
          <p:nvPr/>
        </p:nvSpPr>
        <p:spPr>
          <a:xfrm>
            <a:off x="4824760" y="4069240"/>
            <a:ext cx="3256157"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b)</a:t>
            </a:r>
          </a:p>
        </p:txBody>
      </p:sp>
      <p:pic>
        <p:nvPicPr>
          <p:cNvPr id="1026" name="Picture 2" descr="C:\Users\hp\Downloads\test_batch1_label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1027" y="450449"/>
            <a:ext cx="7315200" cy="4183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309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Training Results</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3A4576C8-9623-582F-55DC-536A221BCFBE}"/>
              </a:ext>
            </a:extLst>
          </p:cNvPr>
          <p:cNvSpPr txBox="1"/>
          <p:nvPr/>
        </p:nvSpPr>
        <p:spPr>
          <a:xfrm>
            <a:off x="8414013" y="4929069"/>
            <a:ext cx="1173945" cy="246221"/>
          </a:xfrm>
          <a:prstGeom prst="rect">
            <a:avLst/>
          </a:prstGeom>
          <a:noFill/>
        </p:spPr>
        <p:txBody>
          <a:bodyPr wrap="square" rtlCol="0">
            <a:spAutoFit/>
          </a:bodyPr>
          <a:lstStyle/>
          <a:p>
            <a:r>
              <a:rPr lang="en-IN" sz="1000" dirty="0">
                <a:solidFill>
                  <a:schemeClr val="bg1"/>
                </a:solidFill>
              </a:rPr>
              <a:t>Pg. 15</a:t>
            </a:r>
          </a:p>
        </p:txBody>
      </p:sp>
      <p:graphicFrame>
        <p:nvGraphicFramePr>
          <p:cNvPr id="8" name="Table 4">
            <a:extLst>
              <a:ext uri="{FF2B5EF4-FFF2-40B4-BE49-F238E27FC236}">
                <a16:creationId xmlns:a16="http://schemas.microsoft.com/office/drawing/2014/main" id="{28E7BEEC-9028-412D-AC1D-2CEB50D6F7C7}"/>
              </a:ext>
            </a:extLst>
          </p:cNvPr>
          <p:cNvGraphicFramePr>
            <a:graphicFrameLocks noGrp="1"/>
          </p:cNvGraphicFramePr>
          <p:nvPr>
            <p:extLst>
              <p:ext uri="{D42A27DB-BD31-4B8C-83A1-F6EECF244321}">
                <p14:modId xmlns:p14="http://schemas.microsoft.com/office/powerpoint/2010/main" val="3384049311"/>
              </p:ext>
            </p:extLst>
          </p:nvPr>
        </p:nvGraphicFramePr>
        <p:xfrm>
          <a:off x="4170999" y="1724432"/>
          <a:ext cx="4575716" cy="1669524"/>
        </p:xfrm>
        <a:graphic>
          <a:graphicData uri="http://schemas.openxmlformats.org/drawingml/2006/table">
            <a:tbl>
              <a:tblPr firstRow="1" bandRow="1">
                <a:tableStyleId>{5C22544A-7EE6-4342-B048-85BDC9FD1C3A}</a:tableStyleId>
              </a:tblPr>
              <a:tblGrid>
                <a:gridCol w="1143929">
                  <a:extLst>
                    <a:ext uri="{9D8B030D-6E8A-4147-A177-3AD203B41FA5}">
                      <a16:colId xmlns:a16="http://schemas.microsoft.com/office/drawing/2014/main" val="337112237"/>
                    </a:ext>
                  </a:extLst>
                </a:gridCol>
                <a:gridCol w="1143929">
                  <a:extLst>
                    <a:ext uri="{9D8B030D-6E8A-4147-A177-3AD203B41FA5}">
                      <a16:colId xmlns:a16="http://schemas.microsoft.com/office/drawing/2014/main" val="1102681441"/>
                    </a:ext>
                  </a:extLst>
                </a:gridCol>
                <a:gridCol w="1143929">
                  <a:extLst>
                    <a:ext uri="{9D8B030D-6E8A-4147-A177-3AD203B41FA5}">
                      <a16:colId xmlns:a16="http://schemas.microsoft.com/office/drawing/2014/main" val="2316647612"/>
                    </a:ext>
                  </a:extLst>
                </a:gridCol>
                <a:gridCol w="1143929">
                  <a:extLst>
                    <a:ext uri="{9D8B030D-6E8A-4147-A177-3AD203B41FA5}">
                      <a16:colId xmlns:a16="http://schemas.microsoft.com/office/drawing/2014/main" val="4001594523"/>
                    </a:ext>
                  </a:extLst>
                </a:gridCol>
              </a:tblGrid>
              <a:tr h="239378">
                <a:tc>
                  <a:txBody>
                    <a:bodyPr/>
                    <a:lstStyle/>
                    <a:p>
                      <a:pPr algn="ctr"/>
                      <a:r>
                        <a:rPr lang="en-US"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Sr. No.</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Metrics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Training</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6097083"/>
                  </a:ext>
                </a:extLst>
              </a:tr>
              <a:tr h="326491">
                <a:tc>
                  <a:txBody>
                    <a:bodyPr/>
                    <a:lstStyle/>
                    <a:p>
                      <a:pPr algn="ctr"/>
                      <a:r>
                        <a:rPr lang="en-US"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1</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Cambria" panose="02040503050406030204" pitchFamily="18" charset="0"/>
                          <a:ea typeface="Cambria" panose="02040503050406030204" pitchFamily="18" charset="0"/>
                        </a:rPr>
                        <a:t>class</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Cambria" panose="02040503050406030204" pitchFamily="18" charset="0"/>
                          <a:ea typeface="Cambria" panose="02040503050406030204" pitchFamily="18" charset="0"/>
                        </a:rPr>
                        <a:t>cyclone</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a:latin typeface="Cambria" panose="02040503050406030204" pitchFamily="18" charset="0"/>
                          <a:ea typeface="Cambria" panose="02040503050406030204" pitchFamily="18" charset="0"/>
                        </a:rPr>
                        <a:t>cyclone</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833719"/>
                  </a:ext>
                </a:extLst>
              </a:tr>
              <a:tr h="326491">
                <a:tc>
                  <a:txBody>
                    <a:bodyPr/>
                    <a:lstStyle/>
                    <a:p>
                      <a:pPr algn="ctr"/>
                      <a:r>
                        <a:rPr lang="en-US"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2</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Images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1608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a:solidFill>
                            <a:schemeClr val="tx1"/>
                          </a:solidFill>
                          <a:latin typeface="Cambria" panose="02040503050406030204" pitchFamily="18" charset="0"/>
                          <a:ea typeface="Cambria" panose="02040503050406030204" pitchFamily="18" charset="0"/>
                          <a:cs typeface="Times New Roman" panose="02020603050405020304" pitchFamily="18" charset="0"/>
                        </a:rPr>
                        <a:t>402</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272798"/>
                  </a:ext>
                </a:extLst>
              </a:tr>
              <a:tr h="294827">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err="1">
                          <a:solidFill>
                            <a:schemeClr val="tx1"/>
                          </a:solidFill>
                          <a:latin typeface="Cambria" panose="02040503050406030204" pitchFamily="18" charset="0"/>
                          <a:ea typeface="Cambria" panose="02040503050406030204" pitchFamily="18" charset="0"/>
                          <a:cs typeface="Times New Roman" panose="02020603050405020304" pitchFamily="18" charset="0"/>
                        </a:rPr>
                        <a:t>mAP</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Cambria" panose="02040503050406030204" pitchFamily="18" charset="0"/>
                          <a:ea typeface="Cambria" panose="02040503050406030204" pitchFamily="18" charset="0"/>
                        </a:rPr>
                        <a:t>0.742</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0.68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0886558"/>
                  </a:ext>
                </a:extLst>
              </a:tr>
              <a:tr h="406942">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0.91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0.85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6968304"/>
                  </a:ext>
                </a:extLst>
              </a:tr>
            </a:tbl>
          </a:graphicData>
        </a:graphic>
      </p:graphicFrame>
      <p:sp>
        <p:nvSpPr>
          <p:cNvPr id="2" name="Rectangle 1"/>
          <p:cNvSpPr/>
          <p:nvPr/>
        </p:nvSpPr>
        <p:spPr>
          <a:xfrm>
            <a:off x="5710809" y="3683326"/>
            <a:ext cx="1467068" cy="307777"/>
          </a:xfrm>
          <a:prstGeom prst="rect">
            <a:avLst/>
          </a:prstGeom>
        </p:spPr>
        <p:txBody>
          <a:bodyPr wrap="none">
            <a:spAutoFit/>
          </a:bodyPr>
          <a:lstStyle/>
          <a:p>
            <a:pPr algn="ctr"/>
            <a:r>
              <a:rPr lang="en-IN" dirty="0">
                <a:latin typeface="Times New Roman" panose="02020603050405020304" pitchFamily="18" charset="0"/>
                <a:cs typeface="Times New Roman" panose="02020603050405020304" pitchFamily="18" charset="0"/>
              </a:rPr>
              <a:t>Table:3 Accuracy</a:t>
            </a:r>
          </a:p>
        </p:txBody>
      </p:sp>
      <p:graphicFrame>
        <p:nvGraphicFramePr>
          <p:cNvPr id="11" name="Table 4">
            <a:extLst>
              <a:ext uri="{FF2B5EF4-FFF2-40B4-BE49-F238E27FC236}">
                <a16:creationId xmlns:a16="http://schemas.microsoft.com/office/drawing/2014/main" id="{28E7BEEC-9028-412D-AC1D-2CEB50D6F7C7}"/>
              </a:ext>
            </a:extLst>
          </p:cNvPr>
          <p:cNvGraphicFramePr>
            <a:graphicFrameLocks noGrp="1"/>
          </p:cNvGraphicFramePr>
          <p:nvPr/>
        </p:nvGraphicFramePr>
        <p:xfrm>
          <a:off x="288428" y="1796087"/>
          <a:ext cx="3431787" cy="1554480"/>
        </p:xfrm>
        <a:graphic>
          <a:graphicData uri="http://schemas.openxmlformats.org/drawingml/2006/table">
            <a:tbl>
              <a:tblPr firstRow="1" bandRow="1">
                <a:tableStyleId>{5C22544A-7EE6-4342-B048-85BDC9FD1C3A}</a:tableStyleId>
              </a:tblPr>
              <a:tblGrid>
                <a:gridCol w="1143929">
                  <a:extLst>
                    <a:ext uri="{9D8B030D-6E8A-4147-A177-3AD203B41FA5}">
                      <a16:colId xmlns:a16="http://schemas.microsoft.com/office/drawing/2014/main" val="337112237"/>
                    </a:ext>
                  </a:extLst>
                </a:gridCol>
                <a:gridCol w="1143929">
                  <a:extLst>
                    <a:ext uri="{9D8B030D-6E8A-4147-A177-3AD203B41FA5}">
                      <a16:colId xmlns:a16="http://schemas.microsoft.com/office/drawing/2014/main" val="1102681441"/>
                    </a:ext>
                  </a:extLst>
                </a:gridCol>
                <a:gridCol w="1143929">
                  <a:extLst>
                    <a:ext uri="{9D8B030D-6E8A-4147-A177-3AD203B41FA5}">
                      <a16:colId xmlns:a16="http://schemas.microsoft.com/office/drawing/2014/main" val="2316647612"/>
                    </a:ext>
                  </a:extLst>
                </a:gridCol>
              </a:tblGrid>
              <a:tr h="251232">
                <a:tc>
                  <a:txBody>
                    <a:bodyPr/>
                    <a:lstStyle/>
                    <a:p>
                      <a:pPr algn="ct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True</a:t>
                      </a:r>
                      <a:r>
                        <a:rPr lang="en-IN" sz="1400" baseline="0" dirty="0">
                          <a:solidFill>
                            <a:schemeClr val="tx1"/>
                          </a:solidFill>
                          <a:latin typeface="Cambria" panose="02040503050406030204" pitchFamily="18" charset="0"/>
                          <a:ea typeface="Cambria" panose="02040503050406030204" pitchFamily="18" charset="0"/>
                          <a:cs typeface="Times New Roman" panose="02020603050405020304" pitchFamily="18" charset="0"/>
                        </a:rPr>
                        <a:t> Positive</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True Negative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6097083"/>
                  </a:ext>
                </a:extLst>
              </a:tr>
              <a:tr h="326491">
                <a:tc>
                  <a:txBody>
                    <a:bodyPr/>
                    <a:lstStyle/>
                    <a:p>
                      <a:pPr algn="ctr"/>
                      <a:r>
                        <a:rPr lang="en-US"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Predicted</a:t>
                      </a:r>
                      <a:r>
                        <a:rPr lang="en-US" sz="1400" baseline="0" dirty="0">
                          <a:solidFill>
                            <a:schemeClr val="tx1"/>
                          </a:solidFill>
                          <a:latin typeface="Cambria" panose="02040503050406030204" pitchFamily="18" charset="0"/>
                          <a:ea typeface="Cambria" panose="02040503050406030204" pitchFamily="18" charset="0"/>
                          <a:cs typeface="Times New Roman" panose="02020603050405020304" pitchFamily="18" charset="0"/>
                        </a:rPr>
                        <a:t> Positive</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dk1"/>
                          </a:solidFill>
                          <a:latin typeface="Cambria" panose="02040503050406030204" pitchFamily="18" charset="0"/>
                          <a:ea typeface="Cambria" panose="02040503050406030204" pitchFamily="18" charset="0"/>
                          <a:cs typeface="+mn-cs"/>
                        </a:rPr>
                        <a:t>320</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833719"/>
                  </a:ext>
                </a:extLst>
              </a:tr>
              <a:tr h="326491">
                <a:tc>
                  <a:txBody>
                    <a:bodyPr/>
                    <a:lstStyle/>
                    <a:p>
                      <a:pPr algn="ctr"/>
                      <a:r>
                        <a:rPr lang="en-US"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Predicted</a:t>
                      </a:r>
                      <a:r>
                        <a:rPr lang="en-US" sz="1400" baseline="0" dirty="0">
                          <a:solidFill>
                            <a:schemeClr val="tx1"/>
                          </a:solidFill>
                          <a:latin typeface="Cambria" panose="02040503050406030204" pitchFamily="18" charset="0"/>
                          <a:ea typeface="Cambria" panose="02040503050406030204" pitchFamily="18" charset="0"/>
                          <a:cs typeface="Times New Roman" panose="02020603050405020304" pitchFamily="18" charset="0"/>
                        </a:rPr>
                        <a:t> Negative</a:t>
                      </a:r>
                      <a:endPar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solidFill>
                            <a:schemeClr val="tx1"/>
                          </a:solidFill>
                          <a:latin typeface="Cambria" panose="02040503050406030204" pitchFamily="18" charset="0"/>
                          <a:ea typeface="Cambria" panose="02040503050406030204" pitchFamily="18" charset="0"/>
                          <a:cs typeface="Times New Roman" panose="02020603050405020304" pitchFamily="18"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272798"/>
                  </a:ext>
                </a:extLst>
              </a:tr>
            </a:tbl>
          </a:graphicData>
        </a:graphic>
      </p:graphicFrame>
      <p:sp>
        <p:nvSpPr>
          <p:cNvPr id="4" name="Rectangle 3"/>
          <p:cNvSpPr/>
          <p:nvPr/>
        </p:nvSpPr>
        <p:spPr>
          <a:xfrm>
            <a:off x="900310" y="3677301"/>
            <a:ext cx="2060179" cy="307777"/>
          </a:xfrm>
          <a:prstGeom prst="rect">
            <a:avLst/>
          </a:prstGeom>
        </p:spPr>
        <p:txBody>
          <a:bodyPr wrap="none">
            <a:spAutoFit/>
          </a:bodyPr>
          <a:lstStyle/>
          <a:p>
            <a:pPr algn="ctr"/>
            <a:r>
              <a:rPr lang="en-IN" dirty="0">
                <a:latin typeface="Times New Roman" panose="02020603050405020304" pitchFamily="18" charset="0"/>
                <a:cs typeface="Times New Roman" panose="02020603050405020304" pitchFamily="18" charset="0"/>
              </a:rPr>
              <a:t>Table:2 Confusion Matrix</a:t>
            </a:r>
          </a:p>
        </p:txBody>
      </p:sp>
    </p:spTree>
    <p:extLst>
      <p:ext uri="{BB962C8B-B14F-4D97-AF65-F5344CB8AC3E}">
        <p14:creationId xmlns:p14="http://schemas.microsoft.com/office/powerpoint/2010/main" val="719305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Cyclone Path Prediction</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673208" y="1113939"/>
            <a:ext cx="7740805" cy="3746342"/>
          </a:xfrm>
          <a:prstGeom prst="rect">
            <a:avLst/>
          </a:prstGeom>
        </p:spPr>
        <p:txBody>
          <a:bodyPr spcFirstLastPara="1" wrap="square" lIns="91425" tIns="45700" rIns="91425" bIns="45700" anchor="t" anchorCtr="0">
            <a:noAutofit/>
          </a:bodyPr>
          <a:lstStyle/>
          <a:p>
            <a:pPr algn="just" fontAlgn="base">
              <a:spcBef>
                <a:spcPts val="100"/>
              </a:spcBef>
              <a:buSzPct val="100000"/>
              <a:buFont typeface="Wingdings" pitchFamily="2" charset="2"/>
              <a:buChar char="q"/>
            </a:pPr>
            <a:r>
              <a:rPr lang="en-US" sz="1600" dirty="0">
                <a:solidFill>
                  <a:schemeClr val="tx1"/>
                </a:solidFill>
                <a:latin typeface="Times New Roman" pitchFamily="18" charset="0"/>
                <a:cs typeface="Times New Roman" pitchFamily="18" charset="0"/>
              </a:rPr>
              <a:t>Time Series Forecasting:</a:t>
            </a:r>
          </a:p>
          <a:p>
            <a:pPr marL="196850" indent="-171450" algn="just" fontAlgn="base">
              <a:spcBef>
                <a:spcPts val="100"/>
              </a:spcBef>
              <a:buSzPct val="100000"/>
              <a:buFont typeface="Wingdings" pitchFamily="2" charset="2"/>
              <a:buChar char="q"/>
            </a:pPr>
            <a:endParaRPr lang="en-US" sz="1600" dirty="0">
              <a:solidFill>
                <a:schemeClr val="tx1"/>
              </a:solidFill>
              <a:latin typeface="Times New Roman" pitchFamily="18" charset="0"/>
              <a:cs typeface="Times New Roman" pitchFamily="18" charset="0"/>
            </a:endParaRPr>
          </a:p>
          <a:p>
            <a:pPr lvl="1" algn="just" fontAlgn="base">
              <a:lnSpc>
                <a:spcPct val="150000"/>
              </a:lnSpc>
              <a:spcBef>
                <a:spcPts val="100"/>
              </a:spcBef>
              <a:buSzPct val="100000"/>
              <a:buFont typeface="Wingdings" pitchFamily="2" charset="2"/>
              <a:buChar char="q"/>
            </a:pPr>
            <a:r>
              <a:rPr lang="en-US" sz="1600" dirty="0">
                <a:solidFill>
                  <a:schemeClr val="tx1"/>
                </a:solidFill>
                <a:latin typeface="Times New Roman" pitchFamily="18" charset="0"/>
                <a:cs typeface="Times New Roman" pitchFamily="18" charset="0"/>
              </a:rPr>
              <a:t>Using statistical models and machine learning algorithms to make predictions about future values based on historical data.</a:t>
            </a:r>
          </a:p>
          <a:p>
            <a:pPr lvl="1" algn="just" fontAlgn="base">
              <a:lnSpc>
                <a:spcPct val="150000"/>
              </a:lnSpc>
              <a:spcBef>
                <a:spcPts val="100"/>
              </a:spcBef>
              <a:buSzPct val="100000"/>
              <a:buFont typeface="Wingdings" pitchFamily="2" charset="2"/>
              <a:buChar char="q"/>
            </a:pPr>
            <a:r>
              <a:rPr lang="en-US" sz="1600" dirty="0">
                <a:latin typeface="Times New Roman" pitchFamily="18" charset="0"/>
                <a:cs typeface="Times New Roman" pitchFamily="18" charset="0"/>
              </a:rPr>
              <a:t>A time series is a sequence of data points collected at regular intervals over time.</a:t>
            </a:r>
            <a:endParaRPr lang="en-US" sz="1600" dirty="0">
              <a:solidFill>
                <a:schemeClr val="tx1"/>
              </a:solidFill>
              <a:latin typeface="Times New Roman" pitchFamily="18" charset="0"/>
              <a:cs typeface="Times New Roman" pitchFamily="18" charset="0"/>
            </a:endParaRPr>
          </a:p>
          <a:p>
            <a:pPr lvl="1" algn="just" fontAlgn="base">
              <a:lnSpc>
                <a:spcPct val="150000"/>
              </a:lnSpc>
              <a:spcBef>
                <a:spcPts val="100"/>
              </a:spcBef>
              <a:buSzPct val="100000"/>
              <a:buFont typeface="Wingdings" pitchFamily="2" charset="2"/>
              <a:buChar char="q"/>
            </a:pPr>
            <a:r>
              <a:rPr lang="en-US" sz="1600" dirty="0">
                <a:latin typeface="Times New Roman" pitchFamily="18" charset="0"/>
                <a:cs typeface="Times New Roman" pitchFamily="18" charset="0"/>
              </a:rPr>
              <a:t>Examples of time series data include stock prices, weather data, and sensor data from industrial equipment or latitudes, longitudes, and other features of a cyclone’s eye at regular intervals, which is being used in this project.</a:t>
            </a:r>
          </a:p>
          <a:p>
            <a:pPr lvl="1" algn="just" fontAlgn="base">
              <a:lnSpc>
                <a:spcPct val="150000"/>
              </a:lnSpc>
              <a:spcBef>
                <a:spcPts val="100"/>
              </a:spcBef>
              <a:buSzPct val="100000"/>
              <a:buFont typeface="Wingdings" pitchFamily="2" charset="2"/>
              <a:buChar char="q"/>
            </a:pPr>
            <a:r>
              <a:rPr lang="en-US" sz="1600" dirty="0">
                <a:latin typeface="Times New Roman" pitchFamily="18" charset="0"/>
                <a:cs typeface="Times New Roman" pitchFamily="18" charset="0"/>
              </a:rPr>
              <a:t>Techniques include statistical methods such as ARIMA as well as machine learning algorithms such as neural networks. </a:t>
            </a:r>
          </a:p>
          <a:p>
            <a:pPr lvl="1" algn="just" fontAlgn="base">
              <a:spcBef>
                <a:spcPts val="100"/>
              </a:spcBef>
              <a:buSzPct val="100000"/>
              <a:buFont typeface="Wingdings" pitchFamily="2" charset="2"/>
              <a:buChar char="q"/>
            </a:pPr>
            <a:endParaRPr lang="en-US" sz="1600" dirty="0">
              <a:solidFill>
                <a:schemeClr val="tx1"/>
              </a:solidFill>
              <a:latin typeface="Times New Roman" pitchFamily="18" charset="0"/>
              <a:cs typeface="Times New Roman" pitchFamily="18" charset="0"/>
            </a:endParaRPr>
          </a:p>
          <a:p>
            <a:pPr algn="just" rtl="0" fontAlgn="base">
              <a:spcBef>
                <a:spcPts val="100"/>
              </a:spcBef>
              <a:buFont typeface="Arial" panose="020B0604020202020204" pitchFamily="34" charset="0"/>
              <a:buChar char="•"/>
            </a:pPr>
            <a:endParaRPr lang="en-US" sz="1600" dirty="0">
              <a:solidFill>
                <a:schemeClr val="tx1"/>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16</a:t>
            </a:r>
          </a:p>
        </p:txBody>
      </p:sp>
    </p:spTree>
    <p:extLst>
      <p:ext uri="{BB962C8B-B14F-4D97-AF65-F5344CB8AC3E}">
        <p14:creationId xmlns:p14="http://schemas.microsoft.com/office/powerpoint/2010/main" val="3686133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Recurrent Neural Network</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673209" y="1053568"/>
            <a:ext cx="4568642" cy="3746342"/>
          </a:xfrm>
          <a:prstGeom prst="rect">
            <a:avLst/>
          </a:prstGeom>
        </p:spPr>
        <p:txBody>
          <a:bodyPr spcFirstLastPara="1" wrap="square" lIns="91425" tIns="45700" rIns="91425" bIns="45700" anchor="t" anchorCtr="0">
            <a:noAutofit/>
          </a:bodyPr>
          <a:lstStyle/>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A recurrent neural network (RNN) is a type of artificial neural network which uses sequential data or time series data.</a:t>
            </a:r>
          </a:p>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RNN works on the principle of saving the output of a particular layer and feeding this back to the input in order to predict the output of the layer.</a:t>
            </a:r>
          </a:p>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RNN have a memory which remembers all information about what has been calculated</a:t>
            </a:r>
          </a:p>
          <a:p>
            <a:pPr marL="311150" indent="-285750" algn="just" rtl="0" fontAlgn="base">
              <a:spcBef>
                <a:spcPts val="100"/>
              </a:spcBef>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RNN suffers from vanishing gradient problem</a:t>
            </a: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marL="793750" lvl="1" indent="-285750"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17</a:t>
            </a:r>
          </a:p>
        </p:txBody>
      </p:sp>
      <p:pic>
        <p:nvPicPr>
          <p:cNvPr id="7" name="Picture 6">
            <a:extLst>
              <a:ext uri="{FF2B5EF4-FFF2-40B4-BE49-F238E27FC236}">
                <a16:creationId xmlns:a16="http://schemas.microsoft.com/office/drawing/2014/main" id="{19BDD127-B037-7497-6062-4DE9C6CC03F0}"/>
              </a:ext>
            </a:extLst>
          </p:cNvPr>
          <p:cNvPicPr>
            <a:picLocks noChangeAspect="1"/>
          </p:cNvPicPr>
          <p:nvPr/>
        </p:nvPicPr>
        <p:blipFill>
          <a:blip r:embed="rId4"/>
          <a:stretch>
            <a:fillRect/>
          </a:stretch>
        </p:blipFill>
        <p:spPr>
          <a:xfrm>
            <a:off x="5383398" y="2161638"/>
            <a:ext cx="3470166" cy="1104900"/>
          </a:xfrm>
          <a:prstGeom prst="rect">
            <a:avLst/>
          </a:prstGeom>
        </p:spPr>
      </p:pic>
      <p:sp>
        <p:nvSpPr>
          <p:cNvPr id="8" name="TextBox 7">
            <a:extLst>
              <a:ext uri="{FF2B5EF4-FFF2-40B4-BE49-F238E27FC236}">
                <a16:creationId xmlns:a16="http://schemas.microsoft.com/office/drawing/2014/main" id="{002DFB2F-15A3-3B1D-45DD-8F7137F7CCF1}"/>
              </a:ext>
            </a:extLst>
          </p:cNvPr>
          <p:cNvSpPr txBox="1"/>
          <p:nvPr/>
        </p:nvSpPr>
        <p:spPr>
          <a:xfrm>
            <a:off x="5603358" y="3572540"/>
            <a:ext cx="2339163" cy="307777"/>
          </a:xfrm>
          <a:prstGeom prst="rect">
            <a:avLst/>
          </a:prstGeom>
          <a:noFill/>
        </p:spPr>
        <p:txBody>
          <a:bodyPr wrap="square" rtlCol="0">
            <a:spAutoFit/>
          </a:bodyPr>
          <a:lstStyle/>
          <a:p>
            <a:r>
              <a:rPr lang="en-IN" dirty="0"/>
              <a:t>Fig:9 RNN architecture [8]  </a:t>
            </a:r>
          </a:p>
        </p:txBody>
      </p:sp>
    </p:spTree>
    <p:extLst>
      <p:ext uri="{BB962C8B-B14F-4D97-AF65-F5344CB8AC3E}">
        <p14:creationId xmlns:p14="http://schemas.microsoft.com/office/powerpoint/2010/main" val="522606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IN" sz="4000" b="1" dirty="0">
                <a:blipFill>
                  <a:blip r:embed="rId3"/>
                  <a:stretch>
                    <a:fillRect/>
                  </a:stretch>
                </a:blipFill>
                <a:latin typeface="Times New Roman" panose="02020603050405020304" pitchFamily="18" charset="0"/>
                <a:cs typeface="Times New Roman" panose="02020603050405020304" pitchFamily="18" charset="0"/>
              </a:rPr>
              <a:t>Long Short-Term Memory</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701597" y="1031361"/>
            <a:ext cx="5167575" cy="4030978"/>
          </a:xfrm>
          <a:prstGeom prst="rect">
            <a:avLst/>
          </a:prstGeom>
        </p:spPr>
        <p:txBody>
          <a:bodyPr spcFirstLastPara="1" wrap="square" lIns="91425" tIns="45700" rIns="91425" bIns="45700" anchor="t" anchorCtr="0">
            <a:noAutofit/>
          </a:bodyPr>
          <a:lstStyle/>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A traditional RNN has a single hidden state that is passed through time, which can make it difficult for the network to learn long-term dependencies.</a:t>
            </a:r>
            <a:endParaRPr lang="en-US" sz="1800" b="1" i="0" dirty="0">
              <a:solidFill>
                <a:schemeClr val="tx1"/>
              </a:solidFill>
              <a:effectLst/>
              <a:latin typeface="Times New Roman" panose="02020603050405020304" pitchFamily="18" charset="0"/>
              <a:cs typeface="Times New Roman" panose="02020603050405020304" pitchFamily="18" charset="0"/>
            </a:endParaRPr>
          </a:p>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LSTMs address this problem by introducing a memory cell, which is a container that can hold information for an extended period of time.</a:t>
            </a:r>
          </a:p>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The memory cell is controlled by three gates: the input gate, the forget gate, and the output gate. </a:t>
            </a:r>
            <a:endParaRPr lang="en-US" sz="1800" dirty="0">
              <a:solidFill>
                <a:schemeClr val="tx1"/>
              </a:solidFill>
              <a:latin typeface="Times New Roman" panose="02020603050405020304" pitchFamily="18" charset="0"/>
              <a:cs typeface="Times New Roman" panose="02020603050405020304" pitchFamily="18" charset="0"/>
            </a:endParaRPr>
          </a:p>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These gates decide what information to add to, remove from, and output from the memory cell.</a:t>
            </a:r>
            <a:endParaRPr lang="en-US" sz="1800" b="1" i="0" dirty="0">
              <a:solidFill>
                <a:schemeClr val="tx1"/>
              </a:solidFill>
              <a:effectLst/>
              <a:latin typeface="Times New Roman" panose="02020603050405020304" pitchFamily="18" charset="0"/>
              <a:cs typeface="Times New Roman" panose="02020603050405020304" pitchFamily="18" charset="0"/>
            </a:endParaRPr>
          </a:p>
          <a:p>
            <a:pPr marL="25400" indent="0" algn="just" rtl="0" fontAlgn="base">
              <a:spcBef>
                <a:spcPts val="100"/>
              </a:spcBef>
            </a:pPr>
            <a:endParaRPr lang="en-US" sz="1500" b="1" dirty="0">
              <a:solidFill>
                <a:schemeClr val="tx1"/>
              </a:solidFill>
              <a:latin typeface="Times New Roman" panose="02020603050405020304" pitchFamily="18" charset="0"/>
              <a:cs typeface="Times New Roman" panose="02020603050405020304" pitchFamily="18" charset="0"/>
            </a:endParaRPr>
          </a:p>
          <a:p>
            <a:pPr marL="25400" indent="0" algn="just" rtl="0" fontAlgn="base">
              <a:spcBef>
                <a:spcPts val="100"/>
              </a:spcBef>
            </a:pPr>
            <a:endParaRPr lang="en-US" sz="1500" b="1" dirty="0">
              <a:solidFill>
                <a:schemeClr val="tx1"/>
              </a:solidFill>
              <a:latin typeface="Times New Roman" panose="02020603050405020304" pitchFamily="18" charset="0"/>
              <a:cs typeface="Times New Roman" panose="02020603050405020304" pitchFamily="18" charset="0"/>
            </a:endParaRPr>
          </a:p>
          <a:p>
            <a:pPr marL="25400" indent="0" algn="just" rtl="0" fontAlgn="base">
              <a:spcBef>
                <a:spcPts val="100"/>
              </a:spcBef>
            </a:pPr>
            <a:endParaRPr lang="en-US" sz="1500" b="1"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marL="793750" lvl="1" indent="-285750"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18</a:t>
            </a:r>
          </a:p>
        </p:txBody>
      </p:sp>
      <p:sp>
        <p:nvSpPr>
          <p:cNvPr id="8" name="TextBox 7">
            <a:extLst>
              <a:ext uri="{FF2B5EF4-FFF2-40B4-BE49-F238E27FC236}">
                <a16:creationId xmlns:a16="http://schemas.microsoft.com/office/drawing/2014/main" id="{7E26A484-C944-98A9-B309-21FA9479B34F}"/>
              </a:ext>
            </a:extLst>
          </p:cNvPr>
          <p:cNvSpPr txBox="1"/>
          <p:nvPr/>
        </p:nvSpPr>
        <p:spPr>
          <a:xfrm>
            <a:off x="6308808" y="3355707"/>
            <a:ext cx="2441694" cy="307777"/>
          </a:xfrm>
          <a:prstGeom prst="rect">
            <a:avLst/>
          </a:prstGeom>
          <a:noFill/>
        </p:spPr>
        <p:txBody>
          <a:bodyPr wrap="none" rtlCol="0">
            <a:spAutoFit/>
          </a:bodyPr>
          <a:lstStyle/>
          <a:p>
            <a:r>
              <a:rPr lang="en-IN" dirty="0"/>
              <a:t>Fig:10 LSTM architecture [9]</a:t>
            </a:r>
          </a:p>
        </p:txBody>
      </p:sp>
      <p:pic>
        <p:nvPicPr>
          <p:cNvPr id="1026" name="Picture 2" descr="What is the architecture behind the Keras LSTM cell? - Stack Overflow">
            <a:extLst>
              <a:ext uri="{FF2B5EF4-FFF2-40B4-BE49-F238E27FC236}">
                <a16:creationId xmlns:a16="http://schemas.microsoft.com/office/drawing/2014/main" id="{F6079C81-DC24-5F4E-EA6C-FD0D519820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9172" y="1580142"/>
            <a:ext cx="2869700" cy="177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868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IN" sz="4000" b="1" dirty="0">
                <a:blipFill>
                  <a:blip r:embed="rId3"/>
                  <a:stretch>
                    <a:fillRect/>
                  </a:stretch>
                </a:blipFill>
                <a:latin typeface="Times New Roman" panose="02020603050405020304" pitchFamily="18" charset="0"/>
                <a:cs typeface="Times New Roman" panose="02020603050405020304" pitchFamily="18" charset="0"/>
              </a:rPr>
              <a:t>Gated-Recurrent Unit</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701597" y="1031361"/>
            <a:ext cx="5167575" cy="4030978"/>
          </a:xfrm>
          <a:prstGeom prst="rect">
            <a:avLst/>
          </a:prstGeom>
        </p:spPr>
        <p:txBody>
          <a:bodyPr spcFirstLastPara="1" wrap="square" lIns="91425" tIns="45700" rIns="91425" bIns="45700" anchor="t" anchorCtr="0">
            <a:noAutofit/>
          </a:bodyPr>
          <a:lstStyle/>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The basic idea behind GRU is to use gating mechanisms to selectively update the hidden state of the network at each time step.</a:t>
            </a:r>
          </a:p>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The gating mechanisms are used to control the flow of information in and out of the network.</a:t>
            </a:r>
            <a:endParaRPr lang="en-US" sz="1800" dirty="0">
              <a:solidFill>
                <a:schemeClr val="tx1"/>
              </a:solidFill>
              <a:latin typeface="Times New Roman" panose="02020603050405020304" pitchFamily="18" charset="0"/>
              <a:cs typeface="Times New Roman" panose="02020603050405020304" pitchFamily="18" charset="0"/>
            </a:endParaRPr>
          </a:p>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The GRU has two gating mechanisms, called the reset gate and the update gate.</a:t>
            </a:r>
          </a:p>
          <a:p>
            <a:pPr marL="311150" indent="-285750" algn="just" rtl="0" fontAlgn="base">
              <a:spcBef>
                <a:spcPts val="100"/>
              </a:spcBef>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The reset gate determines how much of the previous hidden state should be forgotten, while the update gate determines how much of the new input should be used to update the hidden state.</a:t>
            </a:r>
            <a:endParaRPr lang="en-US" sz="1800" b="1" dirty="0">
              <a:solidFill>
                <a:schemeClr val="tx1"/>
              </a:solidFill>
              <a:latin typeface="Times New Roman" panose="02020603050405020304" pitchFamily="18" charset="0"/>
              <a:cs typeface="Times New Roman" panose="02020603050405020304" pitchFamily="18" charset="0"/>
            </a:endParaRPr>
          </a:p>
          <a:p>
            <a:pPr marL="25400" indent="0" algn="just" rtl="0" fontAlgn="base">
              <a:spcBef>
                <a:spcPts val="100"/>
              </a:spcBef>
            </a:pPr>
            <a:endParaRPr lang="en-US" sz="1500" b="1"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marL="793750" lvl="1" indent="-285750"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lvl="1" algn="just"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500" dirty="0">
              <a:solidFill>
                <a:schemeClr val="tx1"/>
              </a:solid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19</a:t>
            </a:r>
          </a:p>
        </p:txBody>
      </p:sp>
      <p:pic>
        <p:nvPicPr>
          <p:cNvPr id="6" name="Picture 5">
            <a:extLst>
              <a:ext uri="{FF2B5EF4-FFF2-40B4-BE49-F238E27FC236}">
                <a16:creationId xmlns:a16="http://schemas.microsoft.com/office/drawing/2014/main" id="{3B19003E-85AF-BBDC-5049-474E00D9E287}"/>
              </a:ext>
            </a:extLst>
          </p:cNvPr>
          <p:cNvPicPr>
            <a:picLocks noChangeAspect="1"/>
          </p:cNvPicPr>
          <p:nvPr/>
        </p:nvPicPr>
        <p:blipFill>
          <a:blip r:embed="rId4"/>
          <a:stretch>
            <a:fillRect/>
          </a:stretch>
        </p:blipFill>
        <p:spPr>
          <a:xfrm>
            <a:off x="5709685" y="1651502"/>
            <a:ext cx="3291300" cy="1645650"/>
          </a:xfrm>
          <a:prstGeom prst="rect">
            <a:avLst/>
          </a:prstGeom>
        </p:spPr>
      </p:pic>
      <p:sp>
        <p:nvSpPr>
          <p:cNvPr id="8" name="TextBox 7">
            <a:extLst>
              <a:ext uri="{FF2B5EF4-FFF2-40B4-BE49-F238E27FC236}">
                <a16:creationId xmlns:a16="http://schemas.microsoft.com/office/drawing/2014/main" id="{7E26A484-C944-98A9-B309-21FA9479B34F}"/>
              </a:ext>
            </a:extLst>
          </p:cNvPr>
          <p:cNvSpPr txBox="1"/>
          <p:nvPr/>
        </p:nvSpPr>
        <p:spPr>
          <a:xfrm>
            <a:off x="6308808" y="3355707"/>
            <a:ext cx="2462534" cy="307777"/>
          </a:xfrm>
          <a:prstGeom prst="rect">
            <a:avLst/>
          </a:prstGeom>
          <a:noFill/>
        </p:spPr>
        <p:txBody>
          <a:bodyPr wrap="none" rtlCol="0">
            <a:spAutoFit/>
          </a:bodyPr>
          <a:lstStyle/>
          <a:p>
            <a:r>
              <a:rPr lang="en-IN" dirty="0"/>
              <a:t>Fig:11 GRU architecture [10]</a:t>
            </a:r>
          </a:p>
        </p:txBody>
      </p:sp>
    </p:spTree>
    <p:extLst>
      <p:ext uri="{BB962C8B-B14F-4D97-AF65-F5344CB8AC3E}">
        <p14:creationId xmlns:p14="http://schemas.microsoft.com/office/powerpoint/2010/main" val="857094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Workflow Diagram</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701597" y="1315997"/>
            <a:ext cx="7740805" cy="3746342"/>
          </a:xfrm>
          <a:prstGeom prst="rect">
            <a:avLst/>
          </a:prstGeom>
        </p:spPr>
        <p:txBody>
          <a:bodyPr spcFirstLastPara="1" wrap="square" lIns="91425" tIns="45700" rIns="91425" bIns="45700" anchor="t" anchorCtr="0">
            <a:noAutofit/>
          </a:bodyPr>
          <a:lstStyle/>
          <a:p>
            <a:pPr marL="25400" indent="0" algn="just" rtl="0" fontAlgn="base">
              <a:spcBef>
                <a:spcPts val="100"/>
              </a:spcBef>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marL="793750" lvl="1" indent="-285750" algn="just"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lvl="1" algn="just"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lvl="1" algn="just"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lvl="1" algn="just"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20</a:t>
            </a:r>
          </a:p>
        </p:txBody>
      </p:sp>
      <p:pic>
        <p:nvPicPr>
          <p:cNvPr id="5" name="Picture 4">
            <a:extLst>
              <a:ext uri="{FF2B5EF4-FFF2-40B4-BE49-F238E27FC236}">
                <a16:creationId xmlns:a16="http://schemas.microsoft.com/office/drawing/2014/main" id="{B740D01E-3C9E-3A9A-73DB-6FB875BACD57}"/>
              </a:ext>
            </a:extLst>
          </p:cNvPr>
          <p:cNvPicPr>
            <a:picLocks noChangeAspect="1"/>
          </p:cNvPicPr>
          <p:nvPr/>
        </p:nvPicPr>
        <p:blipFill>
          <a:blip r:embed="rId4"/>
          <a:stretch>
            <a:fillRect/>
          </a:stretch>
        </p:blipFill>
        <p:spPr>
          <a:xfrm>
            <a:off x="548291" y="925032"/>
            <a:ext cx="8047417" cy="3891077"/>
          </a:xfrm>
          <a:prstGeom prst="rect">
            <a:avLst/>
          </a:prstGeom>
        </p:spPr>
      </p:pic>
    </p:spTree>
    <p:extLst>
      <p:ext uri="{BB962C8B-B14F-4D97-AF65-F5344CB8AC3E}">
        <p14:creationId xmlns:p14="http://schemas.microsoft.com/office/powerpoint/2010/main" val="963486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Dataset - </a:t>
            </a:r>
            <a:r>
              <a:rPr lang="en-US" sz="4000" b="1" dirty="0" err="1">
                <a:blipFill>
                  <a:blip r:embed="rId3"/>
                  <a:stretch>
                    <a:fillRect/>
                  </a:stretch>
                </a:blipFill>
                <a:latin typeface="Times New Roman" panose="02020603050405020304" pitchFamily="18" charset="0"/>
                <a:cs typeface="Times New Roman" panose="02020603050405020304" pitchFamily="18" charset="0"/>
              </a:rPr>
              <a:t>IBTrACS</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701597" y="1315997"/>
            <a:ext cx="7740805" cy="3746342"/>
          </a:xfrm>
          <a:prstGeom prst="rect">
            <a:avLst/>
          </a:prstGeom>
        </p:spPr>
        <p:txBody>
          <a:bodyPr spcFirstLastPara="1" wrap="square" lIns="91425" tIns="45700" rIns="91425" bIns="45700" anchor="t" anchorCtr="0">
            <a:noAutofit/>
          </a:bodyPr>
          <a:lstStyle/>
          <a:p>
            <a:pPr marL="25400" indent="0" algn="just" rtl="0" fontAlgn="base">
              <a:spcBef>
                <a:spcPts val="100"/>
              </a:spcBef>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marL="793750" lvl="1" indent="-285750" algn="just"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lvl="1" algn="just"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lvl="1" algn="just"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lvl="1" algn="just"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a:p>
            <a:pPr algn="just" rtl="0" fontAlgn="base">
              <a:spcBef>
                <a:spcPts val="100"/>
              </a:spcBef>
              <a:buFont typeface="Arial" panose="020B0604020202020204" pitchFamily="34" charset="0"/>
              <a:buChar char="•"/>
            </a:pPr>
            <a:endParaRPr lang="en-US" sz="1500" dirty="0">
              <a:solidFill>
                <a:schemeClr val="tx1"/>
              </a:solidFill>
              <a:latin typeface="Lato" panose="020F0502020204030203" pitchFamily="34"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21</a:t>
            </a:r>
          </a:p>
        </p:txBody>
      </p:sp>
      <p:pic>
        <p:nvPicPr>
          <p:cNvPr id="6" name="Picture 5">
            <a:extLst>
              <a:ext uri="{FF2B5EF4-FFF2-40B4-BE49-F238E27FC236}">
                <a16:creationId xmlns:a16="http://schemas.microsoft.com/office/drawing/2014/main" id="{BF046B6F-1156-FE21-AB71-B0C93F1463B7}"/>
              </a:ext>
            </a:extLst>
          </p:cNvPr>
          <p:cNvPicPr>
            <a:picLocks noChangeAspect="1"/>
          </p:cNvPicPr>
          <p:nvPr/>
        </p:nvPicPr>
        <p:blipFill>
          <a:blip r:embed="rId4"/>
          <a:stretch>
            <a:fillRect/>
          </a:stretch>
        </p:blipFill>
        <p:spPr>
          <a:xfrm>
            <a:off x="0" y="963397"/>
            <a:ext cx="9144000" cy="3975831"/>
          </a:xfrm>
          <a:prstGeom prst="rect">
            <a:avLst/>
          </a:prstGeom>
        </p:spPr>
      </p:pic>
    </p:spTree>
    <p:extLst>
      <p:ext uri="{BB962C8B-B14F-4D97-AF65-F5344CB8AC3E}">
        <p14:creationId xmlns:p14="http://schemas.microsoft.com/office/powerpoint/2010/main" val="691767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Data Preprocessing</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457201" y="1315997"/>
            <a:ext cx="8420986" cy="3746342"/>
          </a:xfrm>
          <a:prstGeom prst="rect">
            <a:avLst/>
          </a:prstGeom>
        </p:spPr>
        <p:txBody>
          <a:bodyPr spcFirstLastPara="1" wrap="square" lIns="91425" tIns="45700" rIns="91425" bIns="45700" anchor="t" anchorCtr="0">
            <a:noAutofit/>
          </a:bodyPr>
          <a:lstStyle/>
          <a:p>
            <a:pPr marL="311150" indent="-285750" algn="just" rtl="0" fontAlgn="base">
              <a:spcBef>
                <a:spcPts val="100"/>
              </a:spcBef>
              <a:buSzPct val="10000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Feature Extraction</a:t>
            </a:r>
          </a:p>
          <a:p>
            <a:pPr marL="768350" lvl="1" indent="-285750" algn="just" fontAlgn="base">
              <a:spcBef>
                <a:spcPts val="100"/>
              </a:spcBef>
              <a:buSzPct val="10000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Dataset used for cyclone path prediction initially has lot of features that are of no use to us like time, year and nature of cyclone.</a:t>
            </a:r>
          </a:p>
          <a:p>
            <a:pPr marL="768350" lvl="1" indent="-285750" algn="just" fontAlgn="base">
              <a:spcBef>
                <a:spcPts val="100"/>
              </a:spcBef>
              <a:buSzPct val="10000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We only extracted ID, latitude , longitude, wind speed and wind direction only</a:t>
            </a:r>
          </a:p>
          <a:p>
            <a:pPr marL="768350" lvl="1" indent="-285750" algn="just" fontAlgn="base">
              <a:spcBef>
                <a:spcPts val="100"/>
              </a:spcBef>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311150" indent="-285750" algn="just" rtl="0" fontAlgn="base">
              <a:spcBef>
                <a:spcPts val="100"/>
              </a:spcBef>
              <a:buSzPct val="10000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Data Cleaning</a:t>
            </a:r>
          </a:p>
          <a:p>
            <a:pPr marL="768350" lvl="1" indent="-285750" algn="just" fontAlgn="base">
              <a:spcBef>
                <a:spcPts val="100"/>
              </a:spcBef>
              <a:buSzPct val="10000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Few values of latitude, longitude were in string format which was converted into float format</a:t>
            </a:r>
          </a:p>
          <a:p>
            <a:pPr marL="768350" lvl="1" indent="-285750" algn="just" fontAlgn="base">
              <a:spcBef>
                <a:spcPts val="100"/>
              </a:spcBef>
              <a:buSzPct val="100000"/>
              <a:buFont typeface="Arial" panose="020B0604020202020204" pitchFamily="34" charset="0"/>
              <a:buChar char="•"/>
            </a:pPr>
            <a:r>
              <a:rPr lang="en-US" sz="1800" dirty="0">
                <a:latin typeface="Times New Roman" panose="02020603050405020304" pitchFamily="18" charset="0"/>
                <a:ea typeface="Lato" panose="020F0502020204030203" pitchFamily="34" charset="0"/>
                <a:cs typeface="Times New Roman" panose="02020603050405020304" pitchFamily="18" charset="0"/>
              </a:rPr>
              <a:t>The rows with missing or null values were removed from the dataset</a:t>
            </a:r>
            <a:r>
              <a:rPr lang="en-US" sz="1800" dirty="0">
                <a:solidFill>
                  <a:schemeClr val="tx1"/>
                </a:solidFill>
                <a:latin typeface="Times New Roman" panose="02020603050405020304" pitchFamily="18" charset="0"/>
                <a:ea typeface="Lato" panose="020F0502020204030203" pitchFamily="34" charset="0"/>
                <a:cs typeface="Times New Roman" panose="02020603050405020304" pitchFamily="18" charset="0"/>
              </a:rPr>
              <a:t>  </a:t>
            </a:r>
          </a:p>
          <a:p>
            <a:pPr algn="just" rtl="0" fontAlgn="base">
              <a:spcBef>
                <a:spcPts val="100"/>
              </a:spcBef>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22</a:t>
            </a:r>
          </a:p>
        </p:txBody>
      </p:sp>
    </p:spTree>
    <p:extLst>
      <p:ext uri="{BB962C8B-B14F-4D97-AF65-F5344CB8AC3E}">
        <p14:creationId xmlns:p14="http://schemas.microsoft.com/office/powerpoint/2010/main" val="1486392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Data Preprocessing</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457201" y="1315997"/>
            <a:ext cx="8420986" cy="3746342"/>
          </a:xfrm>
          <a:prstGeom prst="rect">
            <a:avLst/>
          </a:prstGeom>
        </p:spPr>
        <p:txBody>
          <a:bodyPr spcFirstLastPara="1" wrap="square" lIns="91425" tIns="45700" rIns="91425" bIns="45700" anchor="t" anchorCtr="0">
            <a:noAutofit/>
          </a:bodyPr>
          <a:lstStyle/>
          <a:p>
            <a:pPr marL="368300" indent="-342900" algn="just" rtl="0"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Data Normalization</a:t>
            </a:r>
          </a:p>
          <a:p>
            <a:pPr marL="825500" lvl="1" indent="-342900" algn="just"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In order to achieve better accuracy of the model  we divide the latitude, longitude, wind speed and wind direction by their maximum values.</a:t>
            </a:r>
          </a:p>
          <a:p>
            <a:pPr marL="482600" lvl="1" indent="0" algn="just" fontAlgn="base">
              <a:spcBef>
                <a:spcPts val="100"/>
              </a:spcBef>
            </a:pPr>
            <a:endParaRPr lang="en-US" sz="2000" dirty="0">
              <a:solidFill>
                <a:schemeClr val="tx1"/>
              </a:solidFill>
              <a:latin typeface="Times New Roman" panose="02020603050405020304" pitchFamily="18" charset="0"/>
              <a:cs typeface="Times New Roman" panose="02020603050405020304" pitchFamily="18" charset="0"/>
            </a:endParaRPr>
          </a:p>
          <a:p>
            <a:pPr marL="368300" indent="-342900" algn="just" rtl="0"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Data Padding</a:t>
            </a:r>
          </a:p>
          <a:p>
            <a:pPr marL="825500" lvl="1" indent="-342900" algn="just"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In order to make sure all cyclones have same number of time stamps we pad the data by taking mean of data</a:t>
            </a:r>
          </a:p>
          <a:p>
            <a:pPr marL="825500" lvl="1" indent="-342900" algn="just"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Cyclones having number of time stamps less than 18 and greater than 35 are ignored.</a:t>
            </a:r>
          </a:p>
          <a:p>
            <a:pPr marL="25400" indent="0" algn="just" rtl="0" fontAlgn="base">
              <a:spcBef>
                <a:spcPts val="100"/>
              </a:spcBef>
            </a:pPr>
            <a:endParaRPr lang="en-US" sz="20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algn="just" rtl="0" fontAlgn="base">
              <a:spcBef>
                <a:spcPts val="100"/>
              </a:spcBef>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23</a:t>
            </a:r>
          </a:p>
        </p:txBody>
      </p:sp>
    </p:spTree>
    <p:extLst>
      <p:ext uri="{BB962C8B-B14F-4D97-AF65-F5344CB8AC3E}">
        <p14:creationId xmlns:p14="http://schemas.microsoft.com/office/powerpoint/2010/main" val="2288064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Data </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24</a:t>
            </a:r>
          </a:p>
        </p:txBody>
      </p:sp>
      <p:pic>
        <p:nvPicPr>
          <p:cNvPr id="7" name="Picture 6">
            <a:extLst>
              <a:ext uri="{FF2B5EF4-FFF2-40B4-BE49-F238E27FC236}">
                <a16:creationId xmlns:a16="http://schemas.microsoft.com/office/drawing/2014/main" id="{913DD472-7E57-C1D5-9DA2-5CE69708A71E}"/>
              </a:ext>
            </a:extLst>
          </p:cNvPr>
          <p:cNvPicPr>
            <a:picLocks noChangeAspect="1"/>
          </p:cNvPicPr>
          <p:nvPr/>
        </p:nvPicPr>
        <p:blipFill>
          <a:blip r:embed="rId4"/>
          <a:stretch>
            <a:fillRect/>
          </a:stretch>
        </p:blipFill>
        <p:spPr>
          <a:xfrm>
            <a:off x="1116418" y="1010099"/>
            <a:ext cx="6847367" cy="3895602"/>
          </a:xfrm>
          <a:prstGeom prst="rect">
            <a:avLst/>
          </a:prstGeom>
        </p:spPr>
      </p:pic>
    </p:spTree>
    <p:extLst>
      <p:ext uri="{BB962C8B-B14F-4D97-AF65-F5344CB8AC3E}">
        <p14:creationId xmlns:p14="http://schemas.microsoft.com/office/powerpoint/2010/main" val="3627276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Training Model</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457201" y="993198"/>
            <a:ext cx="8420986" cy="4069141"/>
          </a:xfrm>
          <a:prstGeom prst="rect">
            <a:avLst/>
          </a:prstGeom>
        </p:spPr>
        <p:txBody>
          <a:bodyPr spcFirstLastPara="1" wrap="square" lIns="91425" tIns="45700" rIns="91425" bIns="45700" anchor="t" anchorCtr="0">
            <a:noAutofit/>
          </a:bodyPr>
          <a:lstStyle/>
          <a:p>
            <a:pPr marL="368300" indent="-342900" algn="just" rtl="0"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For training data, 75% of the original dataset is used and the other 25% is used for test split.</a:t>
            </a:r>
          </a:p>
          <a:p>
            <a:pPr marL="368300" indent="-342900" algn="just" rtl="0"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For every cyclone 23 datapoints are used as input and 12 datapoints are predicted by the forecasting model.</a:t>
            </a:r>
          </a:p>
          <a:p>
            <a:pPr marL="368300" indent="-342900" algn="just" rtl="0"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Datapoints are recorded at the intervals of 3 hours. </a:t>
            </a:r>
          </a:p>
          <a:p>
            <a:pPr marL="368300" indent="-342900" algn="just" rtl="0" fontAlgn="base">
              <a:spcBef>
                <a:spcPts val="100"/>
              </a:spcBef>
              <a:buSzPct val="1000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This implies almost 3 days of data is used to predict the path of cyclone for next two days</a:t>
            </a: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25</a:t>
            </a:r>
          </a:p>
        </p:txBody>
      </p:sp>
    </p:spTree>
    <p:extLst>
      <p:ext uri="{BB962C8B-B14F-4D97-AF65-F5344CB8AC3E}">
        <p14:creationId xmlns:p14="http://schemas.microsoft.com/office/powerpoint/2010/main" val="53082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Model Description – Simple RNN</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457201" y="993198"/>
            <a:ext cx="8420986" cy="4069141"/>
          </a:xfrm>
          <a:prstGeom prst="rect">
            <a:avLst/>
          </a:prstGeom>
        </p:spPr>
        <p:txBody>
          <a:bodyPr spcFirstLastPara="1" wrap="square" lIns="91425" tIns="45700" rIns="91425" bIns="45700" anchor="t" anchorCtr="0">
            <a:noAutofit/>
          </a:bodyPr>
          <a:lstStyle/>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r>
              <a:rPr lang="en-US" sz="1500" dirty="0">
                <a:solidFill>
                  <a:schemeClr val="tx1"/>
                </a:solidFill>
                <a:latin typeface="Lato" panose="020F0502020204030203" pitchFamily="34" charset="0"/>
              </a:rPr>
              <a:t>                                                                                                                                                                                                                                                                        </a:t>
            </a: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26</a:t>
            </a:r>
          </a:p>
        </p:txBody>
      </p:sp>
      <p:graphicFrame>
        <p:nvGraphicFramePr>
          <p:cNvPr id="18" name="Table 18">
            <a:extLst>
              <a:ext uri="{FF2B5EF4-FFF2-40B4-BE49-F238E27FC236}">
                <a16:creationId xmlns:a16="http://schemas.microsoft.com/office/drawing/2014/main" id="{C9D3936D-B42F-58BC-1E96-8D75D5BDC904}"/>
              </a:ext>
            </a:extLst>
          </p:cNvPr>
          <p:cNvGraphicFramePr>
            <a:graphicFrameLocks noGrp="1"/>
          </p:cNvGraphicFramePr>
          <p:nvPr>
            <p:extLst>
              <p:ext uri="{D42A27DB-BD31-4B8C-83A1-F6EECF244321}">
                <p14:modId xmlns:p14="http://schemas.microsoft.com/office/powerpoint/2010/main" val="2417708335"/>
              </p:ext>
            </p:extLst>
          </p:nvPr>
        </p:nvGraphicFramePr>
        <p:xfrm>
          <a:off x="978196" y="1385583"/>
          <a:ext cx="4136065" cy="2492208"/>
        </p:xfrm>
        <a:graphic>
          <a:graphicData uri="http://schemas.openxmlformats.org/drawingml/2006/table">
            <a:tbl>
              <a:tblPr firstRow="1" bandRow="1">
                <a:tableStyleId>{616DA210-FB5B-4158-B5E0-FEB733F419BA}</a:tableStyleId>
              </a:tblPr>
              <a:tblGrid>
                <a:gridCol w="600290">
                  <a:extLst>
                    <a:ext uri="{9D8B030D-6E8A-4147-A177-3AD203B41FA5}">
                      <a16:colId xmlns:a16="http://schemas.microsoft.com/office/drawing/2014/main" val="2306678989"/>
                    </a:ext>
                  </a:extLst>
                </a:gridCol>
                <a:gridCol w="1716483">
                  <a:extLst>
                    <a:ext uri="{9D8B030D-6E8A-4147-A177-3AD203B41FA5}">
                      <a16:colId xmlns:a16="http://schemas.microsoft.com/office/drawing/2014/main" val="2007353360"/>
                    </a:ext>
                  </a:extLst>
                </a:gridCol>
                <a:gridCol w="1819292">
                  <a:extLst>
                    <a:ext uri="{9D8B030D-6E8A-4147-A177-3AD203B41FA5}">
                      <a16:colId xmlns:a16="http://schemas.microsoft.com/office/drawing/2014/main" val="2136173630"/>
                    </a:ext>
                  </a:extLst>
                </a:gridCol>
              </a:tblGrid>
              <a:tr h="523056">
                <a:tc>
                  <a:txBody>
                    <a:bodyPr/>
                    <a:lstStyle/>
                    <a:p>
                      <a:r>
                        <a:rPr lang="en-IN" dirty="0">
                          <a:latin typeface="Times New Roman" panose="02020603050405020304" pitchFamily="18" charset="0"/>
                          <a:cs typeface="Times New Roman" panose="02020603050405020304" pitchFamily="18" charset="0"/>
                        </a:rPr>
                        <a:t>Sr. No.</a:t>
                      </a:r>
                    </a:p>
                  </a:txBody>
                  <a:tcPr/>
                </a:tc>
                <a:tc>
                  <a:txBody>
                    <a:bodyPr/>
                    <a:lstStyle/>
                    <a:p>
                      <a:r>
                        <a:rPr lang="en-IN" dirty="0">
                          <a:latin typeface="Times New Roman" panose="02020603050405020304" pitchFamily="18" charset="0"/>
                          <a:cs typeface="Times New Roman" panose="02020603050405020304" pitchFamily="18" charset="0"/>
                        </a:rPr>
                        <a:t>Hyperparameters</a:t>
                      </a:r>
                    </a:p>
                  </a:txBody>
                  <a:tcPr/>
                </a:tc>
                <a:tc>
                  <a:txBody>
                    <a:bodyPr/>
                    <a:lstStyle/>
                    <a:p>
                      <a:r>
                        <a:rPr lang="en-IN" dirty="0">
                          <a:latin typeface="Times New Roman" panose="02020603050405020304" pitchFamily="18" charset="0"/>
                          <a:cs typeface="Times New Roman" panose="02020603050405020304" pitchFamily="18" charset="0"/>
                        </a:rPr>
                        <a:t>Value</a:t>
                      </a:r>
                    </a:p>
                  </a:txBody>
                  <a:tcPr/>
                </a:tc>
                <a:extLst>
                  <a:ext uri="{0D108BD9-81ED-4DB2-BD59-A6C34878D82A}">
                    <a16:rowId xmlns:a16="http://schemas.microsoft.com/office/drawing/2014/main" val="2868335956"/>
                  </a:ext>
                </a:extLst>
              </a:tr>
              <a:tr h="307680">
                <a:tc>
                  <a:txBody>
                    <a:bodyPr/>
                    <a:lstStyle/>
                    <a:p>
                      <a:r>
                        <a:rPr lang="en-IN" dirty="0">
                          <a:latin typeface="Times New Roman" panose="02020603050405020304" pitchFamily="18" charset="0"/>
                          <a:cs typeface="Times New Roman" panose="02020603050405020304" pitchFamily="18" charset="0"/>
                        </a:rPr>
                        <a:t>1</a:t>
                      </a:r>
                    </a:p>
                  </a:txBody>
                  <a:tcPr/>
                </a:tc>
                <a:tc>
                  <a:txBody>
                    <a:bodyPr/>
                    <a:lstStyle/>
                    <a:p>
                      <a:r>
                        <a:rPr lang="en-IN" dirty="0">
                          <a:latin typeface="Times New Roman" panose="02020603050405020304" pitchFamily="18" charset="0"/>
                          <a:cs typeface="Times New Roman" panose="02020603050405020304" pitchFamily="18" charset="0"/>
                        </a:rPr>
                        <a:t>Batch Size</a:t>
                      </a:r>
                    </a:p>
                  </a:txBody>
                  <a:tcPr/>
                </a:tc>
                <a:tc>
                  <a:txBody>
                    <a:bodyPr/>
                    <a:lstStyle/>
                    <a:p>
                      <a:r>
                        <a:rPr lang="en-IN" dirty="0">
                          <a:latin typeface="Times New Roman" panose="02020603050405020304" pitchFamily="18" charset="0"/>
                          <a:cs typeface="Times New Roman" panose="02020603050405020304" pitchFamily="18" charset="0"/>
                        </a:rPr>
                        <a:t>32</a:t>
                      </a:r>
                    </a:p>
                  </a:txBody>
                  <a:tcPr/>
                </a:tc>
                <a:extLst>
                  <a:ext uri="{0D108BD9-81ED-4DB2-BD59-A6C34878D82A}">
                    <a16:rowId xmlns:a16="http://schemas.microsoft.com/office/drawing/2014/main" val="3472521335"/>
                  </a:ext>
                </a:extLst>
              </a:tr>
              <a:tr h="307680">
                <a:tc>
                  <a:txBody>
                    <a:bodyPr/>
                    <a:lstStyle/>
                    <a:p>
                      <a:r>
                        <a:rPr lang="en-IN" dirty="0">
                          <a:latin typeface="Times New Roman" panose="02020603050405020304" pitchFamily="18" charset="0"/>
                          <a:cs typeface="Times New Roman" panose="02020603050405020304" pitchFamily="18" charset="0"/>
                        </a:rPr>
                        <a:t>2</a:t>
                      </a:r>
                    </a:p>
                  </a:txBody>
                  <a:tcPr/>
                </a:tc>
                <a:tc>
                  <a:txBody>
                    <a:bodyPr/>
                    <a:lstStyle/>
                    <a:p>
                      <a:r>
                        <a:rPr lang="en-IN" dirty="0">
                          <a:latin typeface="Times New Roman" panose="02020603050405020304" pitchFamily="18" charset="0"/>
                          <a:cs typeface="Times New Roman" panose="02020603050405020304" pitchFamily="18" charset="0"/>
                        </a:rPr>
                        <a:t>Epochs</a:t>
                      </a:r>
                    </a:p>
                  </a:txBody>
                  <a:tcPr/>
                </a:tc>
                <a:tc>
                  <a:txBody>
                    <a:bodyPr/>
                    <a:lstStyle/>
                    <a:p>
                      <a:r>
                        <a:rPr lang="en-IN" dirty="0">
                          <a:latin typeface="Times New Roman" panose="02020603050405020304" pitchFamily="18" charset="0"/>
                          <a:cs typeface="Times New Roman" panose="02020603050405020304" pitchFamily="18" charset="0"/>
                        </a:rPr>
                        <a:t>500</a:t>
                      </a:r>
                    </a:p>
                  </a:txBody>
                  <a:tcPr/>
                </a:tc>
                <a:extLst>
                  <a:ext uri="{0D108BD9-81ED-4DB2-BD59-A6C34878D82A}">
                    <a16:rowId xmlns:a16="http://schemas.microsoft.com/office/drawing/2014/main" val="672385276"/>
                  </a:ext>
                </a:extLst>
              </a:tr>
              <a:tr h="307680">
                <a:tc>
                  <a:txBody>
                    <a:bodyPr/>
                    <a:lstStyle/>
                    <a:p>
                      <a:r>
                        <a:rPr lang="en-IN" dirty="0">
                          <a:latin typeface="Times New Roman" panose="02020603050405020304" pitchFamily="18" charset="0"/>
                          <a:cs typeface="Times New Roman" panose="02020603050405020304" pitchFamily="18" charset="0"/>
                        </a:rPr>
                        <a:t>3</a:t>
                      </a:r>
                    </a:p>
                  </a:txBody>
                  <a:tcPr/>
                </a:tc>
                <a:tc>
                  <a:txBody>
                    <a:bodyPr/>
                    <a:lstStyle/>
                    <a:p>
                      <a:r>
                        <a:rPr lang="en-IN" dirty="0">
                          <a:latin typeface="Times New Roman" panose="02020603050405020304" pitchFamily="18" charset="0"/>
                          <a:cs typeface="Times New Roman" panose="02020603050405020304" pitchFamily="18" charset="0"/>
                        </a:rPr>
                        <a:t>Optimizer</a:t>
                      </a:r>
                    </a:p>
                  </a:txBody>
                  <a:tcPr/>
                </a:tc>
                <a:tc>
                  <a:txBody>
                    <a:bodyPr/>
                    <a:lstStyle/>
                    <a:p>
                      <a:r>
                        <a:rPr lang="en-IN" dirty="0">
                          <a:latin typeface="Times New Roman" panose="02020603050405020304" pitchFamily="18" charset="0"/>
                          <a:cs typeface="Times New Roman" panose="02020603050405020304" pitchFamily="18" charset="0"/>
                        </a:rPr>
                        <a:t>Adam</a:t>
                      </a:r>
                    </a:p>
                  </a:txBody>
                  <a:tcPr/>
                </a:tc>
                <a:extLst>
                  <a:ext uri="{0D108BD9-81ED-4DB2-BD59-A6C34878D82A}">
                    <a16:rowId xmlns:a16="http://schemas.microsoft.com/office/drawing/2014/main" val="354190996"/>
                  </a:ext>
                </a:extLst>
              </a:tr>
              <a:tr h="523056">
                <a:tc>
                  <a:txBody>
                    <a:bodyPr/>
                    <a:lstStyle/>
                    <a:p>
                      <a:r>
                        <a:rPr lang="en-IN" dirty="0">
                          <a:latin typeface="Times New Roman" panose="02020603050405020304" pitchFamily="18" charset="0"/>
                          <a:cs typeface="Times New Roman" panose="02020603050405020304" pitchFamily="18" charset="0"/>
                        </a:rPr>
                        <a:t>4</a:t>
                      </a:r>
                    </a:p>
                  </a:txBody>
                  <a:tcPr/>
                </a:tc>
                <a:tc>
                  <a:txBody>
                    <a:bodyPr/>
                    <a:lstStyle/>
                    <a:p>
                      <a:r>
                        <a:rPr lang="en-IN" dirty="0">
                          <a:latin typeface="Times New Roman" panose="02020603050405020304" pitchFamily="18" charset="0"/>
                          <a:cs typeface="Times New Roman" panose="02020603050405020304" pitchFamily="18" charset="0"/>
                        </a:rPr>
                        <a:t>Loss Function</a:t>
                      </a:r>
                    </a:p>
                  </a:txBody>
                  <a:tcPr/>
                </a:tc>
                <a:tc>
                  <a:txBody>
                    <a:bodyPr/>
                    <a:lstStyle/>
                    <a:p>
                      <a:r>
                        <a:rPr lang="en-IN" dirty="0">
                          <a:latin typeface="Times New Roman" panose="02020603050405020304" pitchFamily="18" charset="0"/>
                          <a:cs typeface="Times New Roman" panose="02020603050405020304" pitchFamily="18" charset="0"/>
                        </a:rPr>
                        <a:t>Mean Square Error</a:t>
                      </a:r>
                    </a:p>
                  </a:txBody>
                  <a:tcPr/>
                </a:tc>
                <a:extLst>
                  <a:ext uri="{0D108BD9-81ED-4DB2-BD59-A6C34878D82A}">
                    <a16:rowId xmlns:a16="http://schemas.microsoft.com/office/drawing/2014/main" val="2297463969"/>
                  </a:ext>
                </a:extLst>
              </a:tr>
              <a:tr h="523056">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r>
                        <a:rPr lang="en-IN" dirty="0">
                          <a:latin typeface="Times New Roman" panose="02020603050405020304" pitchFamily="18" charset="0"/>
                          <a:cs typeface="Times New Roman" panose="02020603050405020304" pitchFamily="18" charset="0"/>
                        </a:rPr>
                        <a:t>Activation Function</a:t>
                      </a:r>
                    </a:p>
                  </a:txBody>
                  <a:tcPr/>
                </a:tc>
                <a:tc>
                  <a:txBody>
                    <a:bodyPr/>
                    <a:lstStyle/>
                    <a:p>
                      <a:r>
                        <a:rPr lang="en-IN" dirty="0" err="1">
                          <a:latin typeface="Times New Roman" panose="02020603050405020304" pitchFamily="18" charset="0"/>
                          <a:cs typeface="Times New Roman" panose="02020603050405020304" pitchFamily="18" charset="0"/>
                        </a:rPr>
                        <a:t>Relu</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2876277"/>
                  </a:ext>
                </a:extLst>
              </a:tr>
            </a:tbl>
          </a:graphicData>
        </a:graphic>
      </p:graphicFrame>
      <p:pic>
        <p:nvPicPr>
          <p:cNvPr id="20" name="Picture 19">
            <a:extLst>
              <a:ext uri="{FF2B5EF4-FFF2-40B4-BE49-F238E27FC236}">
                <a16:creationId xmlns:a16="http://schemas.microsoft.com/office/drawing/2014/main" id="{43D68BEB-5C74-F1A3-9DAF-C2E8BFFCD3E8}"/>
              </a:ext>
            </a:extLst>
          </p:cNvPr>
          <p:cNvPicPr>
            <a:picLocks noChangeAspect="1"/>
          </p:cNvPicPr>
          <p:nvPr/>
        </p:nvPicPr>
        <p:blipFill>
          <a:blip r:embed="rId4"/>
          <a:stretch>
            <a:fillRect/>
          </a:stretch>
        </p:blipFill>
        <p:spPr>
          <a:xfrm>
            <a:off x="6480595" y="953729"/>
            <a:ext cx="2009452" cy="3946026"/>
          </a:xfrm>
          <a:prstGeom prst="rect">
            <a:avLst/>
          </a:prstGeom>
        </p:spPr>
      </p:pic>
      <p:sp>
        <p:nvSpPr>
          <p:cNvPr id="21" name="TextBox 20">
            <a:extLst>
              <a:ext uri="{FF2B5EF4-FFF2-40B4-BE49-F238E27FC236}">
                <a16:creationId xmlns:a16="http://schemas.microsoft.com/office/drawing/2014/main" id="{4C5267C8-E713-98B0-E2DC-B103367B229B}"/>
              </a:ext>
            </a:extLst>
          </p:cNvPr>
          <p:cNvSpPr txBox="1"/>
          <p:nvPr/>
        </p:nvSpPr>
        <p:spPr>
          <a:xfrm>
            <a:off x="1322038" y="4008399"/>
            <a:ext cx="3187091" cy="307777"/>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Table:4 Hyperparameters of Simple RNN</a:t>
            </a:r>
          </a:p>
        </p:txBody>
      </p:sp>
    </p:spTree>
    <p:extLst>
      <p:ext uri="{BB962C8B-B14F-4D97-AF65-F5344CB8AC3E}">
        <p14:creationId xmlns:p14="http://schemas.microsoft.com/office/powerpoint/2010/main" val="1039027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Model Description – Bi-LSTM</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457201" y="993198"/>
            <a:ext cx="8420986" cy="4069141"/>
          </a:xfrm>
          <a:prstGeom prst="rect">
            <a:avLst/>
          </a:prstGeom>
        </p:spPr>
        <p:txBody>
          <a:bodyPr spcFirstLastPara="1" wrap="square" lIns="91425" tIns="45700" rIns="91425" bIns="45700" anchor="t" anchorCtr="0">
            <a:noAutofit/>
          </a:bodyPr>
          <a:lstStyle/>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27</a:t>
            </a:r>
          </a:p>
        </p:txBody>
      </p:sp>
      <p:graphicFrame>
        <p:nvGraphicFramePr>
          <p:cNvPr id="18" name="Table 18">
            <a:extLst>
              <a:ext uri="{FF2B5EF4-FFF2-40B4-BE49-F238E27FC236}">
                <a16:creationId xmlns:a16="http://schemas.microsoft.com/office/drawing/2014/main" id="{C9D3936D-B42F-58BC-1E96-8D75D5BDC904}"/>
              </a:ext>
            </a:extLst>
          </p:cNvPr>
          <p:cNvGraphicFramePr>
            <a:graphicFrameLocks noGrp="1"/>
          </p:cNvGraphicFramePr>
          <p:nvPr>
            <p:extLst>
              <p:ext uri="{D42A27DB-BD31-4B8C-83A1-F6EECF244321}">
                <p14:modId xmlns:p14="http://schemas.microsoft.com/office/powerpoint/2010/main" val="2371340737"/>
              </p:ext>
            </p:extLst>
          </p:nvPr>
        </p:nvGraphicFramePr>
        <p:xfrm>
          <a:off x="978196" y="1385583"/>
          <a:ext cx="4136065" cy="2492208"/>
        </p:xfrm>
        <a:graphic>
          <a:graphicData uri="http://schemas.openxmlformats.org/drawingml/2006/table">
            <a:tbl>
              <a:tblPr firstRow="1" bandRow="1">
                <a:tableStyleId>{616DA210-FB5B-4158-B5E0-FEB733F419BA}</a:tableStyleId>
              </a:tblPr>
              <a:tblGrid>
                <a:gridCol w="600290">
                  <a:extLst>
                    <a:ext uri="{9D8B030D-6E8A-4147-A177-3AD203B41FA5}">
                      <a16:colId xmlns:a16="http://schemas.microsoft.com/office/drawing/2014/main" val="2306678989"/>
                    </a:ext>
                  </a:extLst>
                </a:gridCol>
                <a:gridCol w="1716483">
                  <a:extLst>
                    <a:ext uri="{9D8B030D-6E8A-4147-A177-3AD203B41FA5}">
                      <a16:colId xmlns:a16="http://schemas.microsoft.com/office/drawing/2014/main" val="2007353360"/>
                    </a:ext>
                  </a:extLst>
                </a:gridCol>
                <a:gridCol w="1819292">
                  <a:extLst>
                    <a:ext uri="{9D8B030D-6E8A-4147-A177-3AD203B41FA5}">
                      <a16:colId xmlns:a16="http://schemas.microsoft.com/office/drawing/2014/main" val="2136173630"/>
                    </a:ext>
                  </a:extLst>
                </a:gridCol>
              </a:tblGrid>
              <a:tr h="523056">
                <a:tc>
                  <a:txBody>
                    <a:bodyPr/>
                    <a:lstStyle/>
                    <a:p>
                      <a:r>
                        <a:rPr lang="en-IN" dirty="0">
                          <a:latin typeface="Times New Roman" panose="02020603050405020304" pitchFamily="18" charset="0"/>
                          <a:cs typeface="Times New Roman" panose="02020603050405020304" pitchFamily="18" charset="0"/>
                        </a:rPr>
                        <a:t>Sr. No.</a:t>
                      </a:r>
                    </a:p>
                  </a:txBody>
                  <a:tcPr/>
                </a:tc>
                <a:tc>
                  <a:txBody>
                    <a:bodyPr/>
                    <a:lstStyle/>
                    <a:p>
                      <a:r>
                        <a:rPr lang="en-IN" dirty="0">
                          <a:latin typeface="Times New Roman" panose="02020603050405020304" pitchFamily="18" charset="0"/>
                          <a:cs typeface="Times New Roman" panose="02020603050405020304" pitchFamily="18" charset="0"/>
                        </a:rPr>
                        <a:t>Hyperparameters</a:t>
                      </a:r>
                    </a:p>
                  </a:txBody>
                  <a:tcPr/>
                </a:tc>
                <a:tc>
                  <a:txBody>
                    <a:bodyPr/>
                    <a:lstStyle/>
                    <a:p>
                      <a:r>
                        <a:rPr lang="en-IN" dirty="0">
                          <a:latin typeface="Times New Roman" panose="02020603050405020304" pitchFamily="18" charset="0"/>
                          <a:cs typeface="Times New Roman" panose="02020603050405020304" pitchFamily="18" charset="0"/>
                        </a:rPr>
                        <a:t>Value</a:t>
                      </a:r>
                    </a:p>
                  </a:txBody>
                  <a:tcPr/>
                </a:tc>
                <a:extLst>
                  <a:ext uri="{0D108BD9-81ED-4DB2-BD59-A6C34878D82A}">
                    <a16:rowId xmlns:a16="http://schemas.microsoft.com/office/drawing/2014/main" val="2868335956"/>
                  </a:ext>
                </a:extLst>
              </a:tr>
              <a:tr h="307680">
                <a:tc>
                  <a:txBody>
                    <a:bodyPr/>
                    <a:lstStyle/>
                    <a:p>
                      <a:r>
                        <a:rPr lang="en-IN" dirty="0">
                          <a:latin typeface="Times New Roman" panose="02020603050405020304" pitchFamily="18" charset="0"/>
                          <a:cs typeface="Times New Roman" panose="02020603050405020304" pitchFamily="18" charset="0"/>
                        </a:rPr>
                        <a:t>1</a:t>
                      </a:r>
                    </a:p>
                  </a:txBody>
                  <a:tcPr/>
                </a:tc>
                <a:tc>
                  <a:txBody>
                    <a:bodyPr/>
                    <a:lstStyle/>
                    <a:p>
                      <a:r>
                        <a:rPr lang="en-IN" dirty="0">
                          <a:latin typeface="Times New Roman" panose="02020603050405020304" pitchFamily="18" charset="0"/>
                          <a:cs typeface="Times New Roman" panose="02020603050405020304" pitchFamily="18" charset="0"/>
                        </a:rPr>
                        <a:t>Batch Size</a:t>
                      </a:r>
                    </a:p>
                  </a:txBody>
                  <a:tcPr/>
                </a:tc>
                <a:tc>
                  <a:txBody>
                    <a:bodyPr/>
                    <a:lstStyle/>
                    <a:p>
                      <a:r>
                        <a:rPr lang="en-IN" dirty="0">
                          <a:latin typeface="Times New Roman" panose="02020603050405020304" pitchFamily="18" charset="0"/>
                          <a:cs typeface="Times New Roman" panose="02020603050405020304" pitchFamily="18" charset="0"/>
                        </a:rPr>
                        <a:t>32</a:t>
                      </a:r>
                    </a:p>
                  </a:txBody>
                  <a:tcPr/>
                </a:tc>
                <a:extLst>
                  <a:ext uri="{0D108BD9-81ED-4DB2-BD59-A6C34878D82A}">
                    <a16:rowId xmlns:a16="http://schemas.microsoft.com/office/drawing/2014/main" val="3472521335"/>
                  </a:ext>
                </a:extLst>
              </a:tr>
              <a:tr h="307680">
                <a:tc>
                  <a:txBody>
                    <a:bodyPr/>
                    <a:lstStyle/>
                    <a:p>
                      <a:r>
                        <a:rPr lang="en-IN" dirty="0">
                          <a:latin typeface="Times New Roman" panose="02020603050405020304" pitchFamily="18" charset="0"/>
                          <a:cs typeface="Times New Roman" panose="02020603050405020304" pitchFamily="18" charset="0"/>
                        </a:rPr>
                        <a:t>2</a:t>
                      </a:r>
                    </a:p>
                  </a:txBody>
                  <a:tcPr/>
                </a:tc>
                <a:tc>
                  <a:txBody>
                    <a:bodyPr/>
                    <a:lstStyle/>
                    <a:p>
                      <a:r>
                        <a:rPr lang="en-IN" dirty="0">
                          <a:latin typeface="Times New Roman" panose="02020603050405020304" pitchFamily="18" charset="0"/>
                          <a:cs typeface="Times New Roman" panose="02020603050405020304" pitchFamily="18" charset="0"/>
                        </a:rPr>
                        <a:t>Epochs</a:t>
                      </a:r>
                    </a:p>
                  </a:txBody>
                  <a:tcPr/>
                </a:tc>
                <a:tc>
                  <a:txBody>
                    <a:bodyPr/>
                    <a:lstStyle/>
                    <a:p>
                      <a:r>
                        <a:rPr lang="en-IN" dirty="0">
                          <a:latin typeface="Times New Roman" panose="02020603050405020304" pitchFamily="18" charset="0"/>
                          <a:cs typeface="Times New Roman" panose="02020603050405020304" pitchFamily="18" charset="0"/>
                        </a:rPr>
                        <a:t>500</a:t>
                      </a:r>
                    </a:p>
                  </a:txBody>
                  <a:tcPr/>
                </a:tc>
                <a:extLst>
                  <a:ext uri="{0D108BD9-81ED-4DB2-BD59-A6C34878D82A}">
                    <a16:rowId xmlns:a16="http://schemas.microsoft.com/office/drawing/2014/main" val="672385276"/>
                  </a:ext>
                </a:extLst>
              </a:tr>
              <a:tr h="307680">
                <a:tc>
                  <a:txBody>
                    <a:bodyPr/>
                    <a:lstStyle/>
                    <a:p>
                      <a:r>
                        <a:rPr lang="en-IN" dirty="0">
                          <a:latin typeface="Times New Roman" panose="02020603050405020304" pitchFamily="18" charset="0"/>
                          <a:cs typeface="Times New Roman" panose="02020603050405020304" pitchFamily="18" charset="0"/>
                        </a:rPr>
                        <a:t>3</a:t>
                      </a:r>
                    </a:p>
                  </a:txBody>
                  <a:tcPr/>
                </a:tc>
                <a:tc>
                  <a:txBody>
                    <a:bodyPr/>
                    <a:lstStyle/>
                    <a:p>
                      <a:r>
                        <a:rPr lang="en-IN" dirty="0">
                          <a:latin typeface="Times New Roman" panose="02020603050405020304" pitchFamily="18" charset="0"/>
                          <a:cs typeface="Times New Roman" panose="02020603050405020304" pitchFamily="18" charset="0"/>
                        </a:rPr>
                        <a:t>Optimizer</a:t>
                      </a:r>
                    </a:p>
                  </a:txBody>
                  <a:tcPr/>
                </a:tc>
                <a:tc>
                  <a:txBody>
                    <a:bodyPr/>
                    <a:lstStyle/>
                    <a:p>
                      <a:r>
                        <a:rPr lang="en-IN" dirty="0">
                          <a:latin typeface="Times New Roman" panose="02020603050405020304" pitchFamily="18" charset="0"/>
                          <a:cs typeface="Times New Roman" panose="02020603050405020304" pitchFamily="18" charset="0"/>
                        </a:rPr>
                        <a:t>Adam</a:t>
                      </a:r>
                    </a:p>
                  </a:txBody>
                  <a:tcPr/>
                </a:tc>
                <a:extLst>
                  <a:ext uri="{0D108BD9-81ED-4DB2-BD59-A6C34878D82A}">
                    <a16:rowId xmlns:a16="http://schemas.microsoft.com/office/drawing/2014/main" val="354190996"/>
                  </a:ext>
                </a:extLst>
              </a:tr>
              <a:tr h="523056">
                <a:tc>
                  <a:txBody>
                    <a:bodyPr/>
                    <a:lstStyle/>
                    <a:p>
                      <a:r>
                        <a:rPr lang="en-IN" dirty="0">
                          <a:latin typeface="Times New Roman" panose="02020603050405020304" pitchFamily="18" charset="0"/>
                          <a:cs typeface="Times New Roman" panose="02020603050405020304" pitchFamily="18" charset="0"/>
                        </a:rPr>
                        <a:t>4</a:t>
                      </a:r>
                    </a:p>
                  </a:txBody>
                  <a:tcPr/>
                </a:tc>
                <a:tc>
                  <a:txBody>
                    <a:bodyPr/>
                    <a:lstStyle/>
                    <a:p>
                      <a:r>
                        <a:rPr lang="en-IN" dirty="0">
                          <a:latin typeface="Times New Roman" panose="02020603050405020304" pitchFamily="18" charset="0"/>
                          <a:cs typeface="Times New Roman" panose="02020603050405020304" pitchFamily="18" charset="0"/>
                        </a:rPr>
                        <a:t>Loss Function</a:t>
                      </a:r>
                    </a:p>
                  </a:txBody>
                  <a:tcPr/>
                </a:tc>
                <a:tc>
                  <a:txBody>
                    <a:bodyPr/>
                    <a:lstStyle/>
                    <a:p>
                      <a:r>
                        <a:rPr lang="en-IN" dirty="0">
                          <a:latin typeface="Times New Roman" panose="02020603050405020304" pitchFamily="18" charset="0"/>
                          <a:cs typeface="Times New Roman" panose="02020603050405020304" pitchFamily="18" charset="0"/>
                        </a:rPr>
                        <a:t>Mean Square Error</a:t>
                      </a:r>
                    </a:p>
                  </a:txBody>
                  <a:tcPr/>
                </a:tc>
                <a:extLst>
                  <a:ext uri="{0D108BD9-81ED-4DB2-BD59-A6C34878D82A}">
                    <a16:rowId xmlns:a16="http://schemas.microsoft.com/office/drawing/2014/main" val="2297463969"/>
                  </a:ext>
                </a:extLst>
              </a:tr>
              <a:tr h="523056">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r>
                        <a:rPr lang="en-IN" dirty="0">
                          <a:latin typeface="Times New Roman" panose="02020603050405020304" pitchFamily="18" charset="0"/>
                          <a:cs typeface="Times New Roman" panose="02020603050405020304" pitchFamily="18" charset="0"/>
                        </a:rPr>
                        <a:t>Activation Function</a:t>
                      </a:r>
                    </a:p>
                  </a:txBody>
                  <a:tcPr/>
                </a:tc>
                <a:tc>
                  <a:txBody>
                    <a:bodyPr/>
                    <a:lstStyle/>
                    <a:p>
                      <a:r>
                        <a:rPr lang="en-IN" dirty="0">
                          <a:latin typeface="Times New Roman" panose="02020603050405020304" pitchFamily="18" charset="0"/>
                          <a:cs typeface="Times New Roman" panose="02020603050405020304" pitchFamily="18" charset="0"/>
                        </a:rPr>
                        <a:t>Tanh</a:t>
                      </a:r>
                    </a:p>
                  </a:txBody>
                  <a:tcPr/>
                </a:tc>
                <a:extLst>
                  <a:ext uri="{0D108BD9-81ED-4DB2-BD59-A6C34878D82A}">
                    <a16:rowId xmlns:a16="http://schemas.microsoft.com/office/drawing/2014/main" val="1532876277"/>
                  </a:ext>
                </a:extLst>
              </a:tr>
            </a:tbl>
          </a:graphicData>
        </a:graphic>
      </p:graphicFrame>
      <p:pic>
        <p:nvPicPr>
          <p:cNvPr id="5" name="Picture 4">
            <a:extLst>
              <a:ext uri="{FF2B5EF4-FFF2-40B4-BE49-F238E27FC236}">
                <a16:creationId xmlns:a16="http://schemas.microsoft.com/office/drawing/2014/main" id="{EF0FD3E4-9DF8-55AD-AF5C-ADB3B981E99D}"/>
              </a:ext>
            </a:extLst>
          </p:cNvPr>
          <p:cNvPicPr>
            <a:picLocks noChangeAspect="1"/>
          </p:cNvPicPr>
          <p:nvPr/>
        </p:nvPicPr>
        <p:blipFill>
          <a:blip r:embed="rId4"/>
          <a:stretch>
            <a:fillRect/>
          </a:stretch>
        </p:blipFill>
        <p:spPr>
          <a:xfrm>
            <a:off x="6056967" y="993197"/>
            <a:ext cx="2472527" cy="3867083"/>
          </a:xfrm>
          <a:prstGeom prst="rect">
            <a:avLst/>
          </a:prstGeom>
        </p:spPr>
      </p:pic>
      <p:sp>
        <p:nvSpPr>
          <p:cNvPr id="8" name="TextBox 7">
            <a:extLst>
              <a:ext uri="{FF2B5EF4-FFF2-40B4-BE49-F238E27FC236}">
                <a16:creationId xmlns:a16="http://schemas.microsoft.com/office/drawing/2014/main" id="{A3B31233-5766-AF42-9AFA-E649C1947DA7}"/>
              </a:ext>
            </a:extLst>
          </p:cNvPr>
          <p:cNvSpPr txBox="1"/>
          <p:nvPr/>
        </p:nvSpPr>
        <p:spPr>
          <a:xfrm>
            <a:off x="1286540" y="4075361"/>
            <a:ext cx="4421734" cy="307777"/>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Table:5 Hyperparameters of Bi-LSTM</a:t>
            </a:r>
          </a:p>
        </p:txBody>
      </p:sp>
    </p:spTree>
    <p:extLst>
      <p:ext uri="{BB962C8B-B14F-4D97-AF65-F5344CB8AC3E}">
        <p14:creationId xmlns:p14="http://schemas.microsoft.com/office/powerpoint/2010/main" val="2674150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83219"/>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Model Description – GRU</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9" name="Google Shape;69;p14"/>
          <p:cNvSpPr txBox="1">
            <a:spLocks noGrp="1"/>
          </p:cNvSpPr>
          <p:nvPr>
            <p:ph type="subTitle" idx="1"/>
          </p:nvPr>
        </p:nvSpPr>
        <p:spPr>
          <a:xfrm>
            <a:off x="457201" y="993198"/>
            <a:ext cx="8420986" cy="4069141"/>
          </a:xfrm>
          <a:prstGeom prst="rect">
            <a:avLst/>
          </a:prstGeom>
        </p:spPr>
        <p:txBody>
          <a:bodyPr spcFirstLastPara="1" wrap="square" lIns="91425" tIns="45700" rIns="91425" bIns="45700" anchor="t" anchorCtr="0">
            <a:noAutofit/>
          </a:bodyPr>
          <a:lstStyle/>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a:p>
            <a:pPr marL="25400" indent="0" algn="just" rtl="0" fontAlgn="base">
              <a:spcBef>
                <a:spcPts val="100"/>
              </a:spcBef>
            </a:pPr>
            <a:endParaRPr lang="en-US" sz="1500" dirty="0">
              <a:solidFill>
                <a:schemeClr val="tx1"/>
              </a:solidFill>
              <a:latin typeface="Lato" panose="020F0502020204030203" pitchFamily="34" charset="0"/>
            </a:endParaRPr>
          </a:p>
        </p:txBody>
      </p:sp>
      <p:cxnSp>
        <p:nvCxnSpPr>
          <p:cNvPr id="3" name="Straight Connector 2">
            <a:extLst>
              <a:ext uri="{FF2B5EF4-FFF2-40B4-BE49-F238E27FC236}">
                <a16:creationId xmlns:a16="http://schemas.microsoft.com/office/drawing/2014/main" id="{699FC9DE-0A42-759D-1FF2-925F39A05C0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36F0400-224E-C2E1-699D-8C9F63ED244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28</a:t>
            </a:r>
          </a:p>
        </p:txBody>
      </p:sp>
      <p:graphicFrame>
        <p:nvGraphicFramePr>
          <p:cNvPr id="18" name="Table 18">
            <a:extLst>
              <a:ext uri="{FF2B5EF4-FFF2-40B4-BE49-F238E27FC236}">
                <a16:creationId xmlns:a16="http://schemas.microsoft.com/office/drawing/2014/main" id="{C9D3936D-B42F-58BC-1E96-8D75D5BDC904}"/>
              </a:ext>
            </a:extLst>
          </p:cNvPr>
          <p:cNvGraphicFramePr>
            <a:graphicFrameLocks noGrp="1"/>
          </p:cNvGraphicFramePr>
          <p:nvPr>
            <p:extLst>
              <p:ext uri="{D42A27DB-BD31-4B8C-83A1-F6EECF244321}">
                <p14:modId xmlns:p14="http://schemas.microsoft.com/office/powerpoint/2010/main" val="680383924"/>
              </p:ext>
            </p:extLst>
          </p:nvPr>
        </p:nvGraphicFramePr>
        <p:xfrm>
          <a:off x="978196" y="1385583"/>
          <a:ext cx="4136065" cy="2492208"/>
        </p:xfrm>
        <a:graphic>
          <a:graphicData uri="http://schemas.openxmlformats.org/drawingml/2006/table">
            <a:tbl>
              <a:tblPr firstRow="1" bandRow="1">
                <a:tableStyleId>{616DA210-FB5B-4158-B5E0-FEB733F419BA}</a:tableStyleId>
              </a:tblPr>
              <a:tblGrid>
                <a:gridCol w="600290">
                  <a:extLst>
                    <a:ext uri="{9D8B030D-6E8A-4147-A177-3AD203B41FA5}">
                      <a16:colId xmlns:a16="http://schemas.microsoft.com/office/drawing/2014/main" val="2306678989"/>
                    </a:ext>
                  </a:extLst>
                </a:gridCol>
                <a:gridCol w="1716483">
                  <a:extLst>
                    <a:ext uri="{9D8B030D-6E8A-4147-A177-3AD203B41FA5}">
                      <a16:colId xmlns:a16="http://schemas.microsoft.com/office/drawing/2014/main" val="2007353360"/>
                    </a:ext>
                  </a:extLst>
                </a:gridCol>
                <a:gridCol w="1819292">
                  <a:extLst>
                    <a:ext uri="{9D8B030D-6E8A-4147-A177-3AD203B41FA5}">
                      <a16:colId xmlns:a16="http://schemas.microsoft.com/office/drawing/2014/main" val="2136173630"/>
                    </a:ext>
                  </a:extLst>
                </a:gridCol>
              </a:tblGrid>
              <a:tr h="523056">
                <a:tc>
                  <a:txBody>
                    <a:bodyPr/>
                    <a:lstStyle/>
                    <a:p>
                      <a:r>
                        <a:rPr lang="en-IN" dirty="0">
                          <a:latin typeface="Times New Roman" panose="02020603050405020304" pitchFamily="18" charset="0"/>
                          <a:cs typeface="Times New Roman" panose="02020603050405020304" pitchFamily="18" charset="0"/>
                        </a:rPr>
                        <a:t>Sr. No.</a:t>
                      </a:r>
                    </a:p>
                  </a:txBody>
                  <a:tcPr/>
                </a:tc>
                <a:tc>
                  <a:txBody>
                    <a:bodyPr/>
                    <a:lstStyle/>
                    <a:p>
                      <a:r>
                        <a:rPr lang="en-IN" dirty="0">
                          <a:latin typeface="Times New Roman" panose="02020603050405020304" pitchFamily="18" charset="0"/>
                          <a:cs typeface="Times New Roman" panose="02020603050405020304" pitchFamily="18" charset="0"/>
                        </a:rPr>
                        <a:t>Hyperparameters</a:t>
                      </a:r>
                    </a:p>
                  </a:txBody>
                  <a:tcPr/>
                </a:tc>
                <a:tc>
                  <a:txBody>
                    <a:bodyPr/>
                    <a:lstStyle/>
                    <a:p>
                      <a:r>
                        <a:rPr lang="en-IN" dirty="0">
                          <a:latin typeface="Times New Roman" panose="02020603050405020304" pitchFamily="18" charset="0"/>
                          <a:cs typeface="Times New Roman" panose="02020603050405020304" pitchFamily="18" charset="0"/>
                        </a:rPr>
                        <a:t>Value</a:t>
                      </a:r>
                    </a:p>
                  </a:txBody>
                  <a:tcPr/>
                </a:tc>
                <a:extLst>
                  <a:ext uri="{0D108BD9-81ED-4DB2-BD59-A6C34878D82A}">
                    <a16:rowId xmlns:a16="http://schemas.microsoft.com/office/drawing/2014/main" val="2868335956"/>
                  </a:ext>
                </a:extLst>
              </a:tr>
              <a:tr h="307680">
                <a:tc>
                  <a:txBody>
                    <a:bodyPr/>
                    <a:lstStyle/>
                    <a:p>
                      <a:r>
                        <a:rPr lang="en-IN" dirty="0">
                          <a:latin typeface="Times New Roman" panose="02020603050405020304" pitchFamily="18" charset="0"/>
                          <a:cs typeface="Times New Roman" panose="02020603050405020304" pitchFamily="18" charset="0"/>
                        </a:rPr>
                        <a:t>1</a:t>
                      </a:r>
                    </a:p>
                  </a:txBody>
                  <a:tcPr/>
                </a:tc>
                <a:tc>
                  <a:txBody>
                    <a:bodyPr/>
                    <a:lstStyle/>
                    <a:p>
                      <a:r>
                        <a:rPr lang="en-IN" dirty="0">
                          <a:latin typeface="Times New Roman" panose="02020603050405020304" pitchFamily="18" charset="0"/>
                          <a:cs typeface="Times New Roman" panose="02020603050405020304" pitchFamily="18" charset="0"/>
                        </a:rPr>
                        <a:t>Batch Size</a:t>
                      </a:r>
                    </a:p>
                  </a:txBody>
                  <a:tcPr/>
                </a:tc>
                <a:tc>
                  <a:txBody>
                    <a:bodyPr/>
                    <a:lstStyle/>
                    <a:p>
                      <a:r>
                        <a:rPr lang="en-IN" dirty="0">
                          <a:latin typeface="Times New Roman" panose="02020603050405020304" pitchFamily="18" charset="0"/>
                          <a:cs typeface="Times New Roman" panose="02020603050405020304" pitchFamily="18" charset="0"/>
                        </a:rPr>
                        <a:t>32</a:t>
                      </a:r>
                    </a:p>
                  </a:txBody>
                  <a:tcPr/>
                </a:tc>
                <a:extLst>
                  <a:ext uri="{0D108BD9-81ED-4DB2-BD59-A6C34878D82A}">
                    <a16:rowId xmlns:a16="http://schemas.microsoft.com/office/drawing/2014/main" val="3472521335"/>
                  </a:ext>
                </a:extLst>
              </a:tr>
              <a:tr h="307680">
                <a:tc>
                  <a:txBody>
                    <a:bodyPr/>
                    <a:lstStyle/>
                    <a:p>
                      <a:r>
                        <a:rPr lang="en-IN" dirty="0">
                          <a:latin typeface="Times New Roman" panose="02020603050405020304" pitchFamily="18" charset="0"/>
                          <a:cs typeface="Times New Roman" panose="02020603050405020304" pitchFamily="18" charset="0"/>
                        </a:rPr>
                        <a:t>2</a:t>
                      </a:r>
                    </a:p>
                  </a:txBody>
                  <a:tcPr/>
                </a:tc>
                <a:tc>
                  <a:txBody>
                    <a:bodyPr/>
                    <a:lstStyle/>
                    <a:p>
                      <a:r>
                        <a:rPr lang="en-IN" dirty="0">
                          <a:latin typeface="Times New Roman" panose="02020603050405020304" pitchFamily="18" charset="0"/>
                          <a:cs typeface="Times New Roman" panose="02020603050405020304" pitchFamily="18" charset="0"/>
                        </a:rPr>
                        <a:t>Epochs</a:t>
                      </a:r>
                    </a:p>
                  </a:txBody>
                  <a:tcPr/>
                </a:tc>
                <a:tc>
                  <a:txBody>
                    <a:bodyPr/>
                    <a:lstStyle/>
                    <a:p>
                      <a:r>
                        <a:rPr lang="en-IN" dirty="0">
                          <a:latin typeface="Times New Roman" panose="02020603050405020304" pitchFamily="18" charset="0"/>
                          <a:cs typeface="Times New Roman" panose="02020603050405020304" pitchFamily="18" charset="0"/>
                        </a:rPr>
                        <a:t>500</a:t>
                      </a:r>
                    </a:p>
                  </a:txBody>
                  <a:tcPr/>
                </a:tc>
                <a:extLst>
                  <a:ext uri="{0D108BD9-81ED-4DB2-BD59-A6C34878D82A}">
                    <a16:rowId xmlns:a16="http://schemas.microsoft.com/office/drawing/2014/main" val="672385276"/>
                  </a:ext>
                </a:extLst>
              </a:tr>
              <a:tr h="307680">
                <a:tc>
                  <a:txBody>
                    <a:bodyPr/>
                    <a:lstStyle/>
                    <a:p>
                      <a:r>
                        <a:rPr lang="en-IN" dirty="0">
                          <a:latin typeface="Times New Roman" panose="02020603050405020304" pitchFamily="18" charset="0"/>
                          <a:cs typeface="Times New Roman" panose="02020603050405020304" pitchFamily="18" charset="0"/>
                        </a:rPr>
                        <a:t>3</a:t>
                      </a:r>
                    </a:p>
                  </a:txBody>
                  <a:tcPr/>
                </a:tc>
                <a:tc>
                  <a:txBody>
                    <a:bodyPr/>
                    <a:lstStyle/>
                    <a:p>
                      <a:r>
                        <a:rPr lang="en-IN" dirty="0">
                          <a:latin typeface="Times New Roman" panose="02020603050405020304" pitchFamily="18" charset="0"/>
                          <a:cs typeface="Times New Roman" panose="02020603050405020304" pitchFamily="18" charset="0"/>
                        </a:rPr>
                        <a:t>Optimizer</a:t>
                      </a:r>
                    </a:p>
                  </a:txBody>
                  <a:tcPr/>
                </a:tc>
                <a:tc>
                  <a:txBody>
                    <a:bodyPr/>
                    <a:lstStyle/>
                    <a:p>
                      <a:r>
                        <a:rPr lang="en-IN" dirty="0">
                          <a:latin typeface="Times New Roman" panose="02020603050405020304" pitchFamily="18" charset="0"/>
                          <a:cs typeface="Times New Roman" panose="02020603050405020304" pitchFamily="18" charset="0"/>
                        </a:rPr>
                        <a:t>Adam</a:t>
                      </a:r>
                    </a:p>
                  </a:txBody>
                  <a:tcPr/>
                </a:tc>
                <a:extLst>
                  <a:ext uri="{0D108BD9-81ED-4DB2-BD59-A6C34878D82A}">
                    <a16:rowId xmlns:a16="http://schemas.microsoft.com/office/drawing/2014/main" val="354190996"/>
                  </a:ext>
                </a:extLst>
              </a:tr>
              <a:tr h="523056">
                <a:tc>
                  <a:txBody>
                    <a:bodyPr/>
                    <a:lstStyle/>
                    <a:p>
                      <a:r>
                        <a:rPr lang="en-IN" dirty="0">
                          <a:latin typeface="Times New Roman" panose="02020603050405020304" pitchFamily="18" charset="0"/>
                          <a:cs typeface="Times New Roman" panose="02020603050405020304" pitchFamily="18" charset="0"/>
                        </a:rPr>
                        <a:t>4</a:t>
                      </a:r>
                    </a:p>
                  </a:txBody>
                  <a:tcPr/>
                </a:tc>
                <a:tc>
                  <a:txBody>
                    <a:bodyPr/>
                    <a:lstStyle/>
                    <a:p>
                      <a:r>
                        <a:rPr lang="en-IN" dirty="0">
                          <a:latin typeface="Times New Roman" panose="02020603050405020304" pitchFamily="18" charset="0"/>
                          <a:cs typeface="Times New Roman" panose="02020603050405020304" pitchFamily="18" charset="0"/>
                        </a:rPr>
                        <a:t>Loss Function</a:t>
                      </a:r>
                    </a:p>
                  </a:txBody>
                  <a:tcPr/>
                </a:tc>
                <a:tc>
                  <a:txBody>
                    <a:bodyPr/>
                    <a:lstStyle/>
                    <a:p>
                      <a:r>
                        <a:rPr lang="en-IN" dirty="0">
                          <a:latin typeface="Times New Roman" panose="02020603050405020304" pitchFamily="18" charset="0"/>
                          <a:cs typeface="Times New Roman" panose="02020603050405020304" pitchFamily="18" charset="0"/>
                        </a:rPr>
                        <a:t>Mean Square Error</a:t>
                      </a:r>
                    </a:p>
                  </a:txBody>
                  <a:tcPr/>
                </a:tc>
                <a:extLst>
                  <a:ext uri="{0D108BD9-81ED-4DB2-BD59-A6C34878D82A}">
                    <a16:rowId xmlns:a16="http://schemas.microsoft.com/office/drawing/2014/main" val="2297463969"/>
                  </a:ext>
                </a:extLst>
              </a:tr>
              <a:tr h="523056">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r>
                        <a:rPr lang="en-IN" dirty="0">
                          <a:latin typeface="Times New Roman" panose="02020603050405020304" pitchFamily="18" charset="0"/>
                          <a:cs typeface="Times New Roman" panose="02020603050405020304" pitchFamily="18" charset="0"/>
                        </a:rPr>
                        <a:t>Activation Function</a:t>
                      </a:r>
                    </a:p>
                  </a:txBody>
                  <a:tcPr/>
                </a:tc>
                <a:tc>
                  <a:txBody>
                    <a:bodyPr/>
                    <a:lstStyle/>
                    <a:p>
                      <a:r>
                        <a:rPr lang="en-IN" dirty="0">
                          <a:latin typeface="Times New Roman" panose="02020603050405020304" pitchFamily="18" charset="0"/>
                          <a:cs typeface="Times New Roman" panose="02020603050405020304" pitchFamily="18" charset="0"/>
                        </a:rPr>
                        <a:t>Tanh</a:t>
                      </a:r>
                    </a:p>
                  </a:txBody>
                  <a:tcPr/>
                </a:tc>
                <a:extLst>
                  <a:ext uri="{0D108BD9-81ED-4DB2-BD59-A6C34878D82A}">
                    <a16:rowId xmlns:a16="http://schemas.microsoft.com/office/drawing/2014/main" val="1532876277"/>
                  </a:ext>
                </a:extLst>
              </a:tr>
            </a:tbl>
          </a:graphicData>
        </a:graphic>
      </p:graphicFrame>
      <p:pic>
        <p:nvPicPr>
          <p:cNvPr id="9" name="Picture 8">
            <a:extLst>
              <a:ext uri="{FF2B5EF4-FFF2-40B4-BE49-F238E27FC236}">
                <a16:creationId xmlns:a16="http://schemas.microsoft.com/office/drawing/2014/main" id="{55EA5F58-2158-666E-4531-5151053558C1}"/>
              </a:ext>
            </a:extLst>
          </p:cNvPr>
          <p:cNvPicPr>
            <a:picLocks noChangeAspect="1"/>
          </p:cNvPicPr>
          <p:nvPr/>
        </p:nvPicPr>
        <p:blipFill>
          <a:blip r:embed="rId4"/>
          <a:stretch>
            <a:fillRect/>
          </a:stretch>
        </p:blipFill>
        <p:spPr>
          <a:xfrm>
            <a:off x="6180897" y="993198"/>
            <a:ext cx="2472527" cy="3946027"/>
          </a:xfrm>
          <a:prstGeom prst="rect">
            <a:avLst/>
          </a:prstGeom>
        </p:spPr>
      </p:pic>
      <p:sp>
        <p:nvSpPr>
          <p:cNvPr id="11" name="TextBox 10">
            <a:extLst>
              <a:ext uri="{FF2B5EF4-FFF2-40B4-BE49-F238E27FC236}">
                <a16:creationId xmlns:a16="http://schemas.microsoft.com/office/drawing/2014/main" id="{FB578020-F9AE-9145-575F-FEA016F1DB70}"/>
              </a:ext>
            </a:extLst>
          </p:cNvPr>
          <p:cNvSpPr txBox="1"/>
          <p:nvPr/>
        </p:nvSpPr>
        <p:spPr>
          <a:xfrm>
            <a:off x="1160852" y="4008399"/>
            <a:ext cx="4795282" cy="307777"/>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     Table:6 Hyperparameters of GRU</a:t>
            </a:r>
          </a:p>
        </p:txBody>
      </p:sp>
    </p:spTree>
    <p:extLst>
      <p:ext uri="{BB962C8B-B14F-4D97-AF65-F5344CB8AC3E}">
        <p14:creationId xmlns:p14="http://schemas.microsoft.com/office/powerpoint/2010/main" val="2100896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Challenges Faced</a:t>
            </a:r>
          </a:p>
        </p:txBody>
      </p:sp>
      <p:sp>
        <p:nvSpPr>
          <p:cNvPr id="11" name="TextBox 10">
            <a:extLst>
              <a:ext uri="{FF2B5EF4-FFF2-40B4-BE49-F238E27FC236}">
                <a16:creationId xmlns:a16="http://schemas.microsoft.com/office/drawing/2014/main" id="{43E70813-F55D-B34E-4538-2BB695D42F4E}"/>
              </a:ext>
            </a:extLst>
          </p:cNvPr>
          <p:cNvSpPr txBox="1"/>
          <p:nvPr/>
        </p:nvSpPr>
        <p:spPr>
          <a:xfrm>
            <a:off x="708463" y="1261438"/>
            <a:ext cx="7379887" cy="2800767"/>
          </a:xfrm>
          <a:prstGeom prst="rect">
            <a:avLst/>
          </a:prstGeom>
          <a:noFill/>
        </p:spPr>
        <p:txBody>
          <a:bodyPr wrap="square">
            <a:spAutoFit/>
          </a:bodyPr>
          <a:lstStyle/>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Threshold Parameter Tuning</a:t>
            </a:r>
          </a:p>
          <a:p>
            <a:pPr marL="285750" indent="-285750" algn="jus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Uneven Length of Cyclone Data</a:t>
            </a:r>
          </a:p>
          <a:p>
            <a:pPr marL="285750" indent="-285750" algn="jus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Batch size and Memory Limit</a:t>
            </a:r>
          </a:p>
          <a:p>
            <a:pPr marL="285750" indent="-285750" algn="jus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Hyperparameter Tuning</a:t>
            </a:r>
          </a:p>
          <a:p>
            <a:pPr marL="285750" indent="-285750" algn="jus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Problem of Overfitting</a:t>
            </a:r>
          </a:p>
          <a:p>
            <a:pPr marL="285750" indent="-285750" algn="jus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Limited support of GPU</a:t>
            </a:r>
            <a:endParaRPr lang="en-US" sz="1600" b="1"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F1C08E13-94FC-9DDD-5E34-EC3A7F68F80B}"/>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E9D0CB73-C416-411F-4632-FE15C69D3A58}"/>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29</a:t>
            </a:r>
          </a:p>
        </p:txBody>
      </p:sp>
    </p:spTree>
    <p:extLst>
      <p:ext uri="{BB962C8B-B14F-4D97-AF65-F5344CB8AC3E}">
        <p14:creationId xmlns:p14="http://schemas.microsoft.com/office/powerpoint/2010/main" val="1342889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Training Loss vs Epochs</a:t>
            </a:r>
          </a:p>
        </p:txBody>
      </p:sp>
      <p:pic>
        <p:nvPicPr>
          <p:cNvPr id="6" name="Picture 5">
            <a:extLst>
              <a:ext uri="{FF2B5EF4-FFF2-40B4-BE49-F238E27FC236}">
                <a16:creationId xmlns:a16="http://schemas.microsoft.com/office/drawing/2014/main" id="{8B6E56ED-CFAF-4257-AAFB-36028CF54F14}"/>
              </a:ext>
            </a:extLst>
          </p:cNvPr>
          <p:cNvPicPr>
            <a:picLocks noChangeAspect="1"/>
          </p:cNvPicPr>
          <p:nvPr/>
        </p:nvPicPr>
        <p:blipFill>
          <a:blip r:embed="rId3"/>
          <a:stretch>
            <a:fillRect/>
          </a:stretch>
        </p:blipFill>
        <p:spPr>
          <a:xfrm>
            <a:off x="3096767" y="1323276"/>
            <a:ext cx="3103313" cy="2207941"/>
          </a:xfrm>
          <a:prstGeom prst="rect">
            <a:avLst/>
          </a:prstGeom>
        </p:spPr>
      </p:pic>
      <p:pic>
        <p:nvPicPr>
          <p:cNvPr id="8" name="Picture 7">
            <a:extLst>
              <a:ext uri="{FF2B5EF4-FFF2-40B4-BE49-F238E27FC236}">
                <a16:creationId xmlns:a16="http://schemas.microsoft.com/office/drawing/2014/main" id="{0250B324-7263-1D67-0EE3-C8A8F717D246}"/>
              </a:ext>
            </a:extLst>
          </p:cNvPr>
          <p:cNvPicPr>
            <a:picLocks noChangeAspect="1"/>
          </p:cNvPicPr>
          <p:nvPr/>
        </p:nvPicPr>
        <p:blipFill>
          <a:blip r:embed="rId4"/>
          <a:stretch>
            <a:fillRect/>
          </a:stretch>
        </p:blipFill>
        <p:spPr>
          <a:xfrm>
            <a:off x="6111024" y="1369778"/>
            <a:ext cx="3032976" cy="2069393"/>
          </a:xfrm>
          <a:prstGeom prst="rect">
            <a:avLst/>
          </a:prstGeom>
        </p:spPr>
      </p:pic>
      <p:pic>
        <p:nvPicPr>
          <p:cNvPr id="10" name="Picture 9">
            <a:extLst>
              <a:ext uri="{FF2B5EF4-FFF2-40B4-BE49-F238E27FC236}">
                <a16:creationId xmlns:a16="http://schemas.microsoft.com/office/drawing/2014/main" id="{05028A83-C92A-C89E-0CAD-0CF5A54C416D}"/>
              </a:ext>
            </a:extLst>
          </p:cNvPr>
          <p:cNvPicPr>
            <a:picLocks noChangeAspect="1"/>
          </p:cNvPicPr>
          <p:nvPr/>
        </p:nvPicPr>
        <p:blipFill rotWithShape="1">
          <a:blip r:embed="rId5"/>
          <a:srcRect r="14030"/>
          <a:stretch/>
        </p:blipFill>
        <p:spPr>
          <a:xfrm>
            <a:off x="273566" y="1392551"/>
            <a:ext cx="2670356" cy="2010834"/>
          </a:xfrm>
          <a:prstGeom prst="rect">
            <a:avLst/>
          </a:prstGeom>
        </p:spPr>
      </p:pic>
      <p:sp>
        <p:nvSpPr>
          <p:cNvPr id="11" name="TextBox 10">
            <a:extLst>
              <a:ext uri="{FF2B5EF4-FFF2-40B4-BE49-F238E27FC236}">
                <a16:creationId xmlns:a16="http://schemas.microsoft.com/office/drawing/2014/main" id="{43E70813-F55D-B34E-4538-2BB695D42F4E}"/>
              </a:ext>
            </a:extLst>
          </p:cNvPr>
          <p:cNvSpPr txBox="1"/>
          <p:nvPr/>
        </p:nvSpPr>
        <p:spPr>
          <a:xfrm>
            <a:off x="493623" y="4099540"/>
            <a:ext cx="2430966" cy="830997"/>
          </a:xfrm>
          <a:prstGeom prst="rect">
            <a:avLst/>
          </a:prstGeom>
          <a:noFill/>
        </p:spPr>
        <p:txBody>
          <a:bodyPr wrap="square">
            <a:spAutoFit/>
          </a:bodyPr>
          <a:lstStyle/>
          <a:p>
            <a:pPr algn="ctr"/>
            <a:r>
              <a:rPr lang="en-US" sz="1600" b="1" dirty="0">
                <a:solidFill>
                  <a:srgbClr val="C00000"/>
                </a:solidFill>
                <a:latin typeface="Times New Roman" panose="02020603050405020304" pitchFamily="18" charset="0"/>
                <a:cs typeface="Times New Roman" panose="02020603050405020304" pitchFamily="18" charset="0"/>
              </a:rPr>
              <a:t>RNN Model</a:t>
            </a:r>
          </a:p>
          <a:p>
            <a:pPr algn="ctr"/>
            <a:r>
              <a:rPr lang="en-US" sz="1600" b="1" dirty="0">
                <a:latin typeface="Times New Roman" panose="02020603050405020304" pitchFamily="18" charset="0"/>
                <a:cs typeface="Times New Roman" panose="02020603050405020304" pitchFamily="18" charset="0"/>
              </a:rPr>
              <a:t>Training Loss: 5.07 x 10</a:t>
            </a:r>
            <a:r>
              <a:rPr lang="en-US" sz="1600" b="1" baseline="30000" dirty="0">
                <a:latin typeface="Times New Roman" panose="02020603050405020304" pitchFamily="18" charset="0"/>
                <a:cs typeface="Times New Roman" panose="02020603050405020304" pitchFamily="18" charset="0"/>
              </a:rPr>
              <a:t>-4</a:t>
            </a:r>
            <a:r>
              <a:rPr lang="en-US" sz="1600" b="1" dirty="0">
                <a:latin typeface="Times New Roman" panose="02020603050405020304" pitchFamily="18" charset="0"/>
                <a:cs typeface="Times New Roman" panose="02020603050405020304" pitchFamily="18" charset="0"/>
              </a:rPr>
              <a:t> </a:t>
            </a:r>
          </a:p>
          <a:p>
            <a:pPr algn="ctr"/>
            <a:endParaRPr lang="en-IN" sz="16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4174F9E-FCCA-4598-83D7-2FB1FE658398}"/>
              </a:ext>
            </a:extLst>
          </p:cNvPr>
          <p:cNvSpPr txBox="1"/>
          <p:nvPr/>
        </p:nvSpPr>
        <p:spPr>
          <a:xfrm>
            <a:off x="3386255" y="4099540"/>
            <a:ext cx="2639122" cy="1077218"/>
          </a:xfrm>
          <a:prstGeom prst="rect">
            <a:avLst/>
          </a:prstGeom>
          <a:noFill/>
        </p:spPr>
        <p:txBody>
          <a:bodyPr wrap="square">
            <a:spAutoFit/>
          </a:bodyPr>
          <a:lstStyle/>
          <a:p>
            <a:pPr algn="ctr"/>
            <a:r>
              <a:rPr lang="en-US" sz="1600" b="1" dirty="0">
                <a:solidFill>
                  <a:srgbClr val="C00000"/>
                </a:solidFill>
                <a:latin typeface="Times New Roman" panose="02020603050405020304" pitchFamily="18" charset="0"/>
                <a:cs typeface="Times New Roman" panose="02020603050405020304" pitchFamily="18" charset="0"/>
              </a:rPr>
              <a:t>Bi-LSTM Model</a:t>
            </a:r>
          </a:p>
          <a:p>
            <a:pPr algn="ctr"/>
            <a:r>
              <a:rPr lang="en-US" sz="1600" b="1" dirty="0">
                <a:latin typeface="Times New Roman" panose="02020603050405020304" pitchFamily="18" charset="0"/>
                <a:cs typeface="Times New Roman" panose="02020603050405020304" pitchFamily="18" charset="0"/>
              </a:rPr>
              <a:t>Training Loss: 1.842 x 10</a:t>
            </a:r>
            <a:r>
              <a:rPr lang="en-US" sz="1600" b="1" baseline="30000" dirty="0">
                <a:latin typeface="Times New Roman" panose="02020603050405020304" pitchFamily="18" charset="0"/>
                <a:cs typeface="Times New Roman" panose="02020603050405020304" pitchFamily="18" charset="0"/>
              </a:rPr>
              <a:t>-4</a:t>
            </a:r>
            <a:r>
              <a:rPr lang="en-US" sz="1600" b="1" dirty="0">
                <a:latin typeface="Times New Roman" panose="02020603050405020304" pitchFamily="18" charset="0"/>
                <a:cs typeface="Times New Roman" panose="02020603050405020304" pitchFamily="18" charset="0"/>
              </a:rPr>
              <a:t> </a:t>
            </a:r>
          </a:p>
          <a:p>
            <a:pPr algn="just"/>
            <a:endParaRPr lang="en-US" sz="1600" b="1" dirty="0">
              <a:latin typeface="Times New Roman" panose="02020603050405020304" pitchFamily="18" charset="0"/>
              <a:cs typeface="Times New Roman" panose="02020603050405020304" pitchFamily="18" charset="0"/>
            </a:endParaRPr>
          </a:p>
          <a:p>
            <a:pPr algn="just"/>
            <a:endParaRPr lang="en-IN" sz="16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08A2863-165D-55F6-66D4-6D382ED0D4D1}"/>
              </a:ext>
            </a:extLst>
          </p:cNvPr>
          <p:cNvSpPr txBox="1"/>
          <p:nvPr/>
        </p:nvSpPr>
        <p:spPr>
          <a:xfrm>
            <a:off x="6300442" y="4099540"/>
            <a:ext cx="2843558" cy="1077218"/>
          </a:xfrm>
          <a:prstGeom prst="rect">
            <a:avLst/>
          </a:prstGeom>
          <a:noFill/>
        </p:spPr>
        <p:txBody>
          <a:bodyPr wrap="square">
            <a:spAutoFit/>
          </a:bodyPr>
          <a:lstStyle/>
          <a:p>
            <a:pPr algn="ctr"/>
            <a:r>
              <a:rPr lang="en-US" sz="1600" b="1" dirty="0">
                <a:solidFill>
                  <a:srgbClr val="C00000"/>
                </a:solidFill>
                <a:latin typeface="Times New Roman" panose="02020603050405020304" pitchFamily="18" charset="0"/>
                <a:cs typeface="Times New Roman" panose="02020603050405020304" pitchFamily="18" charset="0"/>
              </a:rPr>
              <a:t>GRU Model</a:t>
            </a:r>
          </a:p>
          <a:p>
            <a:pPr algn="ctr"/>
            <a:r>
              <a:rPr lang="en-US" sz="1600" b="1" dirty="0">
                <a:latin typeface="Times New Roman" panose="02020603050405020304" pitchFamily="18" charset="0"/>
                <a:cs typeface="Times New Roman" panose="02020603050405020304" pitchFamily="18" charset="0"/>
              </a:rPr>
              <a:t>Training Loss: 1.579 x 10</a:t>
            </a:r>
            <a:r>
              <a:rPr lang="en-US" sz="1600" b="1" baseline="30000" dirty="0">
                <a:latin typeface="Times New Roman" panose="02020603050405020304" pitchFamily="18" charset="0"/>
                <a:cs typeface="Times New Roman" panose="02020603050405020304" pitchFamily="18" charset="0"/>
              </a:rPr>
              <a:t>-4</a:t>
            </a:r>
            <a:r>
              <a:rPr lang="en-US" sz="1600" b="1" dirty="0">
                <a:latin typeface="Times New Roman" panose="02020603050405020304" pitchFamily="18" charset="0"/>
                <a:cs typeface="Times New Roman" panose="02020603050405020304" pitchFamily="18" charset="0"/>
              </a:rPr>
              <a:t> </a:t>
            </a:r>
          </a:p>
          <a:p>
            <a:pPr algn="ctr"/>
            <a:endParaRPr lang="en-US" sz="1600" b="1" dirty="0">
              <a:latin typeface="Times New Roman" panose="02020603050405020304" pitchFamily="18" charset="0"/>
              <a:cs typeface="Times New Roman" panose="02020603050405020304" pitchFamily="18" charset="0"/>
            </a:endParaRPr>
          </a:p>
          <a:p>
            <a:pPr algn="ctr"/>
            <a:endParaRPr lang="en-IN" sz="1600" b="1"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20F357A8-74FF-9C54-A6A9-B3D6E9C8939D}"/>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6476CE95-0CB2-3D95-BC6D-A5411CF0A6A0}"/>
              </a:ext>
            </a:extLst>
          </p:cNvPr>
          <p:cNvSpPr txBox="1"/>
          <p:nvPr/>
        </p:nvSpPr>
        <p:spPr>
          <a:xfrm>
            <a:off x="3464466" y="3617699"/>
            <a:ext cx="2798511"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Fig 18: Training Loss vs Epochs</a:t>
            </a:r>
          </a:p>
        </p:txBody>
      </p:sp>
      <p:sp>
        <p:nvSpPr>
          <p:cNvPr id="14" name="TextBox 13">
            <a:extLst>
              <a:ext uri="{FF2B5EF4-FFF2-40B4-BE49-F238E27FC236}">
                <a16:creationId xmlns:a16="http://schemas.microsoft.com/office/drawing/2014/main" id="{31F782CB-850E-EC2C-5C12-E47F670C14D3}"/>
              </a:ext>
            </a:extLst>
          </p:cNvPr>
          <p:cNvSpPr txBox="1"/>
          <p:nvPr/>
        </p:nvSpPr>
        <p:spPr>
          <a:xfrm>
            <a:off x="1386760" y="3386591"/>
            <a:ext cx="443967"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(a)</a:t>
            </a:r>
          </a:p>
        </p:txBody>
      </p:sp>
      <p:sp>
        <p:nvSpPr>
          <p:cNvPr id="15" name="TextBox 14">
            <a:extLst>
              <a:ext uri="{FF2B5EF4-FFF2-40B4-BE49-F238E27FC236}">
                <a16:creationId xmlns:a16="http://schemas.microsoft.com/office/drawing/2014/main" id="{962A3441-DAB6-73FD-598D-BA6BAA75D63D}"/>
              </a:ext>
            </a:extLst>
          </p:cNvPr>
          <p:cNvSpPr txBox="1"/>
          <p:nvPr/>
        </p:nvSpPr>
        <p:spPr>
          <a:xfrm>
            <a:off x="4419755" y="3359237"/>
            <a:ext cx="443967"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(b)</a:t>
            </a:r>
          </a:p>
        </p:txBody>
      </p:sp>
      <p:sp>
        <p:nvSpPr>
          <p:cNvPr id="16" name="TextBox 15">
            <a:extLst>
              <a:ext uri="{FF2B5EF4-FFF2-40B4-BE49-F238E27FC236}">
                <a16:creationId xmlns:a16="http://schemas.microsoft.com/office/drawing/2014/main" id="{28326ECC-247B-46AC-3C84-23F163FF4E2A}"/>
              </a:ext>
            </a:extLst>
          </p:cNvPr>
          <p:cNvSpPr txBox="1"/>
          <p:nvPr/>
        </p:nvSpPr>
        <p:spPr>
          <a:xfrm>
            <a:off x="7453929" y="3403385"/>
            <a:ext cx="443967" cy="276999"/>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(c)</a:t>
            </a:r>
          </a:p>
        </p:txBody>
      </p:sp>
      <p:sp>
        <p:nvSpPr>
          <p:cNvPr id="3" name="TextBox 2">
            <a:extLst>
              <a:ext uri="{FF2B5EF4-FFF2-40B4-BE49-F238E27FC236}">
                <a16:creationId xmlns:a16="http://schemas.microsoft.com/office/drawing/2014/main" id="{66EA5244-17BC-3B60-2730-0898EFF08545}"/>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30</a:t>
            </a:r>
          </a:p>
        </p:txBody>
      </p:sp>
    </p:spTree>
    <p:extLst>
      <p:ext uri="{BB962C8B-B14F-4D97-AF65-F5344CB8AC3E}">
        <p14:creationId xmlns:p14="http://schemas.microsoft.com/office/powerpoint/2010/main" val="2623615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Mean Squared Error Loss</a:t>
            </a:r>
          </a:p>
        </p:txBody>
      </p:sp>
      <p:pic>
        <p:nvPicPr>
          <p:cNvPr id="1028" name="Picture 4" descr="Not Nice Square Error - Emilia Orellana - Medium">
            <a:extLst>
              <a:ext uri="{FF2B5EF4-FFF2-40B4-BE49-F238E27FC236}">
                <a16:creationId xmlns:a16="http://schemas.microsoft.com/office/drawing/2014/main" id="{122622FC-D7B4-4680-7914-AF49DB5114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9391"/>
          <a:stretch/>
        </p:blipFill>
        <p:spPr bwMode="auto">
          <a:xfrm>
            <a:off x="111511" y="1316918"/>
            <a:ext cx="3404840" cy="62556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7176ECA-6B85-FD8F-0E95-7B20CC66FEBB}"/>
              </a:ext>
            </a:extLst>
          </p:cNvPr>
          <p:cNvPicPr>
            <a:picLocks noChangeAspect="1"/>
          </p:cNvPicPr>
          <p:nvPr/>
        </p:nvPicPr>
        <p:blipFill>
          <a:blip r:embed="rId4"/>
          <a:stretch>
            <a:fillRect/>
          </a:stretch>
        </p:blipFill>
        <p:spPr>
          <a:xfrm>
            <a:off x="295507" y="2571750"/>
            <a:ext cx="3627863" cy="1212931"/>
          </a:xfrm>
          <a:prstGeom prst="rect">
            <a:avLst/>
          </a:prstGeom>
        </p:spPr>
      </p:pic>
      <p:pic>
        <p:nvPicPr>
          <p:cNvPr id="7" name="Picture 6">
            <a:extLst>
              <a:ext uri="{FF2B5EF4-FFF2-40B4-BE49-F238E27FC236}">
                <a16:creationId xmlns:a16="http://schemas.microsoft.com/office/drawing/2014/main" id="{506F3CB3-C620-0F71-E384-182E14C520B0}"/>
              </a:ext>
            </a:extLst>
          </p:cNvPr>
          <p:cNvPicPr>
            <a:picLocks noChangeAspect="1"/>
          </p:cNvPicPr>
          <p:nvPr/>
        </p:nvPicPr>
        <p:blipFill>
          <a:blip r:embed="rId5"/>
          <a:stretch>
            <a:fillRect/>
          </a:stretch>
        </p:blipFill>
        <p:spPr>
          <a:xfrm>
            <a:off x="4073912" y="1324314"/>
            <a:ext cx="4507129" cy="2984854"/>
          </a:xfrm>
          <a:prstGeom prst="rect">
            <a:avLst/>
          </a:prstGeom>
        </p:spPr>
      </p:pic>
      <p:cxnSp>
        <p:nvCxnSpPr>
          <p:cNvPr id="2" name="Straight Connector 1">
            <a:extLst>
              <a:ext uri="{FF2B5EF4-FFF2-40B4-BE49-F238E27FC236}">
                <a16:creationId xmlns:a16="http://schemas.microsoft.com/office/drawing/2014/main" id="{A0DBB660-34D5-C8DA-5712-15039442C7DD}"/>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7F957C65-777E-3B34-5878-8400D2E08975}"/>
              </a:ext>
            </a:extLst>
          </p:cNvPr>
          <p:cNvSpPr txBox="1"/>
          <p:nvPr/>
        </p:nvSpPr>
        <p:spPr>
          <a:xfrm>
            <a:off x="889489" y="3784681"/>
            <a:ext cx="2430966"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Table 7: Mean Squared Error</a:t>
            </a:r>
          </a:p>
        </p:txBody>
      </p:sp>
      <p:sp>
        <p:nvSpPr>
          <p:cNvPr id="6" name="TextBox 5">
            <a:extLst>
              <a:ext uri="{FF2B5EF4-FFF2-40B4-BE49-F238E27FC236}">
                <a16:creationId xmlns:a16="http://schemas.microsoft.com/office/drawing/2014/main" id="{3C527CD0-CC74-04A2-2FC5-C7E507CE0DB6}"/>
              </a:ext>
            </a:extLst>
          </p:cNvPr>
          <p:cNvSpPr txBox="1"/>
          <p:nvPr/>
        </p:nvSpPr>
        <p:spPr>
          <a:xfrm>
            <a:off x="4701348" y="4388953"/>
            <a:ext cx="3364700"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19: Mean Squared Error – Graphical Representation</a:t>
            </a:r>
          </a:p>
        </p:txBody>
      </p:sp>
      <p:sp>
        <p:nvSpPr>
          <p:cNvPr id="8" name="TextBox 7">
            <a:extLst>
              <a:ext uri="{FF2B5EF4-FFF2-40B4-BE49-F238E27FC236}">
                <a16:creationId xmlns:a16="http://schemas.microsoft.com/office/drawing/2014/main" id="{7BD2DBF1-51E5-F884-6A41-2D3DDFE33F98}"/>
              </a:ext>
            </a:extLst>
          </p:cNvPr>
          <p:cNvSpPr txBox="1"/>
          <p:nvPr/>
        </p:nvSpPr>
        <p:spPr>
          <a:xfrm>
            <a:off x="1531434" y="1977695"/>
            <a:ext cx="1156010"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Equation 1: MSE</a:t>
            </a:r>
          </a:p>
        </p:txBody>
      </p:sp>
      <p:sp>
        <p:nvSpPr>
          <p:cNvPr id="9" name="TextBox 8">
            <a:extLst>
              <a:ext uri="{FF2B5EF4-FFF2-40B4-BE49-F238E27FC236}">
                <a16:creationId xmlns:a16="http://schemas.microsoft.com/office/drawing/2014/main" id="{41B1B1BF-EAE1-0CD1-D9CA-5EEF87A9FDF1}"/>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31</a:t>
            </a:r>
          </a:p>
        </p:txBody>
      </p:sp>
    </p:spTree>
    <p:extLst>
      <p:ext uri="{BB962C8B-B14F-4D97-AF65-F5344CB8AC3E}">
        <p14:creationId xmlns:p14="http://schemas.microsoft.com/office/powerpoint/2010/main" val="181077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54E9FD-2B78-C55E-CE4C-D840A9D6D84F}"/>
              </a:ext>
            </a:extLst>
          </p:cNvPr>
          <p:cNvPicPr>
            <a:picLocks noChangeAspect="1"/>
          </p:cNvPicPr>
          <p:nvPr/>
        </p:nvPicPr>
        <p:blipFill>
          <a:blip r:embed="rId2"/>
          <a:stretch>
            <a:fillRect/>
          </a:stretch>
        </p:blipFill>
        <p:spPr>
          <a:xfrm>
            <a:off x="1058053" y="1926579"/>
            <a:ext cx="6576630" cy="845893"/>
          </a:xfrm>
          <a:prstGeom prst="rect">
            <a:avLst/>
          </a:prstGeom>
        </p:spPr>
      </p:pic>
      <p:sp>
        <p:nvSpPr>
          <p:cNvPr id="6" name="Google Shape;68;p14">
            <a:extLst>
              <a:ext uri="{FF2B5EF4-FFF2-40B4-BE49-F238E27FC236}">
                <a16:creationId xmlns:a16="http://schemas.microsoft.com/office/drawing/2014/main" id="{D395345B-1AF8-E3F7-D072-22B0E2E08889}"/>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3"/>
                  <a:stretch>
                    <a:fillRect/>
                  </a:stretch>
                </a:blipFill>
                <a:latin typeface="Times New Roman" panose="02020603050405020304" pitchFamily="18" charset="0"/>
                <a:cs typeface="Times New Roman" panose="02020603050405020304" pitchFamily="18" charset="0"/>
              </a:rPr>
            </a:br>
            <a:r>
              <a:rPr lang="en-US" sz="4000" b="1" dirty="0">
                <a:blipFill>
                  <a:blip r:embed="rId3"/>
                  <a:stretch>
                    <a:fillRect/>
                  </a:stretch>
                </a:blipFill>
                <a:latin typeface="Times New Roman" panose="02020603050405020304" pitchFamily="18" charset="0"/>
                <a:cs typeface="Times New Roman" panose="02020603050405020304" pitchFamily="18" charset="0"/>
              </a:rPr>
              <a:t>Distance-wise km Loss</a:t>
            </a:r>
          </a:p>
        </p:txBody>
      </p:sp>
      <p:sp>
        <p:nvSpPr>
          <p:cNvPr id="7" name="TextBox 6">
            <a:extLst>
              <a:ext uri="{FF2B5EF4-FFF2-40B4-BE49-F238E27FC236}">
                <a16:creationId xmlns:a16="http://schemas.microsoft.com/office/drawing/2014/main" id="{FF0991A2-0D3D-BA9F-F703-85AFB6772A15}"/>
              </a:ext>
            </a:extLst>
          </p:cNvPr>
          <p:cNvSpPr txBox="1"/>
          <p:nvPr/>
        </p:nvSpPr>
        <p:spPr>
          <a:xfrm>
            <a:off x="706060" y="1343215"/>
            <a:ext cx="7379887" cy="3293209"/>
          </a:xfrm>
          <a:prstGeom prst="rect">
            <a:avLst/>
          </a:prstGeom>
          <a:noFill/>
        </p:spPr>
        <p:txBody>
          <a:bodyPr wrap="square">
            <a:spAutoFit/>
          </a:bodyPr>
          <a:lstStyle/>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Haversine Formula to calculate distance between two co-ordinates (in kilometre)</a:t>
            </a:r>
          </a:p>
          <a:p>
            <a:pPr algn="just"/>
            <a:endParaRPr lang="en-IN" sz="1600" b="1" dirty="0">
              <a:latin typeface="Times New Roman" panose="02020603050405020304" pitchFamily="18" charset="0"/>
              <a:cs typeface="Times New Roman" panose="02020603050405020304" pitchFamily="18" charset="0"/>
            </a:endParaRPr>
          </a:p>
          <a:p>
            <a:pPr algn="just"/>
            <a:endParaRPr lang="en-IN" sz="1600" b="1" dirty="0">
              <a:latin typeface="Times New Roman" panose="02020603050405020304" pitchFamily="18" charset="0"/>
              <a:cs typeface="Times New Roman" panose="02020603050405020304" pitchFamily="18" charset="0"/>
            </a:endParaRPr>
          </a:p>
          <a:p>
            <a:pPr algn="just"/>
            <a:endParaRPr lang="en-IN" sz="1600" b="1" dirty="0">
              <a:latin typeface="Times New Roman" panose="02020603050405020304" pitchFamily="18" charset="0"/>
              <a:cs typeface="Times New Roman" panose="02020603050405020304" pitchFamily="18" charset="0"/>
            </a:endParaRPr>
          </a:p>
          <a:p>
            <a:pPr algn="just"/>
            <a:endParaRPr lang="en-IN" sz="1600" b="1"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where </a:t>
            </a:r>
          </a:p>
          <a:p>
            <a:pPr algn="just"/>
            <a:r>
              <a:rPr lang="el-GR" sz="1600" b="1" i="0" dirty="0">
                <a:solidFill>
                  <a:srgbClr val="202124"/>
                </a:solidFill>
                <a:effectLst/>
                <a:latin typeface="Times New Roman" panose="02020603050405020304" pitchFamily="18" charset="0"/>
                <a:cs typeface="Times New Roman" panose="02020603050405020304" pitchFamily="18" charset="0"/>
              </a:rPr>
              <a:t>φ</a:t>
            </a:r>
            <a:r>
              <a:rPr lang="en-IN" sz="1600" b="1" dirty="0">
                <a:solidFill>
                  <a:srgbClr val="202124"/>
                </a:solidFill>
                <a:latin typeface="Times New Roman" panose="02020603050405020304" pitchFamily="18" charset="0"/>
                <a:cs typeface="Times New Roman" panose="02020603050405020304" pitchFamily="18" charset="0"/>
              </a:rPr>
              <a:t>1 and </a:t>
            </a:r>
            <a:r>
              <a:rPr lang="el-GR" sz="1600" b="1" i="0" dirty="0">
                <a:solidFill>
                  <a:srgbClr val="202124"/>
                </a:solidFill>
                <a:effectLst/>
                <a:latin typeface="Times New Roman" panose="02020603050405020304" pitchFamily="18" charset="0"/>
                <a:cs typeface="Times New Roman" panose="02020603050405020304" pitchFamily="18" charset="0"/>
              </a:rPr>
              <a:t>φ</a:t>
            </a:r>
            <a:r>
              <a:rPr lang="en-IN" sz="1600" b="1" dirty="0">
                <a:solidFill>
                  <a:srgbClr val="202124"/>
                </a:solidFill>
                <a:latin typeface="Times New Roman" panose="02020603050405020304" pitchFamily="18" charset="0"/>
                <a:cs typeface="Times New Roman" panose="02020603050405020304" pitchFamily="18" charset="0"/>
              </a:rPr>
              <a:t>2 are latitudes</a:t>
            </a:r>
          </a:p>
          <a:p>
            <a:pPr algn="just"/>
            <a:r>
              <a:rPr lang="el-GR" sz="1600" b="1" i="0" dirty="0">
                <a:solidFill>
                  <a:schemeClr val="tx1"/>
                </a:solidFill>
                <a:effectLst/>
                <a:latin typeface="Times New Roman" panose="02020603050405020304" pitchFamily="18" charset="0"/>
                <a:cs typeface="Times New Roman" panose="02020603050405020304" pitchFamily="18" charset="0"/>
              </a:rPr>
              <a:t>λ</a:t>
            </a:r>
            <a:r>
              <a:rPr lang="en-IN" sz="1600" b="1" i="0" dirty="0">
                <a:solidFill>
                  <a:schemeClr val="tx1"/>
                </a:solidFill>
                <a:effectLst/>
                <a:latin typeface="Times New Roman" panose="02020603050405020304" pitchFamily="18" charset="0"/>
                <a:cs typeface="Times New Roman" panose="02020603050405020304" pitchFamily="18" charset="0"/>
              </a:rPr>
              <a:t>1 and </a:t>
            </a:r>
            <a:r>
              <a:rPr lang="el-GR" sz="1600" b="1" i="0" dirty="0">
                <a:solidFill>
                  <a:schemeClr val="tx1"/>
                </a:solidFill>
                <a:effectLst/>
                <a:latin typeface="Times New Roman" panose="02020603050405020304" pitchFamily="18" charset="0"/>
                <a:cs typeface="Times New Roman" panose="02020603050405020304" pitchFamily="18" charset="0"/>
              </a:rPr>
              <a:t>λ</a:t>
            </a:r>
            <a:r>
              <a:rPr lang="en-IN" sz="1600" b="1" i="0" dirty="0">
                <a:solidFill>
                  <a:schemeClr val="tx1"/>
                </a:solidFill>
                <a:effectLst/>
                <a:latin typeface="Times New Roman" panose="02020603050405020304" pitchFamily="18" charset="0"/>
                <a:cs typeface="Times New Roman" panose="02020603050405020304" pitchFamily="18" charset="0"/>
              </a:rPr>
              <a:t>2 are the longitudes</a:t>
            </a:r>
          </a:p>
          <a:p>
            <a:pPr algn="just"/>
            <a:endParaRPr lang="en-IN" sz="1600" b="1" dirty="0">
              <a:solidFill>
                <a:srgbClr val="4D5156"/>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Library used- </a:t>
            </a:r>
            <a:r>
              <a:rPr lang="en-US" sz="1600" b="1" dirty="0" err="1">
                <a:latin typeface="Times New Roman" panose="02020603050405020304" pitchFamily="18" charset="0"/>
                <a:cs typeface="Times New Roman" panose="02020603050405020304" pitchFamily="18" charset="0"/>
              </a:rPr>
              <a:t>geopy.distance</a:t>
            </a:r>
            <a:endParaRPr lang="en-US"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Mean of these values are calculated for future 6hr, 12hr, 18hr, 24hr and 36hr time</a:t>
            </a:r>
          </a:p>
        </p:txBody>
      </p:sp>
      <p:cxnSp>
        <p:nvCxnSpPr>
          <p:cNvPr id="8" name="Straight Connector 7">
            <a:extLst>
              <a:ext uri="{FF2B5EF4-FFF2-40B4-BE49-F238E27FC236}">
                <a16:creationId xmlns:a16="http://schemas.microsoft.com/office/drawing/2014/main" id="{3985A73C-CF3E-5354-1FE3-CDC4CC66E570}"/>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A1C96A26-74BA-C242-505E-3816881C3483}"/>
              </a:ext>
            </a:extLst>
          </p:cNvPr>
          <p:cNvSpPr txBox="1"/>
          <p:nvPr/>
        </p:nvSpPr>
        <p:spPr>
          <a:xfrm>
            <a:off x="3492190" y="2728209"/>
            <a:ext cx="2313878"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Equation 2: Haversine Formula</a:t>
            </a:r>
          </a:p>
        </p:txBody>
      </p:sp>
      <p:sp>
        <p:nvSpPr>
          <p:cNvPr id="2" name="TextBox 1">
            <a:extLst>
              <a:ext uri="{FF2B5EF4-FFF2-40B4-BE49-F238E27FC236}">
                <a16:creationId xmlns:a16="http://schemas.microsoft.com/office/drawing/2014/main" id="{A23EDE22-D9EB-1BE0-579C-B0FED28BF1ED}"/>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32</a:t>
            </a:r>
          </a:p>
        </p:txBody>
      </p:sp>
    </p:spTree>
    <p:extLst>
      <p:ext uri="{BB962C8B-B14F-4D97-AF65-F5344CB8AC3E}">
        <p14:creationId xmlns:p14="http://schemas.microsoft.com/office/powerpoint/2010/main" val="2214947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2" y="-76669"/>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Distance-wise Model Comparison</a:t>
            </a:r>
          </a:p>
        </p:txBody>
      </p:sp>
      <p:pic>
        <p:nvPicPr>
          <p:cNvPr id="5" name="Picture 4">
            <a:extLst>
              <a:ext uri="{FF2B5EF4-FFF2-40B4-BE49-F238E27FC236}">
                <a16:creationId xmlns:a16="http://schemas.microsoft.com/office/drawing/2014/main" id="{56A79BDD-1C24-0993-D859-335646237306}"/>
              </a:ext>
            </a:extLst>
          </p:cNvPr>
          <p:cNvPicPr>
            <a:picLocks noChangeAspect="1"/>
          </p:cNvPicPr>
          <p:nvPr/>
        </p:nvPicPr>
        <p:blipFill>
          <a:blip r:embed="rId3"/>
          <a:stretch>
            <a:fillRect/>
          </a:stretch>
        </p:blipFill>
        <p:spPr>
          <a:xfrm>
            <a:off x="1568225" y="991775"/>
            <a:ext cx="5504151" cy="1064947"/>
          </a:xfrm>
          <a:prstGeom prst="rect">
            <a:avLst/>
          </a:prstGeom>
        </p:spPr>
      </p:pic>
      <p:pic>
        <p:nvPicPr>
          <p:cNvPr id="6" name="Picture 5">
            <a:extLst>
              <a:ext uri="{FF2B5EF4-FFF2-40B4-BE49-F238E27FC236}">
                <a16:creationId xmlns:a16="http://schemas.microsoft.com/office/drawing/2014/main" id="{E00BDB4A-816F-E962-7AB9-50D26738C839}"/>
              </a:ext>
            </a:extLst>
          </p:cNvPr>
          <p:cNvPicPr>
            <a:picLocks noChangeAspect="1"/>
          </p:cNvPicPr>
          <p:nvPr/>
        </p:nvPicPr>
        <p:blipFill rotWithShape="1">
          <a:blip r:embed="rId4"/>
          <a:srcRect l="1083" t="8010" r="1081" b="2394"/>
          <a:stretch/>
        </p:blipFill>
        <p:spPr>
          <a:xfrm>
            <a:off x="1891223" y="2056722"/>
            <a:ext cx="5181153" cy="2847931"/>
          </a:xfrm>
          <a:prstGeom prst="rect">
            <a:avLst/>
          </a:prstGeom>
        </p:spPr>
      </p:pic>
      <p:cxnSp>
        <p:nvCxnSpPr>
          <p:cNvPr id="2" name="Straight Connector 1">
            <a:extLst>
              <a:ext uri="{FF2B5EF4-FFF2-40B4-BE49-F238E27FC236}">
                <a16:creationId xmlns:a16="http://schemas.microsoft.com/office/drawing/2014/main" id="{4050B132-C3A1-A9E6-1A64-F51566E8567A}"/>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C34D8561-C8E4-9C43-6FF5-38DDD83DF908}"/>
              </a:ext>
            </a:extLst>
          </p:cNvPr>
          <p:cNvSpPr txBox="1"/>
          <p:nvPr/>
        </p:nvSpPr>
        <p:spPr>
          <a:xfrm>
            <a:off x="6906322" y="1380578"/>
            <a:ext cx="1955181" cy="430887"/>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Table 8: Distance wise model comparison error</a:t>
            </a:r>
          </a:p>
        </p:txBody>
      </p:sp>
      <p:sp>
        <p:nvSpPr>
          <p:cNvPr id="7" name="TextBox 6">
            <a:extLst>
              <a:ext uri="{FF2B5EF4-FFF2-40B4-BE49-F238E27FC236}">
                <a16:creationId xmlns:a16="http://schemas.microsoft.com/office/drawing/2014/main" id="{0FFD9F68-B35D-5014-3F00-9737D3D6D5B6}"/>
              </a:ext>
            </a:extLst>
          </p:cNvPr>
          <p:cNvSpPr txBox="1"/>
          <p:nvPr/>
        </p:nvSpPr>
        <p:spPr>
          <a:xfrm>
            <a:off x="7072756" y="3332036"/>
            <a:ext cx="1955181" cy="430887"/>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20: Distance wise errors- Graphical Representation</a:t>
            </a:r>
          </a:p>
        </p:txBody>
      </p:sp>
      <p:sp>
        <p:nvSpPr>
          <p:cNvPr id="8" name="TextBox 7">
            <a:extLst>
              <a:ext uri="{FF2B5EF4-FFF2-40B4-BE49-F238E27FC236}">
                <a16:creationId xmlns:a16="http://schemas.microsoft.com/office/drawing/2014/main" id="{66BE3771-9978-C197-46EE-39DEC76605E2}"/>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33</a:t>
            </a:r>
          </a:p>
        </p:txBody>
      </p:sp>
    </p:spTree>
    <p:extLst>
      <p:ext uri="{BB962C8B-B14F-4D97-AF65-F5344CB8AC3E}">
        <p14:creationId xmlns:p14="http://schemas.microsoft.com/office/powerpoint/2010/main" val="1140429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Model Comparison Graphs</a:t>
            </a:r>
          </a:p>
        </p:txBody>
      </p:sp>
      <p:pic>
        <p:nvPicPr>
          <p:cNvPr id="3" name="Picture 2">
            <a:extLst>
              <a:ext uri="{FF2B5EF4-FFF2-40B4-BE49-F238E27FC236}">
                <a16:creationId xmlns:a16="http://schemas.microsoft.com/office/drawing/2014/main" id="{A9E8CC6B-2AAE-4EDA-3078-EF6B9C9796E0}"/>
              </a:ext>
            </a:extLst>
          </p:cNvPr>
          <p:cNvPicPr>
            <a:picLocks noChangeAspect="1"/>
          </p:cNvPicPr>
          <p:nvPr/>
        </p:nvPicPr>
        <p:blipFill>
          <a:blip r:embed="rId3"/>
          <a:stretch>
            <a:fillRect/>
          </a:stretch>
        </p:blipFill>
        <p:spPr>
          <a:xfrm>
            <a:off x="248443" y="1113078"/>
            <a:ext cx="4441064" cy="3267797"/>
          </a:xfrm>
          <a:prstGeom prst="rect">
            <a:avLst/>
          </a:prstGeom>
        </p:spPr>
      </p:pic>
      <p:pic>
        <p:nvPicPr>
          <p:cNvPr id="10" name="Picture 9">
            <a:extLst>
              <a:ext uri="{FF2B5EF4-FFF2-40B4-BE49-F238E27FC236}">
                <a16:creationId xmlns:a16="http://schemas.microsoft.com/office/drawing/2014/main" id="{4DFD9E63-F585-2923-B685-17A4D716D3FC}"/>
              </a:ext>
            </a:extLst>
          </p:cNvPr>
          <p:cNvPicPr>
            <a:picLocks noChangeAspect="1"/>
          </p:cNvPicPr>
          <p:nvPr/>
        </p:nvPicPr>
        <p:blipFill>
          <a:blip r:embed="rId4"/>
          <a:stretch>
            <a:fillRect/>
          </a:stretch>
        </p:blipFill>
        <p:spPr>
          <a:xfrm>
            <a:off x="4689507" y="1174588"/>
            <a:ext cx="4278028" cy="3144775"/>
          </a:xfrm>
          <a:prstGeom prst="rect">
            <a:avLst/>
          </a:prstGeom>
        </p:spPr>
      </p:pic>
      <p:cxnSp>
        <p:nvCxnSpPr>
          <p:cNvPr id="13" name="Straight Connector 12">
            <a:extLst>
              <a:ext uri="{FF2B5EF4-FFF2-40B4-BE49-F238E27FC236}">
                <a16:creationId xmlns:a16="http://schemas.microsoft.com/office/drawing/2014/main" id="{C933D8E3-0218-E14E-D261-9AC0DEC71993}"/>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B7D144D5-4EFF-7144-410F-7BD0A702D44A}"/>
              </a:ext>
            </a:extLst>
          </p:cNvPr>
          <p:cNvSpPr txBox="1"/>
          <p:nvPr/>
        </p:nvSpPr>
        <p:spPr>
          <a:xfrm>
            <a:off x="1645829" y="4448897"/>
            <a:ext cx="1955181"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21: Test result 1</a:t>
            </a:r>
          </a:p>
        </p:txBody>
      </p:sp>
      <p:sp>
        <p:nvSpPr>
          <p:cNvPr id="15" name="TextBox 14">
            <a:extLst>
              <a:ext uri="{FF2B5EF4-FFF2-40B4-BE49-F238E27FC236}">
                <a16:creationId xmlns:a16="http://schemas.microsoft.com/office/drawing/2014/main" id="{8C37D7E0-4A24-A1A2-FCDC-5391834F2159}"/>
              </a:ext>
            </a:extLst>
          </p:cNvPr>
          <p:cNvSpPr txBox="1"/>
          <p:nvPr/>
        </p:nvSpPr>
        <p:spPr>
          <a:xfrm>
            <a:off x="5946482" y="4448895"/>
            <a:ext cx="1955181"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22: Test result 2</a:t>
            </a:r>
          </a:p>
        </p:txBody>
      </p:sp>
      <p:sp>
        <p:nvSpPr>
          <p:cNvPr id="2" name="TextBox 1">
            <a:extLst>
              <a:ext uri="{FF2B5EF4-FFF2-40B4-BE49-F238E27FC236}">
                <a16:creationId xmlns:a16="http://schemas.microsoft.com/office/drawing/2014/main" id="{C0BCF2C2-C361-497F-7E63-642828B54D16}"/>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34</a:t>
            </a:r>
          </a:p>
        </p:txBody>
      </p:sp>
    </p:spTree>
    <p:extLst>
      <p:ext uri="{BB962C8B-B14F-4D97-AF65-F5344CB8AC3E}">
        <p14:creationId xmlns:p14="http://schemas.microsoft.com/office/powerpoint/2010/main" val="286622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Model Comparison</a:t>
            </a:r>
          </a:p>
        </p:txBody>
      </p:sp>
      <p:pic>
        <p:nvPicPr>
          <p:cNvPr id="2" name="Picture 1">
            <a:extLst>
              <a:ext uri="{FF2B5EF4-FFF2-40B4-BE49-F238E27FC236}">
                <a16:creationId xmlns:a16="http://schemas.microsoft.com/office/drawing/2014/main" id="{6227D8E9-7908-EFBF-8551-592B21633C4A}"/>
              </a:ext>
            </a:extLst>
          </p:cNvPr>
          <p:cNvPicPr>
            <a:picLocks noChangeAspect="1"/>
          </p:cNvPicPr>
          <p:nvPr/>
        </p:nvPicPr>
        <p:blipFill>
          <a:blip r:embed="rId3"/>
          <a:stretch>
            <a:fillRect/>
          </a:stretch>
        </p:blipFill>
        <p:spPr>
          <a:xfrm>
            <a:off x="298763" y="1202858"/>
            <a:ext cx="4336433" cy="3267797"/>
          </a:xfrm>
          <a:prstGeom prst="rect">
            <a:avLst/>
          </a:prstGeom>
        </p:spPr>
      </p:pic>
      <p:pic>
        <p:nvPicPr>
          <p:cNvPr id="6" name="Picture 5">
            <a:extLst>
              <a:ext uri="{FF2B5EF4-FFF2-40B4-BE49-F238E27FC236}">
                <a16:creationId xmlns:a16="http://schemas.microsoft.com/office/drawing/2014/main" id="{9592C657-5970-5372-FB05-38EFAEBBED28}"/>
              </a:ext>
            </a:extLst>
          </p:cNvPr>
          <p:cNvPicPr>
            <a:picLocks noChangeAspect="1"/>
          </p:cNvPicPr>
          <p:nvPr/>
        </p:nvPicPr>
        <p:blipFill>
          <a:blip r:embed="rId4"/>
          <a:stretch>
            <a:fillRect/>
          </a:stretch>
        </p:blipFill>
        <p:spPr>
          <a:xfrm>
            <a:off x="4572000" y="1202858"/>
            <a:ext cx="4426822" cy="3311764"/>
          </a:xfrm>
          <a:prstGeom prst="rect">
            <a:avLst/>
          </a:prstGeom>
        </p:spPr>
      </p:pic>
      <p:cxnSp>
        <p:nvCxnSpPr>
          <p:cNvPr id="7" name="Straight Connector 6">
            <a:extLst>
              <a:ext uri="{FF2B5EF4-FFF2-40B4-BE49-F238E27FC236}">
                <a16:creationId xmlns:a16="http://schemas.microsoft.com/office/drawing/2014/main" id="{EA55A3BA-D37E-EC81-A03D-4CA8C0A694E2}"/>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6F17550F-6293-B87F-CC76-BFA0A2874111}"/>
              </a:ext>
            </a:extLst>
          </p:cNvPr>
          <p:cNvSpPr txBox="1"/>
          <p:nvPr/>
        </p:nvSpPr>
        <p:spPr>
          <a:xfrm>
            <a:off x="5976219" y="4503125"/>
            <a:ext cx="1955181"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24: Test result 4</a:t>
            </a:r>
          </a:p>
        </p:txBody>
      </p:sp>
      <p:sp>
        <p:nvSpPr>
          <p:cNvPr id="9" name="TextBox 8">
            <a:extLst>
              <a:ext uri="{FF2B5EF4-FFF2-40B4-BE49-F238E27FC236}">
                <a16:creationId xmlns:a16="http://schemas.microsoft.com/office/drawing/2014/main" id="{6520CAF5-D90A-BACF-A363-48F6FE011B3F}"/>
              </a:ext>
            </a:extLst>
          </p:cNvPr>
          <p:cNvSpPr txBox="1"/>
          <p:nvPr/>
        </p:nvSpPr>
        <p:spPr>
          <a:xfrm>
            <a:off x="1623526" y="4514622"/>
            <a:ext cx="1955181"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23: Test result 3</a:t>
            </a:r>
          </a:p>
        </p:txBody>
      </p:sp>
      <p:sp>
        <p:nvSpPr>
          <p:cNvPr id="3" name="TextBox 2">
            <a:extLst>
              <a:ext uri="{FF2B5EF4-FFF2-40B4-BE49-F238E27FC236}">
                <a16:creationId xmlns:a16="http://schemas.microsoft.com/office/drawing/2014/main" id="{EF52C541-A80C-BA55-CE26-708D716BCAC6}"/>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35</a:t>
            </a:r>
          </a:p>
        </p:txBody>
      </p:sp>
    </p:spTree>
    <p:extLst>
      <p:ext uri="{BB962C8B-B14F-4D97-AF65-F5344CB8AC3E}">
        <p14:creationId xmlns:p14="http://schemas.microsoft.com/office/powerpoint/2010/main" val="4068401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Model Comparison</a:t>
            </a:r>
          </a:p>
        </p:txBody>
      </p:sp>
      <p:pic>
        <p:nvPicPr>
          <p:cNvPr id="3" name="Picture 2">
            <a:extLst>
              <a:ext uri="{FF2B5EF4-FFF2-40B4-BE49-F238E27FC236}">
                <a16:creationId xmlns:a16="http://schemas.microsoft.com/office/drawing/2014/main" id="{B3C31B83-07D9-6417-43A8-5DD7C599AF43}"/>
              </a:ext>
            </a:extLst>
          </p:cNvPr>
          <p:cNvPicPr>
            <a:picLocks noChangeAspect="1"/>
          </p:cNvPicPr>
          <p:nvPr/>
        </p:nvPicPr>
        <p:blipFill>
          <a:blip r:embed="rId3"/>
          <a:stretch>
            <a:fillRect/>
          </a:stretch>
        </p:blipFill>
        <p:spPr>
          <a:xfrm>
            <a:off x="350598" y="1215389"/>
            <a:ext cx="4221402" cy="3213367"/>
          </a:xfrm>
          <a:prstGeom prst="rect">
            <a:avLst/>
          </a:prstGeom>
        </p:spPr>
      </p:pic>
      <p:pic>
        <p:nvPicPr>
          <p:cNvPr id="7" name="Picture 6">
            <a:extLst>
              <a:ext uri="{FF2B5EF4-FFF2-40B4-BE49-F238E27FC236}">
                <a16:creationId xmlns:a16="http://schemas.microsoft.com/office/drawing/2014/main" id="{BA7D1775-E579-9F42-69AC-E13D87225915}"/>
              </a:ext>
            </a:extLst>
          </p:cNvPr>
          <p:cNvPicPr>
            <a:picLocks noChangeAspect="1"/>
          </p:cNvPicPr>
          <p:nvPr/>
        </p:nvPicPr>
        <p:blipFill>
          <a:blip r:embed="rId4"/>
          <a:stretch>
            <a:fillRect/>
          </a:stretch>
        </p:blipFill>
        <p:spPr>
          <a:xfrm>
            <a:off x="4572000" y="1215389"/>
            <a:ext cx="4332914" cy="3218736"/>
          </a:xfrm>
          <a:prstGeom prst="rect">
            <a:avLst/>
          </a:prstGeom>
        </p:spPr>
      </p:pic>
      <p:cxnSp>
        <p:nvCxnSpPr>
          <p:cNvPr id="8" name="Straight Connector 7">
            <a:extLst>
              <a:ext uri="{FF2B5EF4-FFF2-40B4-BE49-F238E27FC236}">
                <a16:creationId xmlns:a16="http://schemas.microsoft.com/office/drawing/2014/main" id="{334D37E4-E087-A3C2-1FD9-3A9A8F220003}"/>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DD4BFBE8-F278-F26F-D43E-BE83243576DB}"/>
              </a:ext>
            </a:extLst>
          </p:cNvPr>
          <p:cNvSpPr txBox="1"/>
          <p:nvPr/>
        </p:nvSpPr>
        <p:spPr>
          <a:xfrm>
            <a:off x="5976219" y="4503125"/>
            <a:ext cx="1955181"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26: Test result 6</a:t>
            </a:r>
          </a:p>
        </p:txBody>
      </p:sp>
      <p:sp>
        <p:nvSpPr>
          <p:cNvPr id="10" name="TextBox 9">
            <a:extLst>
              <a:ext uri="{FF2B5EF4-FFF2-40B4-BE49-F238E27FC236}">
                <a16:creationId xmlns:a16="http://schemas.microsoft.com/office/drawing/2014/main" id="{BE69D644-6232-78D6-5023-CA58B4B8AB0C}"/>
              </a:ext>
            </a:extLst>
          </p:cNvPr>
          <p:cNvSpPr txBox="1"/>
          <p:nvPr/>
        </p:nvSpPr>
        <p:spPr>
          <a:xfrm>
            <a:off x="1623526" y="4514622"/>
            <a:ext cx="1955181"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25: Test result 5</a:t>
            </a:r>
          </a:p>
        </p:txBody>
      </p:sp>
      <p:sp>
        <p:nvSpPr>
          <p:cNvPr id="2" name="TextBox 1">
            <a:extLst>
              <a:ext uri="{FF2B5EF4-FFF2-40B4-BE49-F238E27FC236}">
                <a16:creationId xmlns:a16="http://schemas.microsoft.com/office/drawing/2014/main" id="{00D50D46-2163-8AAA-FECC-EACE2A446C80}"/>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36</a:t>
            </a:r>
          </a:p>
        </p:txBody>
      </p:sp>
    </p:spTree>
    <p:extLst>
      <p:ext uri="{BB962C8B-B14F-4D97-AF65-F5344CB8AC3E}">
        <p14:creationId xmlns:p14="http://schemas.microsoft.com/office/powerpoint/2010/main" val="33236138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RNN Model – India Plot</a:t>
            </a:r>
          </a:p>
        </p:txBody>
      </p:sp>
      <p:pic>
        <p:nvPicPr>
          <p:cNvPr id="3" name="Picture 2">
            <a:extLst>
              <a:ext uri="{FF2B5EF4-FFF2-40B4-BE49-F238E27FC236}">
                <a16:creationId xmlns:a16="http://schemas.microsoft.com/office/drawing/2014/main" id="{AA54BFFE-6DF0-E4A7-6537-69FC4C517F89}"/>
              </a:ext>
            </a:extLst>
          </p:cNvPr>
          <p:cNvPicPr>
            <a:picLocks noChangeAspect="1"/>
          </p:cNvPicPr>
          <p:nvPr/>
        </p:nvPicPr>
        <p:blipFill rotWithShape="1">
          <a:blip r:embed="rId3"/>
          <a:srcRect t="47118" r="21659"/>
          <a:stretch/>
        </p:blipFill>
        <p:spPr>
          <a:xfrm>
            <a:off x="578337" y="1390186"/>
            <a:ext cx="3904453" cy="2719967"/>
          </a:xfrm>
          <a:prstGeom prst="rect">
            <a:avLst/>
          </a:prstGeom>
        </p:spPr>
      </p:pic>
      <p:pic>
        <p:nvPicPr>
          <p:cNvPr id="6" name="Picture 5">
            <a:extLst>
              <a:ext uri="{FF2B5EF4-FFF2-40B4-BE49-F238E27FC236}">
                <a16:creationId xmlns:a16="http://schemas.microsoft.com/office/drawing/2014/main" id="{5CA30465-19B8-E5FC-5CB3-F3291DED7485}"/>
              </a:ext>
            </a:extLst>
          </p:cNvPr>
          <p:cNvPicPr>
            <a:picLocks noChangeAspect="1"/>
          </p:cNvPicPr>
          <p:nvPr/>
        </p:nvPicPr>
        <p:blipFill rotWithShape="1">
          <a:blip r:embed="rId4"/>
          <a:srcRect t="31075" r="23449"/>
          <a:stretch/>
        </p:blipFill>
        <p:spPr>
          <a:xfrm>
            <a:off x="4648200" y="1100268"/>
            <a:ext cx="3815243" cy="3545159"/>
          </a:xfrm>
          <a:prstGeom prst="rect">
            <a:avLst/>
          </a:prstGeom>
        </p:spPr>
      </p:pic>
      <p:cxnSp>
        <p:nvCxnSpPr>
          <p:cNvPr id="7" name="Straight Connector 6">
            <a:extLst>
              <a:ext uri="{FF2B5EF4-FFF2-40B4-BE49-F238E27FC236}">
                <a16:creationId xmlns:a16="http://schemas.microsoft.com/office/drawing/2014/main" id="{6ABC0A7F-43A7-B77C-59FA-54493BCDC36E}"/>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B26CFD5C-1251-F506-DBD0-6455589F2E9B}"/>
              </a:ext>
            </a:extLst>
          </p:cNvPr>
          <p:cNvSpPr txBox="1"/>
          <p:nvPr/>
        </p:nvSpPr>
        <p:spPr>
          <a:xfrm>
            <a:off x="1263806" y="4514622"/>
            <a:ext cx="2314902"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27: RNN Test result I on Map</a:t>
            </a:r>
          </a:p>
        </p:txBody>
      </p:sp>
      <p:sp>
        <p:nvSpPr>
          <p:cNvPr id="9" name="TextBox 8">
            <a:extLst>
              <a:ext uri="{FF2B5EF4-FFF2-40B4-BE49-F238E27FC236}">
                <a16:creationId xmlns:a16="http://schemas.microsoft.com/office/drawing/2014/main" id="{9486DD92-CED0-0595-F139-627BD474F93A}"/>
              </a:ext>
            </a:extLst>
          </p:cNvPr>
          <p:cNvSpPr txBox="1"/>
          <p:nvPr/>
        </p:nvSpPr>
        <p:spPr>
          <a:xfrm>
            <a:off x="5347771" y="4645427"/>
            <a:ext cx="2532424"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28: RNN Test result II on Map</a:t>
            </a:r>
          </a:p>
        </p:txBody>
      </p:sp>
      <p:sp>
        <p:nvSpPr>
          <p:cNvPr id="2" name="TextBox 1">
            <a:extLst>
              <a:ext uri="{FF2B5EF4-FFF2-40B4-BE49-F238E27FC236}">
                <a16:creationId xmlns:a16="http://schemas.microsoft.com/office/drawing/2014/main" id="{C03C09EA-1D7B-28C0-0EFB-3317D6CC9737}"/>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37</a:t>
            </a:r>
          </a:p>
        </p:txBody>
      </p:sp>
    </p:spTree>
    <p:extLst>
      <p:ext uri="{BB962C8B-B14F-4D97-AF65-F5344CB8AC3E}">
        <p14:creationId xmlns:p14="http://schemas.microsoft.com/office/powerpoint/2010/main" val="361893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Bi-LSTM Model – India Plot</a:t>
            </a:r>
          </a:p>
        </p:txBody>
      </p:sp>
      <p:pic>
        <p:nvPicPr>
          <p:cNvPr id="8" name="Picture 7">
            <a:extLst>
              <a:ext uri="{FF2B5EF4-FFF2-40B4-BE49-F238E27FC236}">
                <a16:creationId xmlns:a16="http://schemas.microsoft.com/office/drawing/2014/main" id="{072B916C-AD77-2E1F-BCCD-AD56BBC14712}"/>
              </a:ext>
            </a:extLst>
          </p:cNvPr>
          <p:cNvPicPr>
            <a:picLocks noChangeAspect="1"/>
          </p:cNvPicPr>
          <p:nvPr/>
        </p:nvPicPr>
        <p:blipFill rotWithShape="1">
          <a:blip r:embed="rId3"/>
          <a:srcRect t="43361" r="20914"/>
          <a:stretch/>
        </p:blipFill>
        <p:spPr>
          <a:xfrm>
            <a:off x="355314" y="1263804"/>
            <a:ext cx="4008530" cy="2962706"/>
          </a:xfrm>
          <a:prstGeom prst="rect">
            <a:avLst/>
          </a:prstGeom>
        </p:spPr>
      </p:pic>
      <p:pic>
        <p:nvPicPr>
          <p:cNvPr id="10" name="Picture 9">
            <a:extLst>
              <a:ext uri="{FF2B5EF4-FFF2-40B4-BE49-F238E27FC236}">
                <a16:creationId xmlns:a16="http://schemas.microsoft.com/office/drawing/2014/main" id="{7B426745-3D4F-1502-7F67-2D519D46AD22}"/>
              </a:ext>
            </a:extLst>
          </p:cNvPr>
          <p:cNvPicPr>
            <a:picLocks noChangeAspect="1"/>
          </p:cNvPicPr>
          <p:nvPr/>
        </p:nvPicPr>
        <p:blipFill rotWithShape="1">
          <a:blip r:embed="rId4"/>
          <a:srcRect t="32520" r="25090"/>
          <a:stretch/>
        </p:blipFill>
        <p:spPr>
          <a:xfrm>
            <a:off x="4780158" y="1129990"/>
            <a:ext cx="3733467" cy="3470817"/>
          </a:xfrm>
          <a:prstGeom prst="rect">
            <a:avLst/>
          </a:prstGeom>
        </p:spPr>
      </p:pic>
      <p:cxnSp>
        <p:nvCxnSpPr>
          <p:cNvPr id="11" name="Straight Connector 10">
            <a:extLst>
              <a:ext uri="{FF2B5EF4-FFF2-40B4-BE49-F238E27FC236}">
                <a16:creationId xmlns:a16="http://schemas.microsoft.com/office/drawing/2014/main" id="{D4EDDECD-FA35-1305-2E0D-8647242053D9}"/>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ADEACBC-5A2D-77DE-CCB6-0904B590979C}"/>
              </a:ext>
            </a:extLst>
          </p:cNvPr>
          <p:cNvSpPr txBox="1"/>
          <p:nvPr/>
        </p:nvSpPr>
        <p:spPr>
          <a:xfrm>
            <a:off x="1263806" y="4514622"/>
            <a:ext cx="2408662"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29: Bi-LSTM Test result I on Map</a:t>
            </a:r>
          </a:p>
        </p:txBody>
      </p:sp>
      <p:sp>
        <p:nvSpPr>
          <p:cNvPr id="13" name="TextBox 12">
            <a:extLst>
              <a:ext uri="{FF2B5EF4-FFF2-40B4-BE49-F238E27FC236}">
                <a16:creationId xmlns:a16="http://schemas.microsoft.com/office/drawing/2014/main" id="{AAD16D3E-8BF9-D865-B7C3-2F421A9E0110}"/>
              </a:ext>
            </a:extLst>
          </p:cNvPr>
          <p:cNvSpPr txBox="1"/>
          <p:nvPr/>
        </p:nvSpPr>
        <p:spPr>
          <a:xfrm>
            <a:off x="5347771" y="4645427"/>
            <a:ext cx="2532424"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30: Bi-LSTM Test result II on Map</a:t>
            </a:r>
          </a:p>
        </p:txBody>
      </p:sp>
      <p:sp>
        <p:nvSpPr>
          <p:cNvPr id="2" name="TextBox 1">
            <a:extLst>
              <a:ext uri="{FF2B5EF4-FFF2-40B4-BE49-F238E27FC236}">
                <a16:creationId xmlns:a16="http://schemas.microsoft.com/office/drawing/2014/main" id="{450820A1-BF81-804A-9C0C-AF1F404D00EE}"/>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38</a:t>
            </a:r>
          </a:p>
        </p:txBody>
      </p:sp>
    </p:spTree>
    <p:extLst>
      <p:ext uri="{BB962C8B-B14F-4D97-AF65-F5344CB8AC3E}">
        <p14:creationId xmlns:p14="http://schemas.microsoft.com/office/powerpoint/2010/main" val="6012616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GRU Model – India Plot</a:t>
            </a:r>
          </a:p>
        </p:txBody>
      </p:sp>
      <p:pic>
        <p:nvPicPr>
          <p:cNvPr id="3" name="Picture 2">
            <a:extLst>
              <a:ext uri="{FF2B5EF4-FFF2-40B4-BE49-F238E27FC236}">
                <a16:creationId xmlns:a16="http://schemas.microsoft.com/office/drawing/2014/main" id="{DE36CD5D-8A1A-3864-4933-8E4F8BDC7E66}"/>
              </a:ext>
            </a:extLst>
          </p:cNvPr>
          <p:cNvPicPr>
            <a:picLocks noChangeAspect="1"/>
          </p:cNvPicPr>
          <p:nvPr/>
        </p:nvPicPr>
        <p:blipFill rotWithShape="1">
          <a:blip r:embed="rId3"/>
          <a:srcRect t="41337" r="25388"/>
          <a:stretch/>
        </p:blipFill>
        <p:spPr>
          <a:xfrm>
            <a:off x="526299" y="1300975"/>
            <a:ext cx="3718600" cy="3017335"/>
          </a:xfrm>
          <a:prstGeom prst="rect">
            <a:avLst/>
          </a:prstGeom>
        </p:spPr>
      </p:pic>
      <p:pic>
        <p:nvPicPr>
          <p:cNvPr id="6" name="Picture 5">
            <a:extLst>
              <a:ext uri="{FF2B5EF4-FFF2-40B4-BE49-F238E27FC236}">
                <a16:creationId xmlns:a16="http://schemas.microsoft.com/office/drawing/2014/main" id="{7062457F-97F1-1139-873E-895E55E4DB4A}"/>
              </a:ext>
            </a:extLst>
          </p:cNvPr>
          <p:cNvPicPr>
            <a:picLocks noChangeAspect="1"/>
          </p:cNvPicPr>
          <p:nvPr/>
        </p:nvPicPr>
        <p:blipFill rotWithShape="1">
          <a:blip r:embed="rId4"/>
          <a:srcRect t="32520"/>
          <a:stretch/>
        </p:blipFill>
        <p:spPr>
          <a:xfrm>
            <a:off x="4572000" y="1300975"/>
            <a:ext cx="4428827" cy="3084243"/>
          </a:xfrm>
          <a:prstGeom prst="rect">
            <a:avLst/>
          </a:prstGeom>
        </p:spPr>
      </p:pic>
      <p:cxnSp>
        <p:nvCxnSpPr>
          <p:cNvPr id="2" name="Straight Connector 1">
            <a:extLst>
              <a:ext uri="{FF2B5EF4-FFF2-40B4-BE49-F238E27FC236}">
                <a16:creationId xmlns:a16="http://schemas.microsoft.com/office/drawing/2014/main" id="{88884ECB-5138-3442-4570-CDBB696FBC61}"/>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A341EEDE-25EF-C536-6C72-F3674EEB3FB9}"/>
              </a:ext>
            </a:extLst>
          </p:cNvPr>
          <p:cNvSpPr txBox="1"/>
          <p:nvPr/>
        </p:nvSpPr>
        <p:spPr>
          <a:xfrm>
            <a:off x="1263806" y="4514622"/>
            <a:ext cx="2408662"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31: GRU Test result I on Map</a:t>
            </a:r>
          </a:p>
        </p:txBody>
      </p:sp>
      <p:sp>
        <p:nvSpPr>
          <p:cNvPr id="7" name="TextBox 6">
            <a:extLst>
              <a:ext uri="{FF2B5EF4-FFF2-40B4-BE49-F238E27FC236}">
                <a16:creationId xmlns:a16="http://schemas.microsoft.com/office/drawing/2014/main" id="{F2DAD029-39B8-B1FC-5E96-D98E87063FFC}"/>
              </a:ext>
            </a:extLst>
          </p:cNvPr>
          <p:cNvSpPr txBox="1"/>
          <p:nvPr/>
        </p:nvSpPr>
        <p:spPr>
          <a:xfrm>
            <a:off x="5347770" y="4514622"/>
            <a:ext cx="2532424" cy="261610"/>
          </a:xfrm>
          <a:prstGeom prst="rect">
            <a:avLst/>
          </a:prstGeom>
          <a:noFill/>
        </p:spPr>
        <p:txBody>
          <a:bodyPr wrap="square">
            <a:spAutoFit/>
          </a:bodyPr>
          <a:lstStyle/>
          <a:p>
            <a:pPr algn="ctr"/>
            <a:r>
              <a:rPr lang="en-IN" sz="1100" dirty="0">
                <a:latin typeface="Times New Roman" panose="02020603050405020304" pitchFamily="18" charset="0"/>
                <a:cs typeface="Times New Roman" panose="02020603050405020304" pitchFamily="18" charset="0"/>
              </a:rPr>
              <a:t>Fig 32: GRU Test result II on Map</a:t>
            </a:r>
          </a:p>
        </p:txBody>
      </p:sp>
      <p:sp>
        <p:nvSpPr>
          <p:cNvPr id="8" name="TextBox 7">
            <a:extLst>
              <a:ext uri="{FF2B5EF4-FFF2-40B4-BE49-F238E27FC236}">
                <a16:creationId xmlns:a16="http://schemas.microsoft.com/office/drawing/2014/main" id="{AC7D4F20-EC1F-E8BF-4B24-85C2FFBBE13C}"/>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39</a:t>
            </a:r>
          </a:p>
        </p:txBody>
      </p:sp>
    </p:spTree>
    <p:extLst>
      <p:ext uri="{BB962C8B-B14F-4D97-AF65-F5344CB8AC3E}">
        <p14:creationId xmlns:p14="http://schemas.microsoft.com/office/powerpoint/2010/main" val="3308207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Conclusion</a:t>
            </a:r>
          </a:p>
        </p:txBody>
      </p:sp>
      <p:cxnSp>
        <p:nvCxnSpPr>
          <p:cNvPr id="2" name="Straight Connector 1">
            <a:extLst>
              <a:ext uri="{FF2B5EF4-FFF2-40B4-BE49-F238E27FC236}">
                <a16:creationId xmlns:a16="http://schemas.microsoft.com/office/drawing/2014/main" id="{6944D3E3-765E-61CC-ACD8-CB7737975EAC}"/>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9F27E247-939E-AC80-FB42-E7F2808B2AF7}"/>
              </a:ext>
            </a:extLst>
          </p:cNvPr>
          <p:cNvSpPr txBox="1"/>
          <p:nvPr/>
        </p:nvSpPr>
        <p:spPr>
          <a:xfrm>
            <a:off x="708463" y="1261438"/>
            <a:ext cx="7825937" cy="3539430"/>
          </a:xfrm>
          <a:prstGeom prst="rect">
            <a:avLst/>
          </a:prstGeom>
          <a:noFill/>
        </p:spPr>
        <p:txBody>
          <a:bodyPr wrap="square">
            <a:spAutoFit/>
          </a:bodyPr>
          <a:lstStyle/>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YOLOv7 model for cyclone detection was discussed which was trained on 1608 and tested on 402 annotated images.</a:t>
            </a: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This model produced </a:t>
            </a:r>
            <a:r>
              <a:rPr lang="en-IN" sz="1600" b="1" dirty="0" err="1">
                <a:latin typeface="Times New Roman" panose="02020603050405020304" pitchFamily="18" charset="0"/>
                <a:cs typeface="Times New Roman" panose="02020603050405020304" pitchFamily="18" charset="0"/>
              </a:rPr>
              <a:t>mAP</a:t>
            </a:r>
            <a:r>
              <a:rPr lang="en-IN" sz="1600" b="1" dirty="0">
                <a:latin typeface="Times New Roman" panose="02020603050405020304" pitchFamily="18" charset="0"/>
                <a:cs typeface="Times New Roman" panose="02020603050405020304" pitchFamily="18" charset="0"/>
              </a:rPr>
              <a:t> of 0.742 and 0.68 on training and testing data with accuracy of 0.91 (training) and 0.85 (testing)</a:t>
            </a:r>
          </a:p>
          <a:p>
            <a:pPr marL="285750" indent="-285750" algn="jus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3 Deep Neural Network models – RNN, Bi-LSTM and GRU networks were used for path forecasting model</a:t>
            </a: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Mean square error, distance mean square error were calculated and plotted on India map for better interpretation of the regions affected</a:t>
            </a:r>
          </a:p>
          <a:p>
            <a:pPr marL="285750" indent="-285750" algn="jus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a:p>
            <a:pPr algn="just"/>
            <a:r>
              <a:rPr lang="en-IN" sz="1600" b="1" dirty="0">
                <a:solidFill>
                  <a:srgbClr val="C00000"/>
                </a:solidFill>
                <a:latin typeface="Times New Roman" panose="02020603050405020304" pitchFamily="18" charset="0"/>
                <a:cs typeface="Times New Roman" panose="02020603050405020304" pitchFamily="18" charset="0"/>
              </a:rPr>
              <a:t>“RNN model was effective for short term (3hr &amp; hr) prediction whereas GRU network model was having least error and showing better results for long term predictions (12-36 hr)”</a:t>
            </a:r>
          </a:p>
          <a:p>
            <a:pPr marL="285750" indent="-285750" algn="just">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B70665F-3CEF-A4DA-522D-DA2CFD10027C}"/>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40</a:t>
            </a:r>
          </a:p>
        </p:txBody>
      </p:sp>
    </p:spTree>
    <p:extLst>
      <p:ext uri="{BB962C8B-B14F-4D97-AF65-F5344CB8AC3E}">
        <p14:creationId xmlns:p14="http://schemas.microsoft.com/office/powerpoint/2010/main" val="2246601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Future Work</a:t>
            </a:r>
          </a:p>
        </p:txBody>
      </p:sp>
      <p:cxnSp>
        <p:nvCxnSpPr>
          <p:cNvPr id="2" name="Straight Connector 1">
            <a:extLst>
              <a:ext uri="{FF2B5EF4-FFF2-40B4-BE49-F238E27FC236}">
                <a16:creationId xmlns:a16="http://schemas.microsoft.com/office/drawing/2014/main" id="{6944D3E3-765E-61CC-ACD8-CB7737975EAC}"/>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9F27E247-939E-AC80-FB42-E7F2808B2AF7}"/>
              </a:ext>
            </a:extLst>
          </p:cNvPr>
          <p:cNvSpPr txBox="1"/>
          <p:nvPr/>
        </p:nvSpPr>
        <p:spPr>
          <a:xfrm>
            <a:off x="659031" y="1540698"/>
            <a:ext cx="7825937" cy="2308324"/>
          </a:xfrm>
          <a:prstGeom prst="rect">
            <a:avLst/>
          </a:prstGeom>
          <a:noFill/>
        </p:spPr>
        <p:txBody>
          <a:bodyPr wrap="square">
            <a:spAutoFit/>
          </a:bodyPr>
          <a:lstStyle/>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Refining the cyclone detection model by increasing the dataset and the confidence level</a:t>
            </a:r>
          </a:p>
          <a:p>
            <a:pPr algn="just"/>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Use of more advanced and latest frameworks of YOLO and their comparison for better accuracy and results</a:t>
            </a:r>
          </a:p>
          <a:p>
            <a:pPr marL="285750" indent="-285750" algn="just">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Architectural changes in the cyclone path prediction models and use of some more deep learning models for better and accurate results with least error</a:t>
            </a:r>
          </a:p>
          <a:p>
            <a:pPr marL="285750" indent="-285750" algn="just">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E4C8B23-4DA5-449B-D4AE-0F73FCC44D0C}"/>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41</a:t>
            </a:r>
          </a:p>
        </p:txBody>
      </p:sp>
    </p:spTree>
    <p:extLst>
      <p:ext uri="{BB962C8B-B14F-4D97-AF65-F5344CB8AC3E}">
        <p14:creationId xmlns:p14="http://schemas.microsoft.com/office/powerpoint/2010/main" val="29718113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8;p14">
            <a:extLst>
              <a:ext uri="{FF2B5EF4-FFF2-40B4-BE49-F238E27FC236}">
                <a16:creationId xmlns:a16="http://schemas.microsoft.com/office/drawing/2014/main" id="{9EF5B9B4-F012-8114-6848-AA41D931A2C8}"/>
              </a:ext>
            </a:extLst>
          </p:cNvPr>
          <p:cNvSpPr txBox="1">
            <a:spLocks/>
          </p:cNvSpPr>
          <p:nvPr/>
        </p:nvSpPr>
        <p:spPr>
          <a:xfrm>
            <a:off x="0" y="0"/>
            <a:ext cx="9144000" cy="6310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br>
              <a:rPr lang="en-US" sz="4000" b="1" dirty="0">
                <a:blipFill>
                  <a:blip r:embed="rId2"/>
                  <a:stretch>
                    <a:fillRect/>
                  </a:stretch>
                </a:blipFill>
                <a:latin typeface="Times New Roman" panose="02020603050405020304" pitchFamily="18" charset="0"/>
                <a:cs typeface="Times New Roman" panose="02020603050405020304" pitchFamily="18" charset="0"/>
              </a:rPr>
            </a:br>
            <a:r>
              <a:rPr lang="en-US" sz="4000" b="1" dirty="0">
                <a:blipFill>
                  <a:blip r:embed="rId2"/>
                  <a:stretch>
                    <a:fillRect/>
                  </a:stretch>
                </a:blipFill>
                <a:latin typeface="Times New Roman" panose="02020603050405020304" pitchFamily="18" charset="0"/>
                <a:cs typeface="Times New Roman" panose="02020603050405020304" pitchFamily="18" charset="0"/>
              </a:rPr>
              <a:t>Our Contribution</a:t>
            </a:r>
          </a:p>
        </p:txBody>
      </p:sp>
      <p:cxnSp>
        <p:nvCxnSpPr>
          <p:cNvPr id="2" name="Straight Connector 1">
            <a:extLst>
              <a:ext uri="{FF2B5EF4-FFF2-40B4-BE49-F238E27FC236}">
                <a16:creationId xmlns:a16="http://schemas.microsoft.com/office/drawing/2014/main" id="{5561EA86-BC6F-2569-D744-65BAF3BEB73E}"/>
              </a:ext>
            </a:extLst>
          </p:cNvPr>
          <p:cNvCxnSpPr>
            <a:cxnSpLocks/>
          </p:cNvCxnSpPr>
          <p:nvPr/>
        </p:nvCxnSpPr>
        <p:spPr>
          <a:xfrm>
            <a:off x="1524000" y="914250"/>
            <a:ext cx="6248400" cy="0"/>
          </a:xfrm>
          <a:prstGeom prst="line">
            <a:avLst/>
          </a:prstGeom>
          <a:ln w="38100">
            <a:gradFill>
              <a:gsLst>
                <a:gs pos="0">
                  <a:schemeClr val="accent1">
                    <a:lumMod val="5000"/>
                    <a:lumOff val="95000"/>
                  </a:schemeClr>
                </a:gs>
                <a:gs pos="49000">
                  <a:srgbClr val="002060"/>
                </a:gs>
                <a:gs pos="83000">
                  <a:schemeClr val="accent1">
                    <a:lumMod val="45000"/>
                    <a:lumOff val="55000"/>
                  </a:schemeClr>
                </a:gs>
                <a:gs pos="100000">
                  <a:schemeClr val="accent1">
                    <a:lumMod val="30000"/>
                    <a:lumOff val="70000"/>
                  </a:schemeClr>
                </a:gs>
              </a:gsLst>
              <a:lin ang="5400000" scaled="1"/>
            </a:gra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4D3893D8-1E00-2F61-99C7-CF04B43AAEE8}"/>
              </a:ext>
            </a:extLst>
          </p:cNvPr>
          <p:cNvSpPr txBox="1"/>
          <p:nvPr/>
        </p:nvSpPr>
        <p:spPr>
          <a:xfrm>
            <a:off x="745634" y="1402687"/>
            <a:ext cx="7379887" cy="3046988"/>
          </a:xfrm>
          <a:prstGeom prst="rect">
            <a:avLst/>
          </a:prstGeom>
          <a:noFill/>
        </p:spPr>
        <p:txBody>
          <a:bodyPr wrap="square">
            <a:spAutoFit/>
          </a:bodyPr>
          <a:lstStyle/>
          <a:p>
            <a:pPr marL="285750" indent="-285750"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We have used YOLOv7 for Cyclone Detection Model instead of YOLOv3</a:t>
            </a: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We have used 4 features, Latitudes, Longitudes as well as Wind Speed and Wind direction to train our model</a:t>
            </a: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Comparison of three models RNN, Bi-LSTM and GRU with hyperparameter tuning and Distance wise results obtained.</a:t>
            </a:r>
          </a:p>
          <a:p>
            <a:pPr marL="285750" indent="-285750" algn="just">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D951B5E-C357-411A-953D-221601D2CE9D}"/>
              </a:ext>
            </a:extLst>
          </p:cNvPr>
          <p:cNvSpPr txBox="1"/>
          <p:nvPr/>
        </p:nvSpPr>
        <p:spPr>
          <a:xfrm>
            <a:off x="8414013" y="4939229"/>
            <a:ext cx="1173945" cy="246221"/>
          </a:xfrm>
          <a:prstGeom prst="rect">
            <a:avLst/>
          </a:prstGeom>
          <a:noFill/>
        </p:spPr>
        <p:txBody>
          <a:bodyPr wrap="square" rtlCol="0">
            <a:spAutoFit/>
          </a:bodyPr>
          <a:lstStyle/>
          <a:p>
            <a:r>
              <a:rPr lang="en-IN" sz="1000" dirty="0">
                <a:solidFill>
                  <a:schemeClr val="bg1"/>
                </a:solidFill>
              </a:rPr>
              <a:t>Pg. 42</a:t>
            </a:r>
          </a:p>
        </p:txBody>
      </p:sp>
    </p:spTree>
    <p:extLst>
      <p:ext uri="{BB962C8B-B14F-4D97-AF65-F5344CB8AC3E}">
        <p14:creationId xmlns:p14="http://schemas.microsoft.com/office/powerpoint/2010/main" val="11071579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0"/>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br>
              <a:rPr lang="en-US" sz="4000" b="1" dirty="0">
                <a:blipFill>
                  <a:blip r:embed="rId3"/>
                  <a:stretch>
                    <a:fillRect/>
                  </a:stretch>
                </a:blipFill>
                <a:latin typeface="Times New Roman" panose="02020603050405020304" pitchFamily="18" charset="0"/>
                <a:cs typeface="Times New Roman" panose="02020603050405020304" pitchFamily="18" charset="0"/>
              </a:rPr>
            </a:br>
            <a:r>
              <a:rPr lang="en-US" sz="4000" b="1" dirty="0">
                <a:blipFill>
                  <a:blip r:embed="rId3"/>
                  <a:stretch>
                    <a:fillRect/>
                  </a:stretch>
                </a:blipFill>
                <a:latin typeface="Times New Roman" panose="02020603050405020304" pitchFamily="18" charset="0"/>
                <a:cs typeface="Times New Roman" panose="02020603050405020304" pitchFamily="18" charset="0"/>
              </a:rPr>
              <a:t>References</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EF65736-9452-D4B5-8C38-2178CEBFFFE2}"/>
              </a:ext>
            </a:extLst>
          </p:cNvPr>
          <p:cNvSpPr txBox="1"/>
          <p:nvPr/>
        </p:nvSpPr>
        <p:spPr>
          <a:xfrm>
            <a:off x="8414013" y="4929069"/>
            <a:ext cx="1173945" cy="246221"/>
          </a:xfrm>
          <a:prstGeom prst="rect">
            <a:avLst/>
          </a:prstGeom>
          <a:noFill/>
        </p:spPr>
        <p:txBody>
          <a:bodyPr wrap="square" rtlCol="0">
            <a:spAutoFit/>
          </a:bodyPr>
          <a:lstStyle/>
          <a:p>
            <a:r>
              <a:rPr lang="en-IN" sz="1000" dirty="0">
                <a:solidFill>
                  <a:schemeClr val="bg1"/>
                </a:solidFill>
              </a:rPr>
              <a:t>Pg. 43</a:t>
            </a:r>
          </a:p>
        </p:txBody>
      </p:sp>
      <p:sp>
        <p:nvSpPr>
          <p:cNvPr id="2" name="Content Placeholder 2">
            <a:extLst>
              <a:ext uri="{FF2B5EF4-FFF2-40B4-BE49-F238E27FC236}">
                <a16:creationId xmlns:a16="http://schemas.microsoft.com/office/drawing/2014/main" id="{5263CB63-1BAC-63F4-CF8B-0AF6BBD3599C}"/>
              </a:ext>
            </a:extLst>
          </p:cNvPr>
          <p:cNvSpPr txBox="1">
            <a:spLocks/>
          </p:cNvSpPr>
          <p:nvPr/>
        </p:nvSpPr>
        <p:spPr>
          <a:xfrm>
            <a:off x="471196" y="1236477"/>
            <a:ext cx="8201608" cy="380243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406400" algn="ctr"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381000" algn="ctr"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355600"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355600"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L="3200400" marR="0" lvl="6" indent="-355600"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L="3657600" marR="0" lvl="7" indent="-355600"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L="4114800" marR="0" lvl="8" indent="-355600"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pPr indent="-457200" algn="just">
              <a:spcBef>
                <a:spcPts val="0"/>
              </a:spcBef>
            </a:pPr>
            <a:r>
              <a:rPr lang="en-US" sz="1200" b="1" dirty="0">
                <a:latin typeface="Times New Roman" panose="02020603050405020304" pitchFamily="18" charset="0"/>
                <a:cs typeface="Times New Roman" panose="02020603050405020304" pitchFamily="18" charset="0"/>
              </a:rPr>
              <a:t>[1]	Journal </a:t>
            </a:r>
            <a:r>
              <a:rPr lang="en-US" sz="1200" dirty="0">
                <a:latin typeface="Times New Roman" panose="02020603050405020304" pitchFamily="18" charset="0"/>
                <a:cs typeface="Times New Roman" panose="02020603050405020304" pitchFamily="18" charset="0"/>
              </a:rPr>
              <a:t>M. Haque, A. Adel, and K. </a:t>
            </a:r>
            <a:r>
              <a:rPr lang="en-US" sz="1200" dirty="0" err="1">
                <a:latin typeface="Times New Roman" panose="02020603050405020304" pitchFamily="18" charset="0"/>
                <a:cs typeface="Times New Roman" panose="02020603050405020304" pitchFamily="18" charset="0"/>
              </a:rPr>
              <a:t>Alam</a:t>
            </a:r>
            <a:r>
              <a:rPr lang="en-US" sz="1200" dirty="0">
                <a:latin typeface="Times New Roman" panose="02020603050405020304" pitchFamily="18" charset="0"/>
                <a:cs typeface="Times New Roman" panose="02020603050405020304" pitchFamily="18" charset="0"/>
              </a:rPr>
              <a:t>, “Deep learning techniques in cyclone detection</a:t>
            </a:r>
          </a:p>
          <a:p>
            <a:pPr indent="-457200" algn="just">
              <a:spcBef>
                <a:spcPts val="0"/>
              </a:spcBef>
            </a:pPr>
            <a:r>
              <a:rPr lang="en-US" sz="1200" dirty="0">
                <a:latin typeface="Times New Roman" panose="02020603050405020304" pitchFamily="18" charset="0"/>
                <a:cs typeface="Times New Roman" panose="02020603050405020304" pitchFamily="18" charset="0"/>
              </a:rPr>
              <a:t>	with cyclone eye localization based on satellite images,” 12 2021. </a:t>
            </a:r>
          </a:p>
          <a:p>
            <a:pPr indent="-457200" algn="just">
              <a:spcBef>
                <a:spcPts val="0"/>
              </a:spcBef>
            </a:pPr>
            <a:r>
              <a:rPr lang="en-US" sz="1200" b="1" dirty="0">
                <a:latin typeface="Times New Roman" panose="02020603050405020304" pitchFamily="18" charset="0"/>
                <a:cs typeface="Times New Roman" panose="02020603050405020304" pitchFamily="18" charset="0"/>
              </a:rPr>
              <a:t>[2]	Journal</a:t>
            </a:r>
            <a:r>
              <a:rPr lang="en-US" sz="1200" dirty="0">
                <a:latin typeface="Times New Roman" panose="02020603050405020304" pitchFamily="18" charset="0"/>
                <a:cs typeface="Times New Roman" panose="02020603050405020304" pitchFamily="18" charset="0"/>
              </a:rPr>
              <a:t> S. Shakya, S. Kumar, and M. Goswami, “Deep learning algorithm for satellite</a:t>
            </a:r>
          </a:p>
          <a:p>
            <a:pPr indent="-457200" algn="just">
              <a:spcBef>
                <a:spcPts val="0"/>
              </a:spcBef>
            </a:pPr>
            <a:r>
              <a:rPr lang="en-US" sz="1200" dirty="0">
                <a:latin typeface="Times New Roman" panose="02020603050405020304" pitchFamily="18" charset="0"/>
                <a:cs typeface="Times New Roman" panose="02020603050405020304" pitchFamily="18" charset="0"/>
              </a:rPr>
              <a:t>	imaging based cyclone detection,” IEEE Journal of Selected Topics in Applied</a:t>
            </a:r>
          </a:p>
          <a:p>
            <a:pPr indent="-457200" algn="just">
              <a:spcBef>
                <a:spcPts val="0"/>
              </a:spcBef>
            </a:pPr>
            <a:r>
              <a:rPr lang="en-US" sz="1200" dirty="0">
                <a:latin typeface="Times New Roman" panose="02020603050405020304" pitchFamily="18" charset="0"/>
                <a:cs typeface="Times New Roman" panose="02020603050405020304" pitchFamily="18" charset="0"/>
              </a:rPr>
              <a:t>	Earth Observations and Remote Sensing, vol. 13, pp. 827–839, 2020.Journal of Remote Sensing. Vol. 6, No. 1, 2018, pp. 1-5. </a:t>
            </a:r>
            <a:r>
              <a:rPr lang="en-US" sz="1200" dirty="0" err="1">
                <a:latin typeface="Times New Roman" panose="02020603050405020304" pitchFamily="18" charset="0"/>
                <a:cs typeface="Times New Roman" panose="02020603050405020304" pitchFamily="18" charset="0"/>
              </a:rPr>
              <a:t>doi</a:t>
            </a:r>
            <a:r>
              <a:rPr lang="en-US" sz="1200" dirty="0">
                <a:latin typeface="Times New Roman" panose="02020603050405020304" pitchFamily="18" charset="0"/>
                <a:cs typeface="Times New Roman" panose="02020603050405020304" pitchFamily="18" charset="0"/>
              </a:rPr>
              <a:t>: 10.11648/j.ajrs.20180601.11]</a:t>
            </a:r>
          </a:p>
          <a:p>
            <a:pPr indent="-457200" algn="just">
              <a:spcBef>
                <a:spcPts val="0"/>
              </a:spcBef>
            </a:pPr>
            <a:r>
              <a:rPr lang="en-US" sz="1200" b="1" dirty="0">
                <a:latin typeface="Times New Roman" panose="02020603050405020304" pitchFamily="18" charset="0"/>
                <a:cs typeface="Times New Roman" panose="02020603050405020304" pitchFamily="18" charset="0"/>
              </a:rPr>
              <a:t>[3]</a:t>
            </a:r>
            <a:r>
              <a:rPr lang="en-US" sz="1200" dirty="0">
                <a:latin typeface="Times New Roman" panose="02020603050405020304" pitchFamily="18" charset="0"/>
                <a:cs typeface="Times New Roman" panose="02020603050405020304" pitchFamily="18" charset="0"/>
              </a:rPr>
              <a:t>	 F. </a:t>
            </a:r>
            <a:r>
              <a:rPr lang="en-US" sz="1200" dirty="0" err="1">
                <a:latin typeface="Times New Roman" panose="02020603050405020304" pitchFamily="18" charset="0"/>
                <a:cs typeface="Times New Roman" panose="02020603050405020304" pitchFamily="18" charset="0"/>
              </a:rPr>
              <a:t>Selim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Furkan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Tekin</a:t>
            </a:r>
            <a:r>
              <a:rPr lang="en-US" sz="1200" dirty="0">
                <a:latin typeface="Times New Roman" panose="02020603050405020304" pitchFamily="18" charset="0"/>
                <a:cs typeface="Times New Roman" panose="02020603050405020304" pitchFamily="18" charset="0"/>
              </a:rPr>
              <a:t>, “Forecasting of tropical cyclone trajectories with deep learning.” [Online]. Available: https://sftekin.github.io/pdfs/hurricane.pdf</a:t>
            </a:r>
          </a:p>
          <a:p>
            <a:pPr indent="-457200" algn="just">
              <a:spcBef>
                <a:spcPts val="0"/>
              </a:spcBef>
            </a:pPr>
            <a:r>
              <a:rPr lang="en-US" sz="1200" b="1" dirty="0">
                <a:latin typeface="Times New Roman" panose="02020603050405020304" pitchFamily="18" charset="0"/>
                <a:cs typeface="Times New Roman" panose="02020603050405020304" pitchFamily="18" charset="0"/>
              </a:rPr>
              <a:t>[4] 	</a:t>
            </a:r>
            <a:r>
              <a:rPr lang="en-US" sz="1200" dirty="0">
                <a:latin typeface="Times New Roman" panose="02020603050405020304" pitchFamily="18" charset="0"/>
                <a:cs typeface="Times New Roman" panose="02020603050405020304" pitchFamily="18" charset="0"/>
              </a:rPr>
              <a:t>Y. Zhang, R. Chandra, and J. Gao, “Cyclone track prediction with matrix neural networks,” in 2018 International Joint Conference on Neural Networks (IJCNN), 2018, pp. 1–8</a:t>
            </a:r>
          </a:p>
          <a:p>
            <a:pPr indent="-457200" algn="just">
              <a:spcBef>
                <a:spcPts val="0"/>
              </a:spcBef>
            </a:pPr>
            <a:r>
              <a:rPr lang="en-US" sz="1200" b="1" dirty="0">
                <a:latin typeface="Times New Roman" panose="02020603050405020304" pitchFamily="18" charset="0"/>
                <a:cs typeface="Times New Roman" panose="02020603050405020304" pitchFamily="18" charset="0"/>
              </a:rPr>
              <a:t>[5] 	</a:t>
            </a:r>
            <a:r>
              <a:rPr lang="en-US" sz="1200" dirty="0">
                <a:latin typeface="Times New Roman" panose="02020603050405020304" pitchFamily="18" charset="0"/>
                <a:cs typeface="Times New Roman" panose="02020603050405020304" pitchFamily="18" charset="0"/>
              </a:rPr>
              <a:t>https://github.com/WongKinYiu/yolov7</a:t>
            </a:r>
          </a:p>
          <a:p>
            <a:pPr indent="-457200" algn="just">
              <a:spcBef>
                <a:spcPts val="0"/>
              </a:spcBef>
            </a:pPr>
            <a:r>
              <a:rPr lang="en-US" sz="1200" b="1" dirty="0">
                <a:latin typeface="Times New Roman" panose="02020603050405020304" pitchFamily="18" charset="0"/>
                <a:cs typeface="Times New Roman" panose="02020603050405020304" pitchFamily="18" charset="0"/>
              </a:rPr>
              <a:t>[6] 	</a:t>
            </a:r>
            <a:r>
              <a:rPr lang="en-US" sz="1200" dirty="0">
                <a:latin typeface="Times New Roman" panose="02020603050405020304" pitchFamily="18" charset="0"/>
                <a:cs typeface="Times New Roman" panose="02020603050405020304" pitchFamily="18" charset="0"/>
              </a:rPr>
              <a:t>https://learnopencv.com/yolov7-object-detection-paper-explanation-and-inference/</a:t>
            </a:r>
          </a:p>
          <a:p>
            <a:pPr indent="-457200" algn="just">
              <a:spcBef>
                <a:spcPts val="0"/>
              </a:spcBef>
            </a:pPr>
            <a:r>
              <a:rPr lang="en-US" sz="1200" b="1" dirty="0">
                <a:latin typeface="Times New Roman" panose="02020603050405020304" pitchFamily="18" charset="0"/>
                <a:cs typeface="Times New Roman" panose="02020603050405020304" pitchFamily="18" charset="0"/>
              </a:rPr>
              <a:t>[7]</a:t>
            </a:r>
            <a:r>
              <a:rPr lang="en-US"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hlinkClick r:id="rId4"/>
              </a:rPr>
              <a:t>https://www.kaggle.com/datasets/mikolajbabula/disaster-images-dataset-cnn-model</a:t>
            </a:r>
            <a:endParaRPr lang="en-US" sz="1200" dirty="0">
              <a:latin typeface="Times New Roman" panose="02020603050405020304" pitchFamily="18" charset="0"/>
              <a:cs typeface="Times New Roman" panose="02020603050405020304" pitchFamily="18" charset="0"/>
            </a:endParaRPr>
          </a:p>
          <a:p>
            <a:pPr indent="-457200" algn="just">
              <a:spcBef>
                <a:spcPts val="0"/>
              </a:spcBef>
            </a:pPr>
            <a:r>
              <a:rPr lang="en-US" sz="1200" b="1" dirty="0">
                <a:latin typeface="Times New Roman" panose="02020603050405020304" pitchFamily="18" charset="0"/>
                <a:cs typeface="Times New Roman" panose="02020603050405020304" pitchFamily="18" charset="0"/>
              </a:rPr>
              <a:t>[8]</a:t>
            </a:r>
            <a:r>
              <a:rPr lang="en-US" sz="1200" dirty="0">
                <a:latin typeface="Times New Roman" panose="02020603050405020304" pitchFamily="18" charset="0"/>
                <a:cs typeface="Times New Roman" panose="02020603050405020304" pitchFamily="18" charset="0"/>
              </a:rPr>
              <a:t>	“Recurrent neural networks </a:t>
            </a:r>
            <a:r>
              <a:rPr lang="en-US" sz="1200" dirty="0" err="1">
                <a:latin typeface="Times New Roman" panose="02020603050405020304" pitchFamily="18" charset="0"/>
                <a:cs typeface="Times New Roman" panose="02020603050405020304" pitchFamily="18" charset="0"/>
              </a:rPr>
              <a:t>cheatsheet</a:t>
            </a:r>
            <a:r>
              <a:rPr lang="en-US" sz="1200" dirty="0">
                <a:latin typeface="Times New Roman" panose="02020603050405020304" pitchFamily="18" charset="0"/>
                <a:cs typeface="Times New Roman" panose="02020603050405020304" pitchFamily="18" charset="0"/>
              </a:rPr>
              <a:t>.” [Online]. Available: https://stanford.edu/ ∼</a:t>
            </a:r>
            <a:r>
              <a:rPr lang="en-US" sz="1200" dirty="0" err="1">
                <a:latin typeface="Times New Roman" panose="02020603050405020304" pitchFamily="18" charset="0"/>
                <a:cs typeface="Times New Roman" panose="02020603050405020304" pitchFamily="18" charset="0"/>
              </a:rPr>
              <a:t>shervine</a:t>
            </a:r>
            <a:r>
              <a:rPr lang="en-US" sz="1200" dirty="0">
                <a:latin typeface="Times New Roman" panose="02020603050405020304" pitchFamily="18" charset="0"/>
                <a:cs typeface="Times New Roman" panose="02020603050405020304" pitchFamily="18" charset="0"/>
              </a:rPr>
              <a:t>/teaching/cs-230/</a:t>
            </a:r>
            <a:r>
              <a:rPr lang="en-US" sz="1200" dirty="0" err="1">
                <a:latin typeface="Times New Roman" panose="02020603050405020304" pitchFamily="18" charset="0"/>
                <a:cs typeface="Times New Roman" panose="02020603050405020304" pitchFamily="18" charset="0"/>
              </a:rPr>
              <a:t>cheatsheet</a:t>
            </a:r>
            <a:r>
              <a:rPr lang="en-US" sz="1200" dirty="0">
                <a:latin typeface="Times New Roman" panose="02020603050405020304" pitchFamily="18" charset="0"/>
                <a:cs typeface="Times New Roman" panose="02020603050405020304" pitchFamily="18" charset="0"/>
              </a:rPr>
              <a:t>-recurrent-neural-networks</a:t>
            </a:r>
          </a:p>
          <a:p>
            <a:pPr indent="-457200" algn="just">
              <a:spcBef>
                <a:spcPts val="0"/>
              </a:spcBef>
            </a:pPr>
            <a:r>
              <a:rPr lang="en-US" sz="1200" b="1" dirty="0">
                <a:latin typeface="Times New Roman" panose="02020603050405020304" pitchFamily="18" charset="0"/>
                <a:cs typeface="Times New Roman" panose="02020603050405020304" pitchFamily="18" charset="0"/>
              </a:rPr>
              <a:t>[9]	</a:t>
            </a:r>
            <a:r>
              <a:rPr lang="en-US" sz="1200" dirty="0">
                <a:latin typeface="Times New Roman" panose="02020603050405020304" pitchFamily="18" charset="0"/>
                <a:cs typeface="Times New Roman" panose="02020603050405020304" pitchFamily="18" charset="0"/>
              </a:rPr>
              <a:t>https://en.wikipedia.org/wiki/Long_short-term_memory</a:t>
            </a:r>
          </a:p>
          <a:p>
            <a:pPr indent="-457200" algn="just">
              <a:spcBef>
                <a:spcPts val="0"/>
              </a:spcBef>
            </a:pPr>
            <a:r>
              <a:rPr lang="en-US" sz="1200" b="1" dirty="0">
                <a:latin typeface="Times New Roman" panose="02020603050405020304" pitchFamily="18" charset="0"/>
                <a:cs typeface="Times New Roman" panose="02020603050405020304" pitchFamily="18" charset="0"/>
              </a:rPr>
              <a:t>[10]</a:t>
            </a:r>
            <a:r>
              <a:rPr lang="en-US" sz="1200" dirty="0">
                <a:latin typeface="Times New Roman" panose="02020603050405020304" pitchFamily="18" charset="0"/>
                <a:cs typeface="Times New Roman" panose="02020603050405020304" pitchFamily="18" charset="0"/>
              </a:rPr>
              <a:t>	“Gated recurrent unit.” [Online]. Available: https://en.wikipedia.org/wiki/ Gated recurrent unit</a:t>
            </a:r>
          </a:p>
          <a:p>
            <a:pPr indent="-457200" algn="just">
              <a:spcBef>
                <a:spcPts val="0"/>
              </a:spcBef>
            </a:pPr>
            <a:r>
              <a:rPr lang="en-US" sz="1200" b="1" dirty="0">
                <a:latin typeface="Times New Roman" panose="02020603050405020304" pitchFamily="18" charset="0"/>
                <a:cs typeface="Times New Roman" panose="02020603050405020304" pitchFamily="18" charset="0"/>
              </a:rPr>
              <a:t>[11]</a:t>
            </a:r>
            <a:r>
              <a:rPr lang="en-US" sz="1200" dirty="0">
                <a:latin typeface="Times New Roman" panose="02020603050405020304" pitchFamily="18" charset="0"/>
                <a:cs typeface="Times New Roman" panose="02020603050405020304" pitchFamily="18" charset="0"/>
              </a:rPr>
              <a:t>	</a:t>
            </a:r>
            <a:r>
              <a:rPr lang="en-US" sz="1200" b="0" i="0" u="none" strike="noStrike" baseline="0" dirty="0">
                <a:latin typeface="Times New Roman" panose="02020603050405020304" pitchFamily="18" charset="0"/>
                <a:cs typeface="Times New Roman" panose="02020603050405020304" pitchFamily="18" charset="0"/>
              </a:rPr>
              <a:t>S. </a:t>
            </a:r>
            <a:r>
              <a:rPr lang="en-US" sz="1200" b="0" i="0" u="none" strike="noStrike" baseline="0" dirty="0" err="1">
                <a:latin typeface="Times New Roman" panose="02020603050405020304" pitchFamily="18" charset="0"/>
                <a:cs typeface="Times New Roman" panose="02020603050405020304" pitchFamily="18" charset="0"/>
              </a:rPr>
              <a:t>Alemany</a:t>
            </a:r>
            <a:r>
              <a:rPr lang="en-US" sz="1200" b="0" i="0" u="none" strike="noStrike" baseline="0" dirty="0">
                <a:latin typeface="Times New Roman" panose="02020603050405020304" pitchFamily="18" charset="0"/>
                <a:cs typeface="Times New Roman" panose="02020603050405020304" pitchFamily="18" charset="0"/>
              </a:rPr>
              <a:t>, J. Beltran, A. Perez, and S. </a:t>
            </a:r>
            <a:r>
              <a:rPr lang="en-US" sz="1200" b="0" i="0" u="none" strike="noStrike" baseline="0" dirty="0" err="1">
                <a:latin typeface="Times New Roman" panose="02020603050405020304" pitchFamily="18" charset="0"/>
                <a:cs typeface="Times New Roman" panose="02020603050405020304" pitchFamily="18" charset="0"/>
              </a:rPr>
              <a:t>Ganzfried</a:t>
            </a:r>
            <a:r>
              <a:rPr lang="en-US" sz="1200" b="0" i="0" u="none" strike="noStrike" baseline="0" dirty="0">
                <a:latin typeface="Times New Roman" panose="02020603050405020304" pitchFamily="18" charset="0"/>
                <a:cs typeface="Times New Roman" panose="02020603050405020304" pitchFamily="18" charset="0"/>
              </a:rPr>
              <a:t>, “Predicting hurricane trajectories using a recurrent neural network,” 2018.</a:t>
            </a:r>
            <a:endParaRPr lang="en-US" sz="1200" dirty="0">
              <a:latin typeface="Times New Roman" panose="02020603050405020304" pitchFamily="18" charset="0"/>
              <a:cs typeface="Times New Roman" panose="02020603050405020304" pitchFamily="18" charset="0"/>
            </a:endParaRPr>
          </a:p>
          <a:p>
            <a:pPr indent="-457200" algn="just">
              <a:spcBef>
                <a:spcPts val="0"/>
              </a:spcBef>
            </a:pPr>
            <a:endParaRPr lang="en-US" sz="1200" dirty="0">
              <a:latin typeface="Times New Roman" panose="02020603050405020304" pitchFamily="18" charset="0"/>
              <a:cs typeface="Times New Roman" panose="02020603050405020304" pitchFamily="18" charset="0"/>
            </a:endParaRPr>
          </a:p>
          <a:p>
            <a:pPr indent="-457200" algn="just">
              <a:buFont typeface="+mj-lt"/>
              <a:buAutoNum type="arabicPeriod"/>
            </a:pPr>
            <a:endParaRPr lang="en-US" sz="1200" dirty="0">
              <a:latin typeface="Times New Roman" panose="02020603050405020304" pitchFamily="18" charset="0"/>
              <a:cs typeface="Times New Roman" panose="02020603050405020304" pitchFamily="18" charset="0"/>
            </a:endParaRPr>
          </a:p>
          <a:p>
            <a:pPr marL="0" indent="0" algn="just"/>
            <a:endParaRPr lang="en-US" sz="1200" dirty="0">
              <a:latin typeface="Times New Roman" panose="02020603050405020304" pitchFamily="18" charset="0"/>
              <a:cs typeface="Times New Roman" panose="02020603050405020304" pitchFamily="18" charset="0"/>
            </a:endParaRPr>
          </a:p>
          <a:p>
            <a:pPr indent="-457200" algn="just">
              <a:buFont typeface="+mj-lt"/>
              <a:buAutoNum type="arabicPeriod"/>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1781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0"/>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br>
              <a:rPr lang="en-US" sz="4000" b="1" dirty="0">
                <a:blipFill>
                  <a:blip r:embed="rId3"/>
                  <a:stretch>
                    <a:fillRect/>
                  </a:stretch>
                </a:blipFill>
                <a:latin typeface="Times New Roman" panose="02020603050405020304" pitchFamily="18" charset="0"/>
                <a:cs typeface="Times New Roman" panose="02020603050405020304" pitchFamily="18" charset="0"/>
              </a:rPr>
            </a:br>
            <a:r>
              <a:rPr lang="en-US" sz="4000" b="1" dirty="0">
                <a:blipFill>
                  <a:blip r:embed="rId3"/>
                  <a:stretch>
                    <a:fillRect/>
                  </a:stretch>
                </a:blipFill>
                <a:latin typeface="Times New Roman" panose="02020603050405020304" pitchFamily="18" charset="0"/>
                <a:cs typeface="Times New Roman" panose="02020603050405020304" pitchFamily="18" charset="0"/>
              </a:rPr>
              <a:t>Appendix 1 - Dataset</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EF65736-9452-D4B5-8C38-2178CEBFFFE2}"/>
              </a:ext>
            </a:extLst>
          </p:cNvPr>
          <p:cNvSpPr txBox="1"/>
          <p:nvPr/>
        </p:nvSpPr>
        <p:spPr>
          <a:xfrm>
            <a:off x="8414013" y="4929069"/>
            <a:ext cx="1173945" cy="246221"/>
          </a:xfrm>
          <a:prstGeom prst="rect">
            <a:avLst/>
          </a:prstGeom>
          <a:noFill/>
        </p:spPr>
        <p:txBody>
          <a:bodyPr wrap="square" rtlCol="0">
            <a:spAutoFit/>
          </a:bodyPr>
          <a:lstStyle/>
          <a:p>
            <a:r>
              <a:rPr lang="en-IN" sz="1000" dirty="0">
                <a:solidFill>
                  <a:schemeClr val="bg1"/>
                </a:solidFill>
              </a:rPr>
              <a:t>Pg. 44</a:t>
            </a:r>
          </a:p>
        </p:txBody>
      </p:sp>
      <p:pic>
        <p:nvPicPr>
          <p:cNvPr id="4" name="Picture 3">
            <a:extLst>
              <a:ext uri="{FF2B5EF4-FFF2-40B4-BE49-F238E27FC236}">
                <a16:creationId xmlns:a16="http://schemas.microsoft.com/office/drawing/2014/main" id="{4CC2947F-98BE-28AA-1C8B-6B7CBF5451E7}"/>
              </a:ext>
            </a:extLst>
          </p:cNvPr>
          <p:cNvPicPr>
            <a:picLocks noChangeAspect="1"/>
          </p:cNvPicPr>
          <p:nvPr/>
        </p:nvPicPr>
        <p:blipFill>
          <a:blip r:embed="rId4"/>
          <a:stretch>
            <a:fillRect/>
          </a:stretch>
        </p:blipFill>
        <p:spPr>
          <a:xfrm>
            <a:off x="0" y="1056025"/>
            <a:ext cx="9144000" cy="3448050"/>
          </a:xfrm>
          <a:prstGeom prst="rect">
            <a:avLst/>
          </a:prstGeom>
        </p:spPr>
      </p:pic>
    </p:spTree>
    <p:extLst>
      <p:ext uri="{BB962C8B-B14F-4D97-AF65-F5344CB8AC3E}">
        <p14:creationId xmlns:p14="http://schemas.microsoft.com/office/powerpoint/2010/main" val="33604379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0"/>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br>
              <a:rPr lang="en-US" sz="4000" b="1" dirty="0">
                <a:blipFill>
                  <a:blip r:embed="rId3"/>
                  <a:stretch>
                    <a:fillRect/>
                  </a:stretch>
                </a:blipFill>
                <a:latin typeface="Times New Roman" panose="02020603050405020304" pitchFamily="18" charset="0"/>
                <a:cs typeface="Times New Roman" panose="02020603050405020304" pitchFamily="18" charset="0"/>
              </a:rPr>
            </a:br>
            <a:r>
              <a:rPr lang="en-US" sz="4000" b="1" dirty="0">
                <a:blipFill>
                  <a:blip r:embed="rId3"/>
                  <a:stretch>
                    <a:fillRect/>
                  </a:stretch>
                </a:blipFill>
                <a:latin typeface="Times New Roman" panose="02020603050405020304" pitchFamily="18" charset="0"/>
                <a:cs typeface="Times New Roman" panose="02020603050405020304" pitchFamily="18" charset="0"/>
              </a:rPr>
              <a:t>Appendix 1 - Dataset</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EF65736-9452-D4B5-8C38-2178CEBFFFE2}"/>
              </a:ext>
            </a:extLst>
          </p:cNvPr>
          <p:cNvSpPr txBox="1"/>
          <p:nvPr/>
        </p:nvSpPr>
        <p:spPr>
          <a:xfrm>
            <a:off x="8414013" y="4929069"/>
            <a:ext cx="1173945" cy="246221"/>
          </a:xfrm>
          <a:prstGeom prst="rect">
            <a:avLst/>
          </a:prstGeom>
          <a:noFill/>
        </p:spPr>
        <p:txBody>
          <a:bodyPr wrap="square" rtlCol="0">
            <a:spAutoFit/>
          </a:bodyPr>
          <a:lstStyle/>
          <a:p>
            <a:r>
              <a:rPr lang="en-IN" sz="1000" dirty="0">
                <a:solidFill>
                  <a:schemeClr val="bg1"/>
                </a:solidFill>
              </a:rPr>
              <a:t>Pg. 45</a:t>
            </a:r>
          </a:p>
        </p:txBody>
      </p:sp>
      <p:pic>
        <p:nvPicPr>
          <p:cNvPr id="3" name="Picture 2">
            <a:extLst>
              <a:ext uri="{FF2B5EF4-FFF2-40B4-BE49-F238E27FC236}">
                <a16:creationId xmlns:a16="http://schemas.microsoft.com/office/drawing/2014/main" id="{CDA5A15C-C54F-EBFF-ED89-D91F7A70D1F6}"/>
              </a:ext>
            </a:extLst>
          </p:cNvPr>
          <p:cNvPicPr>
            <a:picLocks noChangeAspect="1"/>
          </p:cNvPicPr>
          <p:nvPr/>
        </p:nvPicPr>
        <p:blipFill>
          <a:blip r:embed="rId4"/>
          <a:stretch>
            <a:fillRect/>
          </a:stretch>
        </p:blipFill>
        <p:spPr>
          <a:xfrm>
            <a:off x="0" y="1074989"/>
            <a:ext cx="9144000" cy="3290887"/>
          </a:xfrm>
          <a:prstGeom prst="rect">
            <a:avLst/>
          </a:prstGeom>
        </p:spPr>
      </p:pic>
    </p:spTree>
    <p:extLst>
      <p:ext uri="{BB962C8B-B14F-4D97-AF65-F5344CB8AC3E}">
        <p14:creationId xmlns:p14="http://schemas.microsoft.com/office/powerpoint/2010/main" val="41434782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ctrTitle"/>
          </p:nvPr>
        </p:nvSpPr>
        <p:spPr>
          <a:xfrm>
            <a:off x="0" y="2256234"/>
            <a:ext cx="9144000" cy="631031"/>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blipFill>
                  <a:blip r:embed="rId3"/>
                  <a:stretch>
                    <a:fillRect/>
                  </a:stretch>
                </a:blipFill>
                <a:latin typeface="Times New Roman" panose="02020603050405020304" pitchFamily="18" charset="0"/>
                <a:cs typeface="Times New Roman" panose="02020603050405020304" pitchFamily="18" charset="0"/>
              </a:rPr>
              <a:t>THANK YOU !</a:t>
            </a:r>
            <a:endParaRPr sz="4000" b="1" dirty="0">
              <a:blipFill>
                <a:blip r:embed="rId3"/>
                <a:stretch>
                  <a:fillRect/>
                </a:stretch>
              </a:blip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688611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863</TotalTime>
  <Words>2694</Words>
  <Application>Microsoft Office PowerPoint</Application>
  <PresentationFormat>On-screen Show (16:9)</PresentationFormat>
  <Paragraphs>522</Paragraphs>
  <Slides>48</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Cambria</vt:lpstr>
      <vt:lpstr>Lato</vt:lpstr>
      <vt:lpstr>Times New Roman</vt:lpstr>
      <vt:lpstr>Wingdings</vt:lpstr>
      <vt:lpstr>Default Design</vt:lpstr>
      <vt:lpstr>Project</vt:lpstr>
      <vt:lpstr>Outlines</vt:lpstr>
      <vt:lpstr>Introduction</vt:lpstr>
      <vt:lpstr>Objectives</vt:lpstr>
      <vt:lpstr>Motivation</vt:lpstr>
      <vt:lpstr>Literature Review</vt:lpstr>
      <vt:lpstr>Literature Review</vt:lpstr>
      <vt:lpstr>Theoretical Background</vt:lpstr>
      <vt:lpstr>YOLO</vt:lpstr>
      <vt:lpstr>YOLO Architecture</vt:lpstr>
      <vt:lpstr>Tools and Libraries Used</vt:lpstr>
      <vt:lpstr>Workflow Diagram</vt:lpstr>
      <vt:lpstr>Data Preprocessing</vt:lpstr>
      <vt:lpstr>Data Annotation</vt:lpstr>
      <vt:lpstr>Training the model</vt:lpstr>
      <vt:lpstr>PowerPoint Presentation</vt:lpstr>
      <vt:lpstr>Training Results</vt:lpstr>
      <vt:lpstr>Cyclone Path Prediction</vt:lpstr>
      <vt:lpstr>Recurrent Neural Network</vt:lpstr>
      <vt:lpstr>Long Short-Term Memory</vt:lpstr>
      <vt:lpstr>Gated-Recurrent Unit</vt:lpstr>
      <vt:lpstr>Workflow Diagram</vt:lpstr>
      <vt:lpstr>Dataset - IBTrACS</vt:lpstr>
      <vt:lpstr>Data Preprocessing</vt:lpstr>
      <vt:lpstr>Data Preprocessing</vt:lpstr>
      <vt:lpstr>Data </vt:lpstr>
      <vt:lpstr>Training Model</vt:lpstr>
      <vt:lpstr>Model Description – Simple RNN</vt:lpstr>
      <vt:lpstr>Model Description – Bi-LSTM</vt:lpstr>
      <vt:lpstr>Model Description – GRU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References</vt:lpstr>
      <vt:lpstr> Appendix 1 - Dataset</vt:lpstr>
      <vt:lpstr> Appendix 1 - Dataset</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hp</dc:creator>
  <cp:lastModifiedBy>Sanjit Anand</cp:lastModifiedBy>
  <cp:revision>29</cp:revision>
  <dcterms:modified xsi:type="dcterms:W3CDTF">2023-05-10T03:20:05Z</dcterms:modified>
</cp:coreProperties>
</file>